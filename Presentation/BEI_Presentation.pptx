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[MADELINE] [0:00 - 0:25] 25s</a:t>
            </a:r>
          </a:p>
          <a:p/>
          <a:p>
            <a:r>
              <a:t>Good morning everyone. Picture this -- a child reaches for a pot on the stove. In that split second, everything changes. The question that matters most is: how quickly can that child reach specialized burn care? Today we'll show you that the answer depends almost entirely on where you live. I'm Madeline, and together with Jacob, we're presenting the Burn Equity Index.</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[MADELINE] [0:25 - 1:10] 45s</a:t>
            </a:r>
          </a:p>
          <a:p/>
          <a:p>
            <a:r>
              <a:t>There are only 136 verified burn centers and about 2,000 burn beds for 331 million Americans. Eight states have no burn center at all.</a:t>
            </a:r>
          </a:p>
          <a:p/>
          <a:p>
            <a:r>
              <a:t>But the numbers only tell part of the story. In Hennepin County -- that's Minneapolis -- a burn patient reaches world-class care in 10 minutes. BEI score: zero. Perfect access. Now jump to Kittson County in the far northwest corner of the same state. Same Minnesota. But here, a burn patient faces an 8-hour journey, and the BEI is 99.6 -- nearly the worst score possible. That's the gap we set out to measure. Jacob, take us through how we did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[JACOB] [1:10 - 1:45] 35s</a:t>
            </a:r>
          </a:p>
          <a:p/>
          <a:p>
            <a:r>
              <a:t>Thanks, Madeline. I'm Jacob, and I led the technical build. Our primary use case is Equitable Access -- we're not predicting who gets burned or rating hospital quality. We're mapping structural inequity.</a:t>
            </a:r>
          </a:p>
          <a:p/>
          <a:p>
            <a:r>
              <a:t>Three goals. First, quantify access with a rigorous index at census-tract resolution. Second, visualize it through an interactive dashboard anyone can use. Third, turn those findings into specific, actionable recommendations. Let me show you how the index works.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[JACOB] [1:45 - 2:25] 40s</a:t>
            </a:r>
          </a:p>
          <a:p/>
          <a:p>
            <a:r>
              <a:t>The BEI scores every census tract in the country from zero to a hundred. Zero means excellent structural access; a hundred means severe barriers.</a:t>
            </a:r>
          </a:p>
          <a:p/>
          <a:p>
            <a:r>
              <a:t>It blends four pillars. S captures how scarce specialized supply is near a community. T -- our heaviest weight at 30 percent -- measures how long it takes to reach definitive care, including transfer pathways. P isolates pediatric access, because children need different facilities. And C looks at whether there are enough burn beds for the surrounding population. Each one is a distinct lens on the same system. Let me walk through the key ones.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[JACOB] [2:25 - 2:55] 30s</a:t>
            </a:r>
          </a:p>
          <a:p/>
          <a:p>
            <a:r>
              <a:t>Supply uses a two-step floating catchment area method. It's a well-established spatial accessibility framework, and here's how it works in plain terms.</a:t>
            </a:r>
          </a:p>
          <a:p/>
          <a:p>
            <a:r>
              <a:t>Each facility gets a capability weight -- a verified burn center is 1.0, a trauma-only site is 0.20. We then look at how many people live within driving range, using a step-decay function: full weight within 30 minutes, partial out to 90, and zero beyond. For each tract, we add up the ratios of all hospitals it can reach. Then we normalize and flip, so a high score means scarce supply.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[JACOB] [2:55 - 3:45] 50s</a:t>
            </a:r>
          </a:p>
          <a:p/>
          <a:p>
            <a:r>
              <a:t>This is our heaviest-weighted pillar, because in burn care, minutes matter. And what sets our approach apart is that we model how the system actually works.</a:t>
            </a:r>
          </a:p>
          <a:p/>
          <a:p>
            <a:r>
              <a:t>We compute three pathways. Path A is direct -- just the drive time to the nearest burn center. Path B is the transfer route -- go to the nearest stabilization hospital, add a 45-minute structural transfer penalty, then continue to a definitive center. Path C picks whichever is faster.</a:t>
            </a:r>
          </a:p>
          <a:p/>
          <a:p>
            <a:r>
              <a:t>On top of that, we add a tier penalty. If even your nearest emergency room is more than 30 minutes away, that compounds the problem. So the final score blends 75 percent system travel time with 25 percent tier penalty -- capturing both the journey and the safety net.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[JACOB] [3:45 - 4:20] 35s</a:t>
            </a:r>
          </a:p>
          <a:p/>
          <a:p>
            <a:r>
              <a:t>The Pediatric pillar uses the same framework but calibrated for children -- weighting facilities by pediatric burn capability and using child population as the denominator. We gave it its own pillar because a community might have decent adult access but nothing for kids.</a:t>
            </a:r>
          </a:p>
          <a:p/>
          <a:p>
            <a:r>
              <a:t>Capacity measures bed adequacy. Across the whole US, there are just 2,080 burn beds -- that's 0.63 per hundred thousand people. And those beds cluster in urban centers, so rural communities are doubly disadvantaged: they're both far away and under-bedded.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[JACOB] [4:20 - 4:45] 25s</a:t>
            </a:r>
          </a:p>
          <a:p/>
          <a:p>
            <a:r>
              <a:t>Every data source is either provided by the challenge or freely available. NIRD gives us 635 hospitals. Census provides tract-level population. We compute actual drive times using OpenStreetMap and a local Valhalla routing engine -- these are real road-network times, not straight-line guesses. We also layer in rural-urban classifications, social vulnerability data, and FAA airport records for our air-transport scenario. The entire pipeline is reproducible.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[MADELINE] [4:45 - 5:05] 20s</a:t>
            </a:r>
          </a:p>
          <a:p/>
          <a:p>
            <a:r>
              <a:t>That's the method. Now let's see what it finds. We scored 1,505 tracts across Minnesota and 3,144 counties nationwide. Minnesota's median BEI is 23 -- that sounds good. But 155 tracts score above 80. Those are communities where reaching burn care takes hours, not minutes. Let me show you on the map.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[MADELINE] [5:05 - 5:40] 35s</a:t>
            </a:r>
          </a:p>
          <a:p/>
          <a:p>
            <a:r>
              <a:t>[USE LIVE DASHBOARD OR SCREENSHOT]</a:t>
            </a:r>
          </a:p>
          <a:p/>
          <a:p>
            <a:r>
              <a:t>Here's Minnesota, colored by BEI. The Twin Cities metro shows green -- near-zero scores. Half the state's population lives within minutes of a burn center. Now look at the northwest corner. Deep red. Scores above 90. Kittson, Roseau, Marshall counties. No burn center for hundreds of miles. The transition isn't gradual. It drops off like a cliff.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[MADELINE] [5:40 - 6:25] 45s</a:t>
            </a:r>
          </a:p>
          <a:p/>
          <a:p>
            <a:r>
              <a:t>Three counties, one state.</a:t>
            </a:r>
          </a:p>
          <a:p/>
          <a:p>
            <a:r>
              <a:t>Hennepin -- Minneapolis. BEI: zero. You're 10 minutes from definitive care. Every pillar scores zero. That's what good access looks like.</a:t>
            </a:r>
          </a:p>
          <a:p/>
          <a:p>
            <a:r>
              <a:t>Blue Earth -- Mankato. A university town, about 69,000 people. BEI: 58.5. You're an hour and a half from a burn center by road. The supply and capacity pillars are both maxed out -- there's simply nothing nearby. But the timely-access score is low because the drive is technically still feasible. A community like this can look fine on a map but is structurally underserved.</a:t>
            </a:r>
          </a:p>
          <a:p/>
          <a:p>
            <a:r>
              <a:t>Beltrami -- Bemidji. BEI: 90.4. Eight hours to a burn center. Transfer pathway only. Supply, time, and capacity all maxed out. That is structural isolation.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[MADELINE] [6:25 - 6:55] 30s</a:t>
            </a:r>
          </a:p>
          <a:p/>
          <a:p>
            <a:r>
              <a:t>This chart puts the disparity in sharp relief. Urban Minnesotans: 19-minute median. Rural Minnesotans: 124 minutes -- over two hours, and that's the median, so half face even longer trips. A 6.5x gap within one state. And nearly a third of the state's tracts are classified as rural. For burns, where that first hour can determine whether a patient needs grafts or makes a full recovery, two hours is not just inconvenient. It changes outcomes.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[MADELINE] [6:55 - 7:30] 35s</a:t>
            </a:r>
          </a:p>
          <a:p/>
          <a:p>
            <a:r>
              <a:t>[SWITCH TO NATIONAL DASHBOARD VIEW IF POSSIBLE]</a:t>
            </a:r>
          </a:p>
          <a:p/>
          <a:p>
            <a:r>
              <a:t>Now the full country. The coasts light up green -- New Jersey, Maryland, Massachusetts, all below 31. The interior is a different story. Great Plains, Mountain West, rural Deep South -- all high-burden. Alaska and North Dakota average above 99. Eight states have no burn center at all. If you're burned in Montana, you have to leave the state. These aren't empty places -- Flathead County, Montana: 106,000 residents, BEI of 100.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[JACOB] [7:30 - 8:00] 30s</a:t>
            </a:r>
          </a:p>
          <a:p/>
          <a:p>
            <a:r>
              <a:t>The state rankings confirm the geographic pattern. States with vast rural areas and few burn centers sit at the bottom. But population-weighted BEI also reveals inequity in states that seem well-resourced on paper. The coverage gap chart on the right shows millions of Americans -- disproportionately in rural and tribal communities -- living more than 60 minutes from verified care. That matters clinically. The ABA's own referral guidelines stress timely transfer for major burns.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[JACOB] [8:00 - 8:35] 35s</a:t>
            </a:r>
          </a:p>
          <a:p/>
          <a:p>
            <a:r>
              <a:t>Four things set the BEI apart. First, we model the real tiered care system -- not just nearest-facility distance, but the full stabilize-and-transfer pathway with explicit penalties.</a:t>
            </a:r>
          </a:p>
          <a:p/>
          <a:p>
            <a:r>
              <a:t>Second, we run multi-scenario transport. Ground-only as the reproducible baseline, plus a ground-plus-air sensitivity scenario built on real FAA infrastructure data.</a:t>
            </a:r>
          </a:p>
          <a:p/>
          <a:p>
            <a:r>
              <a:t>Third, four pillars that each address a different clinical dimension. And fourth, an interactive dashboard that makes all of this accessible to anyone -- clinicians, planners, or the public. No technical expertise needed.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[MADELINE] [8:35 - 9:20] 45s</a:t>
            </a:r>
          </a:p>
          <a:p/>
          <a:p>
            <a:r>
              <a:t>So what do we do with this data? Four things.</a:t>
            </a:r>
          </a:p>
          <a:p/>
          <a:p>
            <a:r>
              <a:t>Telemedicine. In places like Beltrami County, a tele-burn consult can guide treatment while the patient is in transit. Research shows 94 percent accuracy in remote surgical assessment.</a:t>
            </a:r>
          </a:p>
          <a:p/>
          <a:p>
            <a:r>
              <a:t>Facility placement. Our hotspot analysis shows exactly where a new burn-capable site would close the biggest gaps. Northwest Minnesota is the clear candidate.</a:t>
            </a:r>
          </a:p>
          <a:p/>
          <a:p>
            <a:r>
              <a:t>Air transport. Our analysis finds corridors where adding air access drops the BEI significantly. Existing heliports in those areas are underused.</a:t>
            </a:r>
          </a:p>
          <a:p/>
          <a:p>
            <a:r>
              <a:t>And the BEI itself becomes the planning tool. Open-source, reproducible, and ready for state health departments and the ABA to adopt.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[JACOB] [9:20 - 9:50] 30s</a:t>
            </a:r>
          </a:p>
          <a:p/>
          <a:p>
            <a:r>
              <a:t>We want to be upfront about limitations. National analysis is at county level, which can mask variation in large rural counties -- Minnesota uses full tract-level routing. Florida's counties are absent due to a routing error in our pipeline, not a methodology gap. Our air scenario is a structural estimate, not an operational forecast. And bed capacity is structural, not real-time.</a:t>
            </a:r>
          </a:p>
          <a:p/>
          <a:p>
            <a:r>
              <a:t>Going forward: tract-level national routing, live bed census feeds, temporal BEI that captures seasonal patterns, and direct integration with state planning systems.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[MADELINE] [9:50 - 10:45] 55s</a:t>
            </a:r>
          </a:p>
          <a:p/>
          <a:p>
            <a:r>
              <a:t>Remember that child at the stove. In Hennepin County, they're in a burn unit in 10 minutes. In Kittson County -- same state -- eight hours.</a:t>
            </a:r>
          </a:p>
          <a:p/>
          <a:p>
            <a:r>
              <a:t>We've scored every county in America and every census tract in Minnesota. The Burn Equity Index gives clinicians, planners, and policymakers one number that captures what used to take months to assess.</a:t>
            </a:r>
          </a:p>
          <a:p/>
          <a:p>
            <a:r>
              <a:t>The gap is structural. But structural means it can be changed. A new facility, a telemedicine link, an air corridor -- each one shifts the score. And every score represents real families. That's what the BEI does.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[10:45 - 10:59] 14s</a:t>
            </a:r>
          </a:p>
          <a:p/>
          <a:p>
            <a:r>
              <a:t>MADELINE: Thank you for your time. We'd love to take questions, and the interactive dashboard is available for you to explore.</a:t>
            </a:r>
          </a:p>
          <a:p/>
          <a:p>
            <a:r>
              <a:t>JACOB: The full pipeline, methodology, and dashboard are open and reproducible. Thank you.</a:t>
            </a:r>
          </a:p>
          <a:p/>
          <a:p>
            <a:r>
              <a:t>[END -- TOTAL: 10:59]</a:t>
            </a:r>
          </a:p>
          <a:p/>
          <a:p>
            <a:r>
              <a:t>=== SCRIPT SUMMARY ===</a:t>
            </a:r>
          </a:p>
          <a:p>
            <a:r>
              <a:t>~1,600 words | 10:59</a:t>
            </a:r>
          </a:p>
          <a:p/>
          <a:p>
            <a:r>
              <a:t>JACOB: Slides 3-8, 14-15, 17 (~5:10)</a:t>
            </a:r>
          </a:p>
          <a:p>
            <a:r>
              <a:t>MADELINE: Slides 1-2, 9-13, 16, 18-19 (~5:49)</a:t>
            </a:r>
          </a:p>
          <a:p/>
          <a:p>
            <a:r>
              <a:t>=== RUBRIC COVERAGE ===</a:t>
            </a:r>
          </a:p>
          <a:p>
            <a:r>
              <a:t>I. Clinical/Business Use Case (15 pts)</a:t>
            </a:r>
          </a:p>
          <a:p>
            <a:r>
              <a:t>   1. Use Case ID: Equitable Access (Slide 3)</a:t>
            </a:r>
          </a:p>
          <a:p>
            <a:r>
              <a:t>   2. Insights: County stories, rural-urban gap (Slides 10-14)</a:t>
            </a:r>
          </a:p>
          <a:p>
            <a:r>
              <a:t>   3. Impact: Recommendations with stakeholder relevance (Slide 16)</a:t>
            </a:r>
          </a:p>
          <a:p/>
          <a:p>
            <a:r>
              <a:t>II. Analytic/Methodologic Quality (15 pts)</a:t>
            </a:r>
          </a:p>
          <a:p>
            <a:r>
              <a:t>   4. Methods: E2SFCA, tiered routing, normalization (Slides 4-7)</a:t>
            </a:r>
          </a:p>
          <a:p>
            <a:r>
              <a:t>   5. Innovation: Tiered system, multi-scenario, dashboard (Slide 15)</a:t>
            </a:r>
          </a:p>
          <a:p>
            <a:r>
              <a:t>   6. Data Integration: 6 public/challenge sources (Slide 8)</a:t>
            </a:r>
          </a:p>
          <a:p/>
          <a:p>
            <a:r>
              <a:t>III. Presentation &amp; Communication (15 pts)</a:t>
            </a:r>
          </a:p>
          <a:p>
            <a:r>
              <a:t>   7. Storytelling: Human hook, county stories, bookend close</a:t>
            </a:r>
          </a:p>
          <a:p>
            <a:r>
              <a:t>   8. Visual Quality: Dashboard, CVD-safe colors, dual presenters</a:t>
            </a:r>
          </a:p>
          <a:p>
            <a:r>
              <a:t>   9. Actionability: 4 concrete, feasible recommendations (Slide 16)</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6B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463040"/>
            <a:ext cx="9418320" cy="914400"/>
          </a:xfrm>
          <a:prstGeom prst="rect">
            <a:avLst/>
          </a:prstGeom>
          <a:noFill/>
        </p:spPr>
        <p:txBody>
          <a:bodyPr wrap="square">
            <a:noAutofit/>
          </a:bodyPr>
          <a:lstStyle/>
          <a:p>
            <a:pPr algn="ctr">
              <a:spcBef>
                <a:spcPts val="0"/>
              </a:spcBef>
              <a:spcAft>
                <a:spcPts val="0"/>
              </a:spcAft>
              <a:defRPr sz="5400" b="1">
                <a:solidFill>
                  <a:srgbClr val="56B4E9"/>
                </a:solidFill>
                <a:latin typeface="Arial"/>
              </a:defRPr>
            </a:pPr>
            <a:r>
              <a:t>Burn Equity Index</a:t>
            </a:r>
          </a:p>
        </p:txBody>
      </p:sp>
      <p:sp>
        <p:nvSpPr>
          <p:cNvPr id="4" name="TextBox 3"/>
          <p:cNvSpPr txBox="1"/>
          <p:nvPr/>
        </p:nvSpPr>
        <p:spPr>
          <a:xfrm>
            <a:off x="1371600" y="2560320"/>
            <a:ext cx="9418320" cy="640080"/>
          </a:xfrm>
          <a:prstGeom prst="rect">
            <a:avLst/>
          </a:prstGeom>
          <a:noFill/>
        </p:spPr>
        <p:txBody>
          <a:bodyPr wrap="square">
            <a:noAutofit/>
          </a:bodyPr>
          <a:lstStyle/>
          <a:p>
            <a:pPr algn="ctr">
              <a:spcBef>
                <a:spcPts val="0"/>
              </a:spcBef>
              <a:spcAft>
                <a:spcPts val="0"/>
              </a:spcAft>
              <a:defRPr sz="2600" b="0">
                <a:solidFill>
                  <a:srgbClr val="F0F3F7"/>
                </a:solidFill>
                <a:latin typeface="Arial"/>
              </a:defRPr>
            </a:pPr>
            <a:r>
              <a:t>Measuring Structural Burn-Care Access Inequity Across America</a:t>
            </a:r>
          </a:p>
        </p:txBody>
      </p:sp>
      <p:sp>
        <p:nvSpPr>
          <p:cNvPr id="5" name="TextBox 4"/>
          <p:cNvSpPr txBox="1"/>
          <p:nvPr/>
        </p:nvSpPr>
        <p:spPr>
          <a:xfrm>
            <a:off x="1371600" y="3474720"/>
            <a:ext cx="9418320" cy="457200"/>
          </a:xfrm>
          <a:prstGeom prst="rect">
            <a:avLst/>
          </a:prstGeom>
          <a:noFill/>
        </p:spPr>
        <p:txBody>
          <a:bodyPr wrap="square">
            <a:noAutofit/>
          </a:bodyPr>
          <a:lstStyle/>
          <a:p>
            <a:pPr algn="ctr">
              <a:spcBef>
                <a:spcPts val="0"/>
              </a:spcBef>
              <a:spcAft>
                <a:spcPts val="0"/>
              </a:spcAft>
              <a:defRPr sz="2200" b="1">
                <a:solidFill>
                  <a:srgbClr val="E69F00"/>
                </a:solidFill>
                <a:latin typeface="Arial"/>
              </a:defRPr>
            </a:pPr>
            <a:r>
              <a:t>Challenge Area 3: Equitable Access</a:t>
            </a:r>
          </a:p>
        </p:txBody>
      </p:sp>
      <p:sp>
        <p:nvSpPr>
          <p:cNvPr id="6" name="TextBox 5"/>
          <p:cNvSpPr txBox="1"/>
          <p:nvPr/>
        </p:nvSpPr>
        <p:spPr>
          <a:xfrm>
            <a:off x="1371600" y="4389120"/>
            <a:ext cx="9418320" cy="457200"/>
          </a:xfrm>
          <a:prstGeom prst="rect">
            <a:avLst/>
          </a:prstGeom>
          <a:noFill/>
        </p:spPr>
        <p:txBody>
          <a:bodyPr wrap="square">
            <a:noAutofit/>
          </a:bodyPr>
          <a:lstStyle/>
          <a:p>
            <a:pPr algn="ctr">
              <a:spcBef>
                <a:spcPts val="0"/>
              </a:spcBef>
              <a:spcAft>
                <a:spcPts val="0"/>
              </a:spcAft>
              <a:defRPr sz="1800" b="0">
                <a:solidFill>
                  <a:srgbClr val="9EADBD"/>
                </a:solidFill>
                <a:latin typeface="Arial"/>
              </a:defRPr>
            </a:pPr>
            <a:r>
              <a:t>Team 15  |  Jacob Tang  ·  Madeline Rose Johnson  ·  Yisihaq Yemiru  ·  Mashfika</a:t>
            </a:r>
          </a:p>
        </p:txBody>
      </p:sp>
      <p:sp>
        <p:nvSpPr>
          <p:cNvPr id="7" name="TextBox 6"/>
          <p:cNvSpPr txBox="1"/>
          <p:nvPr/>
        </p:nvSpPr>
        <p:spPr>
          <a:xfrm>
            <a:off x="1371600" y="5029200"/>
            <a:ext cx="9418320" cy="365760"/>
          </a:xfrm>
          <a:prstGeom prst="rect">
            <a:avLst/>
          </a:prstGeom>
          <a:noFill/>
        </p:spPr>
        <p:txBody>
          <a:bodyPr wrap="square">
            <a:noAutofit/>
          </a:bodyPr>
          <a:lstStyle/>
          <a:p>
            <a:pPr algn="ctr">
              <a:spcBef>
                <a:spcPts val="0"/>
              </a:spcBef>
              <a:spcAft>
                <a:spcPts val="0"/>
              </a:spcAft>
              <a:defRPr sz="1600" b="0">
                <a:solidFill>
                  <a:srgbClr val="9EADBD"/>
                </a:solidFill>
                <a:latin typeface="Arial"/>
              </a:defRPr>
            </a:pPr>
            <a:r>
              <a:t>HeatMap Hackathon  |  American Burn Association  ·  BData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TextBox 1"/>
          <p:cNvSpPr txBox="1"/>
          <p:nvPr/>
        </p:nvSpPr>
        <p:spPr>
          <a:xfrm>
            <a:off x="640080" y="274320"/>
            <a:ext cx="10972800" cy="548640"/>
          </a:xfrm>
          <a:prstGeom prst="rect">
            <a:avLst/>
          </a:prstGeom>
          <a:noFill/>
        </p:spPr>
        <p:txBody>
          <a:bodyPr wrap="square">
            <a:noAutofit/>
          </a:bodyPr>
          <a:lstStyle/>
          <a:p>
            <a:pPr algn="l">
              <a:spcBef>
                <a:spcPts val="0"/>
              </a:spcBef>
              <a:spcAft>
                <a:spcPts val="0"/>
              </a:spcAft>
              <a:defRPr sz="3800" b="1">
                <a:solidFill>
                  <a:srgbClr val="F0F3F7"/>
                </a:solidFill>
                <a:latin typeface="Arial"/>
              </a:defRPr>
            </a:pPr>
            <a:r>
              <a:t>The Problem: Access Is Not Equal</a:t>
            </a:r>
          </a:p>
        </p:txBody>
      </p:sp>
      <p:sp>
        <p:nvSpPr>
          <p:cNvPr id="3" name="TextBox 2"/>
          <p:cNvSpPr txBox="1"/>
          <p:nvPr/>
        </p:nvSpPr>
        <p:spPr>
          <a:xfrm>
            <a:off x="640080" y="822960"/>
            <a:ext cx="10972800" cy="365760"/>
          </a:xfrm>
          <a:prstGeom prst="rect">
            <a:avLst/>
          </a:prstGeom>
          <a:noFill/>
        </p:spPr>
        <p:txBody>
          <a:bodyPr wrap="square">
            <a:noAutofit/>
          </a:bodyPr>
          <a:lstStyle/>
          <a:p>
            <a:pPr algn="l">
              <a:spcBef>
                <a:spcPts val="0"/>
              </a:spcBef>
              <a:spcAft>
                <a:spcPts val="0"/>
              </a:spcAft>
              <a:defRPr sz="2000" b="0">
                <a:solidFill>
                  <a:srgbClr val="9EADBD"/>
                </a:solidFill>
                <a:latin typeface="Arial"/>
              </a:defRPr>
            </a:pPr>
            <a:r>
              <a:t>Burn care is one of the most regionalized specialties in medicine</a:t>
            </a:r>
          </a:p>
        </p:txBody>
      </p:sp>
      <p:sp>
        <p:nvSpPr>
          <p:cNvPr id="4" name="Rounded Rectangle 3"/>
          <p:cNvSpPr/>
          <p:nvPr/>
        </p:nvSpPr>
        <p:spPr>
          <a:xfrm>
            <a:off x="640080" y="1463040"/>
            <a:ext cx="2606040" cy="150876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2331720" cy="594360"/>
          </a:xfrm>
          <a:prstGeom prst="rect">
            <a:avLst/>
          </a:prstGeom>
          <a:noFill/>
        </p:spPr>
        <p:txBody>
          <a:bodyPr wrap="square">
            <a:noAutofit/>
          </a:bodyPr>
          <a:lstStyle/>
          <a:p>
            <a:pPr algn="l">
              <a:spcBef>
                <a:spcPts val="0"/>
              </a:spcBef>
              <a:spcAft>
                <a:spcPts val="0"/>
              </a:spcAft>
              <a:defRPr sz="1500" b="1">
                <a:solidFill>
                  <a:srgbClr val="9EADBD"/>
                </a:solidFill>
                <a:latin typeface="Arial"/>
              </a:defRPr>
            </a:pPr>
            <a:r>
              <a:t>Burn Centers (US)</a:t>
            </a:r>
          </a:p>
        </p:txBody>
      </p:sp>
      <p:sp>
        <p:nvSpPr>
          <p:cNvPr id="6" name="TextBox 5"/>
          <p:cNvSpPr txBox="1"/>
          <p:nvPr/>
        </p:nvSpPr>
        <p:spPr>
          <a:xfrm>
            <a:off x="777240" y="2194560"/>
            <a:ext cx="2331720" cy="594360"/>
          </a:xfrm>
          <a:prstGeom prst="rect">
            <a:avLst/>
          </a:prstGeom>
          <a:noFill/>
        </p:spPr>
        <p:txBody>
          <a:bodyPr wrap="square">
            <a:noAutofit/>
          </a:bodyPr>
          <a:lstStyle/>
          <a:p>
            <a:pPr algn="l">
              <a:spcBef>
                <a:spcPts val="0"/>
              </a:spcBef>
              <a:spcAft>
                <a:spcPts val="0"/>
              </a:spcAft>
              <a:defRPr sz="3000" b="1">
                <a:solidFill>
                  <a:srgbClr val="56B4E9"/>
                </a:solidFill>
                <a:latin typeface="Arial"/>
              </a:defRPr>
            </a:pPr>
            <a:r>
              <a:t>136</a:t>
            </a:r>
          </a:p>
        </p:txBody>
      </p:sp>
      <p:sp>
        <p:nvSpPr>
          <p:cNvPr id="7" name="Rounded Rectangle 6"/>
          <p:cNvSpPr/>
          <p:nvPr/>
        </p:nvSpPr>
        <p:spPr>
          <a:xfrm>
            <a:off x="3474720" y="1463040"/>
            <a:ext cx="2606040" cy="150876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1572768"/>
            <a:ext cx="2331720" cy="594360"/>
          </a:xfrm>
          <a:prstGeom prst="rect">
            <a:avLst/>
          </a:prstGeom>
          <a:noFill/>
        </p:spPr>
        <p:txBody>
          <a:bodyPr wrap="square">
            <a:noAutofit/>
          </a:bodyPr>
          <a:lstStyle/>
          <a:p>
            <a:pPr algn="l">
              <a:spcBef>
                <a:spcPts val="0"/>
              </a:spcBef>
              <a:spcAft>
                <a:spcPts val="0"/>
              </a:spcAft>
              <a:defRPr sz="1500" b="1">
                <a:solidFill>
                  <a:srgbClr val="9EADBD"/>
                </a:solidFill>
                <a:latin typeface="Arial"/>
              </a:defRPr>
            </a:pPr>
            <a:r>
              <a:t>Total Burn Beds</a:t>
            </a:r>
          </a:p>
        </p:txBody>
      </p:sp>
      <p:sp>
        <p:nvSpPr>
          <p:cNvPr id="9" name="TextBox 8"/>
          <p:cNvSpPr txBox="1"/>
          <p:nvPr/>
        </p:nvSpPr>
        <p:spPr>
          <a:xfrm>
            <a:off x="3611880" y="2194560"/>
            <a:ext cx="2331720" cy="594360"/>
          </a:xfrm>
          <a:prstGeom prst="rect">
            <a:avLst/>
          </a:prstGeom>
          <a:noFill/>
        </p:spPr>
        <p:txBody>
          <a:bodyPr wrap="square">
            <a:noAutofit/>
          </a:bodyPr>
          <a:lstStyle/>
          <a:p>
            <a:pPr algn="l">
              <a:spcBef>
                <a:spcPts val="0"/>
              </a:spcBef>
              <a:spcAft>
                <a:spcPts val="0"/>
              </a:spcAft>
              <a:defRPr sz="3000" b="1">
                <a:solidFill>
                  <a:srgbClr val="56B4E9"/>
                </a:solidFill>
                <a:latin typeface="Arial"/>
              </a:defRPr>
            </a:pPr>
            <a:r>
              <a:t>2,080</a:t>
            </a:r>
          </a:p>
        </p:txBody>
      </p:sp>
      <p:sp>
        <p:nvSpPr>
          <p:cNvPr id="10" name="Rounded Rectangle 9"/>
          <p:cNvSpPr/>
          <p:nvPr/>
        </p:nvSpPr>
        <p:spPr>
          <a:xfrm>
            <a:off x="6309360" y="1463040"/>
            <a:ext cx="2606040" cy="150876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572768"/>
            <a:ext cx="2331720" cy="594360"/>
          </a:xfrm>
          <a:prstGeom prst="rect">
            <a:avLst/>
          </a:prstGeom>
          <a:noFill/>
        </p:spPr>
        <p:txBody>
          <a:bodyPr wrap="square">
            <a:noAutofit/>
          </a:bodyPr>
          <a:lstStyle/>
          <a:p>
            <a:pPr algn="l">
              <a:spcBef>
                <a:spcPts val="0"/>
              </a:spcBef>
              <a:spcAft>
                <a:spcPts val="0"/>
              </a:spcAft>
              <a:defRPr sz="1500" b="1">
                <a:solidFill>
                  <a:srgbClr val="9EADBD"/>
                </a:solidFill>
                <a:latin typeface="Arial"/>
              </a:defRPr>
            </a:pPr>
            <a:r>
              <a:t>US Population</a:t>
            </a:r>
          </a:p>
        </p:txBody>
      </p:sp>
      <p:sp>
        <p:nvSpPr>
          <p:cNvPr id="12" name="TextBox 11"/>
          <p:cNvSpPr txBox="1"/>
          <p:nvPr/>
        </p:nvSpPr>
        <p:spPr>
          <a:xfrm>
            <a:off x="6446520" y="2194560"/>
            <a:ext cx="2331720" cy="594360"/>
          </a:xfrm>
          <a:prstGeom prst="rect">
            <a:avLst/>
          </a:prstGeom>
          <a:noFill/>
        </p:spPr>
        <p:txBody>
          <a:bodyPr wrap="square">
            <a:noAutofit/>
          </a:bodyPr>
          <a:lstStyle/>
          <a:p>
            <a:pPr algn="l">
              <a:spcBef>
                <a:spcPts val="0"/>
              </a:spcBef>
              <a:spcAft>
                <a:spcPts val="0"/>
              </a:spcAft>
              <a:defRPr sz="3000" b="1">
                <a:solidFill>
                  <a:srgbClr val="E69F00"/>
                </a:solidFill>
                <a:latin typeface="Arial"/>
              </a:defRPr>
            </a:pPr>
            <a:r>
              <a:t>331M</a:t>
            </a:r>
          </a:p>
        </p:txBody>
      </p:sp>
      <p:sp>
        <p:nvSpPr>
          <p:cNvPr id="13" name="Rounded Rectangle 12"/>
          <p:cNvSpPr/>
          <p:nvPr/>
        </p:nvSpPr>
        <p:spPr>
          <a:xfrm>
            <a:off x="9144000" y="1463040"/>
            <a:ext cx="2606040" cy="150876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81160" y="1572768"/>
            <a:ext cx="2331720" cy="594360"/>
          </a:xfrm>
          <a:prstGeom prst="rect">
            <a:avLst/>
          </a:prstGeom>
          <a:noFill/>
        </p:spPr>
        <p:txBody>
          <a:bodyPr wrap="square">
            <a:noAutofit/>
          </a:bodyPr>
          <a:lstStyle/>
          <a:p>
            <a:pPr algn="l">
              <a:spcBef>
                <a:spcPts val="0"/>
              </a:spcBef>
              <a:spcAft>
                <a:spcPts val="0"/>
              </a:spcAft>
              <a:defRPr sz="1500" b="1">
                <a:solidFill>
                  <a:srgbClr val="9EADBD"/>
                </a:solidFill>
                <a:latin typeface="Arial"/>
              </a:defRPr>
            </a:pPr>
            <a:r>
              <a:t>States with No</a:t>
            </a:r>
          </a:p>
          <a:p>
            <a:pPr algn="l">
              <a:spcBef>
                <a:spcPts val="0"/>
              </a:spcBef>
              <a:spcAft>
                <a:spcPts val="0"/>
              </a:spcAft>
              <a:defRPr sz="1500" b="1">
                <a:solidFill>
                  <a:srgbClr val="9EADBD"/>
                </a:solidFill>
                <a:latin typeface="Arial"/>
              </a:defRPr>
            </a:pPr>
            <a:r>
              <a:t>Burn Center</a:t>
            </a:r>
          </a:p>
        </p:txBody>
      </p:sp>
      <p:sp>
        <p:nvSpPr>
          <p:cNvPr id="15" name="TextBox 14"/>
          <p:cNvSpPr txBox="1"/>
          <p:nvPr/>
        </p:nvSpPr>
        <p:spPr>
          <a:xfrm>
            <a:off x="9281160" y="2194560"/>
            <a:ext cx="2331720" cy="594360"/>
          </a:xfrm>
          <a:prstGeom prst="rect">
            <a:avLst/>
          </a:prstGeom>
          <a:noFill/>
        </p:spPr>
        <p:txBody>
          <a:bodyPr wrap="square">
            <a:noAutofit/>
          </a:bodyPr>
          <a:lstStyle/>
          <a:p>
            <a:pPr algn="l">
              <a:spcBef>
                <a:spcPts val="0"/>
              </a:spcBef>
              <a:spcAft>
                <a:spcPts val="0"/>
              </a:spcAft>
              <a:defRPr sz="3000" b="1">
                <a:solidFill>
                  <a:srgbClr val="D55E00"/>
                </a:solidFill>
                <a:latin typeface="Arial"/>
              </a:defRPr>
            </a:pPr>
            <a:r>
              <a:t>8</a:t>
            </a:r>
          </a:p>
        </p:txBody>
      </p:sp>
      <p:sp>
        <p:nvSpPr>
          <p:cNvPr id="16" name="Rounded Rectangle 15"/>
          <p:cNvSpPr/>
          <p:nvPr/>
        </p:nvSpPr>
        <p:spPr>
          <a:xfrm>
            <a:off x="640080" y="3108960"/>
            <a:ext cx="5303520" cy="320040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246120"/>
            <a:ext cx="4846320" cy="365760"/>
          </a:xfrm>
          <a:prstGeom prst="rect">
            <a:avLst/>
          </a:prstGeom>
          <a:noFill/>
        </p:spPr>
        <p:txBody>
          <a:bodyPr wrap="square">
            <a:noAutofit/>
          </a:bodyPr>
          <a:lstStyle/>
          <a:p>
            <a:pPr algn="l">
              <a:spcBef>
                <a:spcPts val="0"/>
              </a:spcBef>
              <a:spcAft>
                <a:spcPts val="0"/>
              </a:spcAft>
              <a:defRPr sz="2400" b="1">
                <a:solidFill>
                  <a:srgbClr val="009E73"/>
                </a:solidFill>
                <a:latin typeface="Arial"/>
              </a:defRPr>
            </a:pPr>
            <a:r>
              <a:t>Hennepin County, MN</a:t>
            </a:r>
          </a:p>
        </p:txBody>
      </p:sp>
      <p:sp>
        <p:nvSpPr>
          <p:cNvPr id="18" name="TextBox 17"/>
          <p:cNvSpPr txBox="1"/>
          <p:nvPr/>
        </p:nvSpPr>
        <p:spPr>
          <a:xfrm>
            <a:off x="914400" y="3657600"/>
            <a:ext cx="4846320" cy="320040"/>
          </a:xfrm>
          <a:prstGeom prst="rect">
            <a:avLst/>
          </a:prstGeom>
          <a:noFill/>
        </p:spPr>
        <p:txBody>
          <a:bodyPr wrap="square">
            <a:noAutofit/>
          </a:bodyPr>
          <a:lstStyle/>
          <a:p>
            <a:pPr algn="l">
              <a:spcBef>
                <a:spcPts val="0"/>
              </a:spcBef>
              <a:spcAft>
                <a:spcPts val="0"/>
              </a:spcAft>
              <a:defRPr sz="2000" b="0">
                <a:solidFill>
                  <a:srgbClr val="F0F3F7"/>
                </a:solidFill>
                <a:latin typeface="Arial"/>
              </a:defRPr>
            </a:pPr>
            <a:r>
              <a:t>Pop: 1.27 million  |  BEI: 0</a:t>
            </a:r>
          </a:p>
        </p:txBody>
      </p:sp>
      <p:sp>
        <p:nvSpPr>
          <p:cNvPr id="19" name="TextBox 18"/>
          <p:cNvSpPr txBox="1"/>
          <p:nvPr/>
        </p:nvSpPr>
        <p:spPr>
          <a:xfrm>
            <a:off x="914400" y="4114800"/>
            <a:ext cx="4846320" cy="1645920"/>
          </a:xfrm>
          <a:prstGeom prst="rect">
            <a:avLst/>
          </a:prstGeom>
          <a:noFill/>
        </p:spPr>
        <p:txBody>
          <a:bodyPr wrap="square">
            <a:noAutofit/>
          </a:bodyPr>
          <a:lstStyle/>
          <a:p>
            <a:pPr algn="l">
              <a:lnSpc>
                <a:spcPts val="3200"/>
              </a:lnSpc>
              <a:spcBef>
                <a:spcPts val="0"/>
              </a:spcBef>
              <a:spcAft>
                <a:spcPts val="0"/>
              </a:spcAft>
              <a:defRPr sz="2000" b="0">
                <a:solidFill>
                  <a:srgbClr val="9EADBD"/>
                </a:solidFill>
                <a:latin typeface="Arial"/>
              </a:defRPr>
            </a:pPr>
            <a:r>
              <a:t>10 min to a verified burn center</a:t>
            </a:r>
          </a:p>
          <a:p>
            <a:pPr algn="l">
              <a:lnSpc>
                <a:spcPts val="3200"/>
              </a:lnSpc>
              <a:spcBef>
                <a:spcPts val="0"/>
              </a:spcBef>
              <a:spcAft>
                <a:spcPts val="0"/>
              </a:spcAft>
              <a:defRPr sz="2000" b="0">
                <a:solidFill>
                  <a:srgbClr val="9EADBD"/>
                </a:solidFill>
                <a:latin typeface="Arial"/>
              </a:defRPr>
            </a:pPr>
            <a:r>
              <a:t>Direct access, full pediatric capability</a:t>
            </a:r>
          </a:p>
          <a:p>
            <a:pPr algn="l">
              <a:lnSpc>
                <a:spcPts val="3200"/>
              </a:lnSpc>
              <a:spcBef>
                <a:spcPts val="0"/>
              </a:spcBef>
              <a:spcAft>
                <a:spcPts val="0"/>
              </a:spcAft>
              <a:defRPr sz="2000" b="0">
                <a:solidFill>
                  <a:srgbClr val="9EADBD"/>
                </a:solidFill>
                <a:latin typeface="Arial"/>
              </a:defRPr>
            </a:pPr>
            <a:r>
              <a:t>Multiple facilities within 30 min</a:t>
            </a:r>
          </a:p>
        </p:txBody>
      </p:sp>
      <p:sp>
        <p:nvSpPr>
          <p:cNvPr id="20" name="Rounded Rectangle 19"/>
          <p:cNvSpPr/>
          <p:nvPr/>
        </p:nvSpPr>
        <p:spPr>
          <a:xfrm>
            <a:off x="6217920" y="3108960"/>
            <a:ext cx="5303520" cy="320040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3246120"/>
            <a:ext cx="4846320" cy="365760"/>
          </a:xfrm>
          <a:prstGeom prst="rect">
            <a:avLst/>
          </a:prstGeom>
          <a:noFill/>
        </p:spPr>
        <p:txBody>
          <a:bodyPr wrap="square">
            <a:noAutofit/>
          </a:bodyPr>
          <a:lstStyle/>
          <a:p>
            <a:pPr algn="l">
              <a:spcBef>
                <a:spcPts val="0"/>
              </a:spcBef>
              <a:spcAft>
                <a:spcPts val="0"/>
              </a:spcAft>
              <a:defRPr sz="2400" b="1">
                <a:solidFill>
                  <a:srgbClr val="D55E00"/>
                </a:solidFill>
                <a:latin typeface="Arial"/>
              </a:defRPr>
            </a:pPr>
            <a:r>
              <a:t>Kittson County, MN</a:t>
            </a:r>
          </a:p>
        </p:txBody>
      </p:sp>
      <p:sp>
        <p:nvSpPr>
          <p:cNvPr id="22" name="TextBox 21"/>
          <p:cNvSpPr txBox="1"/>
          <p:nvPr/>
        </p:nvSpPr>
        <p:spPr>
          <a:xfrm>
            <a:off x="6492240" y="3657600"/>
            <a:ext cx="4846320" cy="320040"/>
          </a:xfrm>
          <a:prstGeom prst="rect">
            <a:avLst/>
          </a:prstGeom>
          <a:noFill/>
        </p:spPr>
        <p:txBody>
          <a:bodyPr wrap="square">
            <a:noAutofit/>
          </a:bodyPr>
          <a:lstStyle/>
          <a:p>
            <a:pPr algn="l">
              <a:spcBef>
                <a:spcPts val="0"/>
              </a:spcBef>
              <a:spcAft>
                <a:spcPts val="0"/>
              </a:spcAft>
              <a:defRPr sz="2000" b="0">
                <a:solidFill>
                  <a:srgbClr val="F0F3F7"/>
                </a:solidFill>
                <a:latin typeface="Arial"/>
              </a:defRPr>
            </a:pPr>
            <a:r>
              <a:t>Pop: 4,191  |  BEI: 99.6</a:t>
            </a:r>
          </a:p>
        </p:txBody>
      </p:sp>
      <p:sp>
        <p:nvSpPr>
          <p:cNvPr id="23" name="TextBox 22"/>
          <p:cNvSpPr txBox="1"/>
          <p:nvPr/>
        </p:nvSpPr>
        <p:spPr>
          <a:xfrm>
            <a:off x="6492240" y="4114800"/>
            <a:ext cx="4846320" cy="1645920"/>
          </a:xfrm>
          <a:prstGeom prst="rect">
            <a:avLst/>
          </a:prstGeom>
          <a:noFill/>
        </p:spPr>
        <p:txBody>
          <a:bodyPr wrap="square">
            <a:noAutofit/>
          </a:bodyPr>
          <a:lstStyle/>
          <a:p>
            <a:pPr algn="l">
              <a:lnSpc>
                <a:spcPts val="3200"/>
              </a:lnSpc>
              <a:spcBef>
                <a:spcPts val="0"/>
              </a:spcBef>
              <a:spcAft>
                <a:spcPts val="0"/>
              </a:spcAft>
              <a:defRPr sz="2000" b="0">
                <a:solidFill>
                  <a:srgbClr val="9EADBD"/>
                </a:solidFill>
                <a:latin typeface="Arial"/>
              </a:defRPr>
            </a:pPr>
            <a:r>
              <a:t>8+ hours to nearest burn center</a:t>
            </a:r>
          </a:p>
          <a:p>
            <a:pPr algn="l">
              <a:lnSpc>
                <a:spcPts val="3200"/>
              </a:lnSpc>
              <a:spcBef>
                <a:spcPts val="0"/>
              </a:spcBef>
              <a:spcAft>
                <a:spcPts val="0"/>
              </a:spcAft>
              <a:defRPr sz="2000" b="0">
                <a:solidFill>
                  <a:srgbClr val="9EADBD"/>
                </a:solidFill>
                <a:latin typeface="Arial"/>
              </a:defRPr>
            </a:pPr>
            <a:r>
              <a:t>No stabilization within 30 min</a:t>
            </a:r>
          </a:p>
          <a:p>
            <a:pPr algn="l">
              <a:lnSpc>
                <a:spcPts val="3200"/>
              </a:lnSpc>
              <a:spcBef>
                <a:spcPts val="0"/>
              </a:spcBef>
              <a:spcAft>
                <a:spcPts val="0"/>
              </a:spcAft>
              <a:defRPr sz="2000" b="0">
                <a:solidFill>
                  <a:srgbClr val="9EADBD"/>
                </a:solidFill>
                <a:latin typeface="Arial"/>
              </a:defRPr>
            </a:pPr>
            <a:r>
              <a:t>Zero pediatric burn access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TextBox 1"/>
          <p:cNvSpPr txBox="1"/>
          <p:nvPr/>
        </p:nvSpPr>
        <p:spPr>
          <a:xfrm>
            <a:off x="640080" y="274320"/>
            <a:ext cx="10972800" cy="548640"/>
          </a:xfrm>
          <a:prstGeom prst="rect">
            <a:avLst/>
          </a:prstGeom>
          <a:noFill/>
        </p:spPr>
        <p:txBody>
          <a:bodyPr wrap="square">
            <a:noAutofit/>
          </a:bodyPr>
          <a:lstStyle/>
          <a:p>
            <a:pPr algn="l">
              <a:spcBef>
                <a:spcPts val="0"/>
              </a:spcBef>
              <a:spcAft>
                <a:spcPts val="0"/>
              </a:spcAft>
              <a:defRPr sz="3800" b="1">
                <a:solidFill>
                  <a:srgbClr val="F0F3F7"/>
                </a:solidFill>
                <a:latin typeface="Arial"/>
              </a:defRPr>
            </a:pPr>
            <a:r>
              <a:t>Our Use Case: Equitable Access</a:t>
            </a:r>
          </a:p>
        </p:txBody>
      </p:sp>
      <p:sp>
        <p:nvSpPr>
          <p:cNvPr id="3" name="TextBox 2"/>
          <p:cNvSpPr txBox="1"/>
          <p:nvPr/>
        </p:nvSpPr>
        <p:spPr>
          <a:xfrm>
            <a:off x="640080" y="914400"/>
            <a:ext cx="10515600" cy="1005840"/>
          </a:xfrm>
          <a:prstGeom prst="rect">
            <a:avLst/>
          </a:prstGeom>
          <a:noFill/>
        </p:spPr>
        <p:txBody>
          <a:bodyPr wrap="square">
            <a:noAutofit/>
          </a:bodyPr>
          <a:lstStyle/>
          <a:p>
            <a:pPr algn="l">
              <a:lnSpc>
                <a:spcPts val="3400"/>
              </a:lnSpc>
              <a:spcBef>
                <a:spcPts val="0"/>
              </a:spcBef>
              <a:spcAft>
                <a:spcPts val="0"/>
              </a:spcAft>
              <a:defRPr sz="2400" b="0">
                <a:solidFill>
                  <a:srgbClr val="F0F3F7"/>
                </a:solidFill>
                <a:latin typeface="Arial"/>
              </a:defRPr>
            </a:pPr>
            <a:r>
              <a:t>Given where people live and where burn-care resources sit, how equitably is the system structured?</a:t>
            </a:r>
          </a:p>
        </p:txBody>
      </p:sp>
      <p:sp>
        <p:nvSpPr>
          <p:cNvPr id="4" name="Rounded Rectangle 3"/>
          <p:cNvSpPr/>
          <p:nvPr/>
        </p:nvSpPr>
        <p:spPr>
          <a:xfrm>
            <a:off x="640080" y="2103120"/>
            <a:ext cx="3474720" cy="393192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965960" y="2377440"/>
            <a:ext cx="731520" cy="731520"/>
          </a:xfrm>
          <a:prstGeom prst="ellipse">
            <a:avLst/>
          </a:prstGeom>
          <a:solidFill>
            <a:srgbClr val="56B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65960" y="2423160"/>
            <a:ext cx="731520" cy="640080"/>
          </a:xfrm>
          <a:prstGeom prst="rect">
            <a:avLst/>
          </a:prstGeom>
          <a:noFill/>
        </p:spPr>
        <p:txBody>
          <a:bodyPr wrap="square">
            <a:noAutofit/>
          </a:bodyPr>
          <a:lstStyle/>
          <a:p>
            <a:pPr algn="ctr">
              <a:spcBef>
                <a:spcPts val="0"/>
              </a:spcBef>
              <a:spcAft>
                <a:spcPts val="0"/>
              </a:spcAft>
              <a:defRPr sz="2800" b="1">
                <a:solidFill>
                  <a:srgbClr val="121A27"/>
                </a:solidFill>
                <a:latin typeface="Arial"/>
              </a:defRPr>
            </a:pPr>
            <a:r>
              <a:t>1</a:t>
            </a:r>
          </a:p>
        </p:txBody>
      </p:sp>
      <p:sp>
        <p:nvSpPr>
          <p:cNvPr id="7" name="TextBox 6"/>
          <p:cNvSpPr txBox="1"/>
          <p:nvPr/>
        </p:nvSpPr>
        <p:spPr>
          <a:xfrm>
            <a:off x="914400" y="3291840"/>
            <a:ext cx="2926080" cy="457200"/>
          </a:xfrm>
          <a:prstGeom prst="rect">
            <a:avLst/>
          </a:prstGeom>
          <a:noFill/>
        </p:spPr>
        <p:txBody>
          <a:bodyPr wrap="square">
            <a:noAutofit/>
          </a:bodyPr>
          <a:lstStyle/>
          <a:p>
            <a:pPr algn="ctr">
              <a:spcBef>
                <a:spcPts val="0"/>
              </a:spcBef>
              <a:spcAft>
                <a:spcPts val="0"/>
              </a:spcAft>
              <a:defRPr sz="2600" b="1">
                <a:solidFill>
                  <a:srgbClr val="56B4E9"/>
                </a:solidFill>
                <a:latin typeface="Arial"/>
              </a:defRPr>
            </a:pPr>
            <a:r>
              <a:t>Quantify</a:t>
            </a:r>
          </a:p>
        </p:txBody>
      </p:sp>
      <p:sp>
        <p:nvSpPr>
          <p:cNvPr id="8" name="TextBox 7"/>
          <p:cNvSpPr txBox="1"/>
          <p:nvPr/>
        </p:nvSpPr>
        <p:spPr>
          <a:xfrm>
            <a:off x="914400" y="3840480"/>
            <a:ext cx="2926080" cy="1828800"/>
          </a:xfrm>
          <a:prstGeom prst="rect">
            <a:avLst/>
          </a:prstGeom>
          <a:noFill/>
        </p:spPr>
        <p:txBody>
          <a:bodyPr wrap="square">
            <a:noAutofit/>
          </a:bodyPr>
          <a:lstStyle/>
          <a:p>
            <a:pPr algn="ctr">
              <a:lnSpc>
                <a:spcPts val="2800"/>
              </a:lnSpc>
              <a:spcBef>
                <a:spcPts val="0"/>
              </a:spcBef>
              <a:spcAft>
                <a:spcPts val="0"/>
              </a:spcAft>
              <a:defRPr sz="1800" b="0">
                <a:solidFill>
                  <a:srgbClr val="9EADBD"/>
                </a:solidFill>
                <a:latin typeface="Arial"/>
              </a:defRPr>
            </a:pPr>
            <a:r>
              <a:t>Build a composite equity index at</a:t>
            </a:r>
          </a:p>
          <a:p>
            <a:pPr algn="ctr">
              <a:lnSpc>
                <a:spcPts val="2800"/>
              </a:lnSpc>
              <a:spcBef>
                <a:spcPts val="0"/>
              </a:spcBef>
              <a:spcAft>
                <a:spcPts val="0"/>
              </a:spcAft>
              <a:defRPr sz="1800" b="0">
                <a:solidFill>
                  <a:srgbClr val="9EADBD"/>
                </a:solidFill>
                <a:latin typeface="Arial"/>
              </a:defRPr>
            </a:pPr>
            <a:r>
              <a:t>census-tract resolution across</a:t>
            </a:r>
          </a:p>
          <a:p>
            <a:pPr algn="ctr">
              <a:lnSpc>
                <a:spcPts val="2800"/>
              </a:lnSpc>
              <a:spcBef>
                <a:spcPts val="0"/>
              </a:spcBef>
              <a:spcAft>
                <a:spcPts val="0"/>
              </a:spcAft>
              <a:defRPr sz="1800" b="0">
                <a:solidFill>
                  <a:srgbClr val="9EADBD"/>
                </a:solidFill>
                <a:latin typeface="Arial"/>
              </a:defRPr>
            </a:pPr>
            <a:r>
              <a:t>the entire United States.</a:t>
            </a:r>
          </a:p>
        </p:txBody>
      </p:sp>
      <p:sp>
        <p:nvSpPr>
          <p:cNvPr id="9" name="Rounded Rectangle 8"/>
          <p:cNvSpPr/>
          <p:nvPr/>
        </p:nvSpPr>
        <p:spPr>
          <a:xfrm>
            <a:off x="4389119" y="2103120"/>
            <a:ext cx="3474720" cy="393192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714999" y="2377440"/>
            <a:ext cx="731520" cy="731520"/>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14999" y="2423160"/>
            <a:ext cx="731520" cy="640080"/>
          </a:xfrm>
          <a:prstGeom prst="rect">
            <a:avLst/>
          </a:prstGeom>
          <a:noFill/>
        </p:spPr>
        <p:txBody>
          <a:bodyPr wrap="square">
            <a:noAutofit/>
          </a:bodyPr>
          <a:lstStyle/>
          <a:p>
            <a:pPr algn="ctr">
              <a:spcBef>
                <a:spcPts val="0"/>
              </a:spcBef>
              <a:spcAft>
                <a:spcPts val="0"/>
              </a:spcAft>
              <a:defRPr sz="2800" b="1">
                <a:solidFill>
                  <a:srgbClr val="121A27"/>
                </a:solidFill>
                <a:latin typeface="Arial"/>
              </a:defRPr>
            </a:pPr>
            <a:r>
              <a:t>2</a:t>
            </a:r>
          </a:p>
        </p:txBody>
      </p:sp>
      <p:sp>
        <p:nvSpPr>
          <p:cNvPr id="12" name="TextBox 11"/>
          <p:cNvSpPr txBox="1"/>
          <p:nvPr/>
        </p:nvSpPr>
        <p:spPr>
          <a:xfrm>
            <a:off x="4663439" y="3291840"/>
            <a:ext cx="2926080" cy="457200"/>
          </a:xfrm>
          <a:prstGeom prst="rect">
            <a:avLst/>
          </a:prstGeom>
          <a:noFill/>
        </p:spPr>
        <p:txBody>
          <a:bodyPr wrap="square">
            <a:noAutofit/>
          </a:bodyPr>
          <a:lstStyle/>
          <a:p>
            <a:pPr algn="ctr">
              <a:spcBef>
                <a:spcPts val="0"/>
              </a:spcBef>
              <a:spcAft>
                <a:spcPts val="0"/>
              </a:spcAft>
              <a:defRPr sz="2600" b="1">
                <a:solidFill>
                  <a:srgbClr val="E69F00"/>
                </a:solidFill>
                <a:latin typeface="Arial"/>
              </a:defRPr>
            </a:pPr>
            <a:r>
              <a:t>Visualize</a:t>
            </a:r>
          </a:p>
        </p:txBody>
      </p:sp>
      <p:sp>
        <p:nvSpPr>
          <p:cNvPr id="13" name="TextBox 12"/>
          <p:cNvSpPr txBox="1"/>
          <p:nvPr/>
        </p:nvSpPr>
        <p:spPr>
          <a:xfrm>
            <a:off x="4663439" y="3840480"/>
            <a:ext cx="2926080" cy="1828800"/>
          </a:xfrm>
          <a:prstGeom prst="rect">
            <a:avLst/>
          </a:prstGeom>
          <a:noFill/>
        </p:spPr>
        <p:txBody>
          <a:bodyPr wrap="square">
            <a:noAutofit/>
          </a:bodyPr>
          <a:lstStyle/>
          <a:p>
            <a:pPr algn="ctr">
              <a:lnSpc>
                <a:spcPts val="2800"/>
              </a:lnSpc>
              <a:spcBef>
                <a:spcPts val="0"/>
              </a:spcBef>
              <a:spcAft>
                <a:spcPts val="0"/>
              </a:spcAft>
              <a:defRPr sz="1800" b="0">
                <a:solidFill>
                  <a:srgbClr val="9EADBD"/>
                </a:solidFill>
                <a:latin typeface="Arial"/>
              </a:defRPr>
            </a:pPr>
            <a:r>
              <a:t>Create an interactive dashboard</a:t>
            </a:r>
          </a:p>
          <a:p>
            <a:pPr algn="ctr">
              <a:lnSpc>
                <a:spcPts val="2800"/>
              </a:lnSpc>
              <a:spcBef>
                <a:spcPts val="0"/>
              </a:spcBef>
              <a:spcAft>
                <a:spcPts val="0"/>
              </a:spcAft>
              <a:defRPr sz="1800" b="0">
                <a:solidFill>
                  <a:srgbClr val="9EADBD"/>
                </a:solidFill>
                <a:latin typeface="Arial"/>
              </a:defRPr>
            </a:pPr>
            <a:r>
              <a:t>for stakeholders to explore access</a:t>
            </a:r>
          </a:p>
          <a:p>
            <a:pPr algn="ctr">
              <a:lnSpc>
                <a:spcPts val="2800"/>
              </a:lnSpc>
              <a:spcBef>
                <a:spcPts val="0"/>
              </a:spcBef>
              <a:spcAft>
                <a:spcPts val="0"/>
              </a:spcAft>
              <a:defRPr sz="1800" b="0">
                <a:solidFill>
                  <a:srgbClr val="9EADBD"/>
                </a:solidFill>
                <a:latin typeface="Arial"/>
              </a:defRPr>
            </a:pPr>
            <a:r>
              <a:t>from national to neighborhood level.</a:t>
            </a:r>
          </a:p>
        </p:txBody>
      </p:sp>
      <p:sp>
        <p:nvSpPr>
          <p:cNvPr id="14" name="Rounded Rectangle 13"/>
          <p:cNvSpPr/>
          <p:nvPr/>
        </p:nvSpPr>
        <p:spPr>
          <a:xfrm>
            <a:off x="8138158" y="2103120"/>
            <a:ext cx="3474720" cy="393192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4038" y="2377440"/>
            <a:ext cx="731520" cy="731520"/>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64038" y="2423160"/>
            <a:ext cx="731520" cy="640080"/>
          </a:xfrm>
          <a:prstGeom prst="rect">
            <a:avLst/>
          </a:prstGeom>
          <a:noFill/>
        </p:spPr>
        <p:txBody>
          <a:bodyPr wrap="square">
            <a:noAutofit/>
          </a:bodyPr>
          <a:lstStyle/>
          <a:p>
            <a:pPr algn="ctr">
              <a:spcBef>
                <a:spcPts val="0"/>
              </a:spcBef>
              <a:spcAft>
                <a:spcPts val="0"/>
              </a:spcAft>
              <a:defRPr sz="2800" b="1">
                <a:solidFill>
                  <a:srgbClr val="121A27"/>
                </a:solidFill>
                <a:latin typeface="Arial"/>
              </a:defRPr>
            </a:pPr>
            <a:r>
              <a:t>3</a:t>
            </a:r>
          </a:p>
        </p:txBody>
      </p:sp>
      <p:sp>
        <p:nvSpPr>
          <p:cNvPr id="17" name="TextBox 16"/>
          <p:cNvSpPr txBox="1"/>
          <p:nvPr/>
        </p:nvSpPr>
        <p:spPr>
          <a:xfrm>
            <a:off x="8412478" y="3291840"/>
            <a:ext cx="2926080" cy="457200"/>
          </a:xfrm>
          <a:prstGeom prst="rect">
            <a:avLst/>
          </a:prstGeom>
          <a:noFill/>
        </p:spPr>
        <p:txBody>
          <a:bodyPr wrap="square">
            <a:noAutofit/>
          </a:bodyPr>
          <a:lstStyle/>
          <a:p>
            <a:pPr algn="ctr">
              <a:spcBef>
                <a:spcPts val="0"/>
              </a:spcBef>
              <a:spcAft>
                <a:spcPts val="0"/>
              </a:spcAft>
              <a:defRPr sz="2600" b="1">
                <a:solidFill>
                  <a:srgbClr val="009E73"/>
                </a:solidFill>
                <a:latin typeface="Arial"/>
              </a:defRPr>
            </a:pPr>
            <a:r>
              <a:t>Act</a:t>
            </a:r>
          </a:p>
        </p:txBody>
      </p:sp>
      <p:sp>
        <p:nvSpPr>
          <p:cNvPr id="18" name="TextBox 17"/>
          <p:cNvSpPr txBox="1"/>
          <p:nvPr/>
        </p:nvSpPr>
        <p:spPr>
          <a:xfrm>
            <a:off x="8412478" y="3840480"/>
            <a:ext cx="2926080" cy="1828800"/>
          </a:xfrm>
          <a:prstGeom prst="rect">
            <a:avLst/>
          </a:prstGeom>
          <a:noFill/>
        </p:spPr>
        <p:txBody>
          <a:bodyPr wrap="square">
            <a:noAutofit/>
          </a:bodyPr>
          <a:lstStyle/>
          <a:p>
            <a:pPr algn="ctr">
              <a:lnSpc>
                <a:spcPts val="2800"/>
              </a:lnSpc>
              <a:spcBef>
                <a:spcPts val="0"/>
              </a:spcBef>
              <a:spcAft>
                <a:spcPts val="0"/>
              </a:spcAft>
              <a:defRPr sz="1800" b="0">
                <a:solidFill>
                  <a:srgbClr val="9EADBD"/>
                </a:solidFill>
                <a:latin typeface="Arial"/>
              </a:defRPr>
            </a:pPr>
            <a:r>
              <a:t>Identify high-burden communities</a:t>
            </a:r>
          </a:p>
          <a:p>
            <a:pPr algn="ctr">
              <a:lnSpc>
                <a:spcPts val="2800"/>
              </a:lnSpc>
              <a:spcBef>
                <a:spcPts val="0"/>
              </a:spcBef>
              <a:spcAft>
                <a:spcPts val="0"/>
              </a:spcAft>
              <a:defRPr sz="1800" b="0">
                <a:solidFill>
                  <a:srgbClr val="9EADBD"/>
                </a:solidFill>
                <a:latin typeface="Arial"/>
              </a:defRPr>
            </a:pPr>
            <a:r>
              <a:t>and provide actionable, evidence-</a:t>
            </a:r>
          </a:p>
          <a:p>
            <a:pPr algn="ctr">
              <a:lnSpc>
                <a:spcPts val="2800"/>
              </a:lnSpc>
              <a:spcBef>
                <a:spcPts val="0"/>
              </a:spcBef>
              <a:spcAft>
                <a:spcPts val="0"/>
              </a:spcAft>
              <a:defRPr sz="1800" b="0">
                <a:solidFill>
                  <a:srgbClr val="9EADBD"/>
                </a:solidFill>
                <a:latin typeface="Arial"/>
              </a:defRPr>
            </a:pPr>
            <a:r>
              <a:t>based recommendations.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TextBox 1"/>
          <p:cNvSpPr txBox="1"/>
          <p:nvPr/>
        </p:nvSpPr>
        <p:spPr>
          <a:xfrm>
            <a:off x="640080" y="274320"/>
            <a:ext cx="10972800" cy="548640"/>
          </a:xfrm>
          <a:prstGeom prst="rect">
            <a:avLst/>
          </a:prstGeom>
          <a:noFill/>
        </p:spPr>
        <p:txBody>
          <a:bodyPr wrap="square">
            <a:noAutofit/>
          </a:bodyPr>
          <a:lstStyle/>
          <a:p>
            <a:pPr algn="l">
              <a:spcBef>
                <a:spcPts val="0"/>
              </a:spcBef>
              <a:spcAft>
                <a:spcPts val="0"/>
              </a:spcAft>
              <a:defRPr sz="3800" b="1">
                <a:solidFill>
                  <a:srgbClr val="F0F3F7"/>
                </a:solidFill>
                <a:latin typeface="Arial"/>
              </a:defRPr>
            </a:pPr>
            <a:r>
              <a:t>The Burn Equity Index</a:t>
            </a:r>
          </a:p>
        </p:txBody>
      </p:sp>
      <p:sp>
        <p:nvSpPr>
          <p:cNvPr id="3" name="TextBox 2"/>
          <p:cNvSpPr txBox="1"/>
          <p:nvPr/>
        </p:nvSpPr>
        <p:spPr>
          <a:xfrm>
            <a:off x="640080" y="1097280"/>
            <a:ext cx="10972800" cy="640080"/>
          </a:xfrm>
          <a:prstGeom prst="rect">
            <a:avLst/>
          </a:prstGeom>
          <a:noFill/>
        </p:spPr>
        <p:txBody>
          <a:bodyPr wrap="square">
            <a:noAutofit/>
          </a:bodyPr>
          <a:lstStyle/>
          <a:p>
            <a:pPr algn="ctr">
              <a:spcBef>
                <a:spcPts val="0"/>
              </a:spcBef>
              <a:spcAft>
                <a:spcPts val="0"/>
              </a:spcAft>
              <a:defRPr sz="2800" b="1">
                <a:solidFill>
                  <a:srgbClr val="E69F00"/>
                </a:solidFill>
                <a:latin typeface="Consolas"/>
              </a:defRPr>
            </a:pPr>
            <a:r>
              <a:t>BEI  =  100  ×  ( 0.25·S  +  0.30·T  +  0.20·P  +  0.25·C )</a:t>
            </a:r>
          </a:p>
        </p:txBody>
      </p:sp>
      <p:sp>
        <p:nvSpPr>
          <p:cNvPr id="4" name="TextBox 3"/>
          <p:cNvSpPr txBox="1"/>
          <p:nvPr/>
        </p:nvSpPr>
        <p:spPr>
          <a:xfrm>
            <a:off x="640080" y="1828800"/>
            <a:ext cx="10972800" cy="365760"/>
          </a:xfrm>
          <a:prstGeom prst="rect">
            <a:avLst/>
          </a:prstGeom>
          <a:noFill/>
        </p:spPr>
        <p:txBody>
          <a:bodyPr wrap="square">
            <a:noAutofit/>
          </a:bodyPr>
          <a:lstStyle/>
          <a:p>
            <a:pPr algn="ctr">
              <a:spcBef>
                <a:spcPts val="0"/>
              </a:spcBef>
              <a:spcAft>
                <a:spcPts val="0"/>
              </a:spcAft>
              <a:defRPr sz="2000" b="0">
                <a:solidFill>
                  <a:srgbClr val="9EADBD"/>
                </a:solidFill>
                <a:latin typeface="Arial"/>
              </a:defRPr>
            </a:pPr>
            <a:r>
              <a:t>Four pillars -- each captures a distinct dimension of structural access.</a:t>
            </a:r>
          </a:p>
        </p:txBody>
      </p:sp>
      <p:sp>
        <p:nvSpPr>
          <p:cNvPr id="5" name="Rounded Rectangle 4"/>
          <p:cNvSpPr/>
          <p:nvPr/>
        </p:nvSpPr>
        <p:spPr>
          <a:xfrm>
            <a:off x="457200" y="2468880"/>
            <a:ext cx="2697480" cy="356616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468880"/>
            <a:ext cx="2697480" cy="548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371600" y="2697480"/>
            <a:ext cx="777240" cy="777240"/>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2761488"/>
            <a:ext cx="777240" cy="640080"/>
          </a:xfrm>
          <a:prstGeom prst="rect">
            <a:avLst/>
          </a:prstGeom>
          <a:noFill/>
        </p:spPr>
        <p:txBody>
          <a:bodyPr wrap="square">
            <a:noAutofit/>
          </a:bodyPr>
          <a:lstStyle/>
          <a:p>
            <a:pPr algn="ctr">
              <a:spcBef>
                <a:spcPts val="0"/>
              </a:spcBef>
              <a:spcAft>
                <a:spcPts val="0"/>
              </a:spcAft>
              <a:defRPr sz="3000" b="1">
                <a:solidFill>
                  <a:srgbClr val="121A27"/>
                </a:solidFill>
                <a:latin typeface="Arial"/>
              </a:defRPr>
            </a:pPr>
            <a:r>
              <a:t>S</a:t>
            </a:r>
          </a:p>
        </p:txBody>
      </p:sp>
      <p:sp>
        <p:nvSpPr>
          <p:cNvPr id="9" name="TextBox 8"/>
          <p:cNvSpPr txBox="1"/>
          <p:nvPr/>
        </p:nvSpPr>
        <p:spPr>
          <a:xfrm>
            <a:off x="640080" y="3657600"/>
            <a:ext cx="2331720" cy="777240"/>
          </a:xfrm>
          <a:prstGeom prst="rect">
            <a:avLst/>
          </a:prstGeom>
          <a:noFill/>
        </p:spPr>
        <p:txBody>
          <a:bodyPr wrap="square">
            <a:noAutofit/>
          </a:bodyPr>
          <a:lstStyle/>
          <a:p>
            <a:pPr algn="ctr">
              <a:lnSpc>
                <a:spcPts val="2800"/>
              </a:lnSpc>
              <a:spcBef>
                <a:spcPts val="0"/>
              </a:spcBef>
              <a:spcAft>
                <a:spcPts val="0"/>
              </a:spcAft>
              <a:defRPr sz="2200" b="1">
                <a:solidFill>
                  <a:srgbClr val="F0F3F7"/>
                </a:solidFill>
                <a:latin typeface="Arial"/>
              </a:defRPr>
            </a:pPr>
            <a:r>
              <a:t>Supply</a:t>
            </a:r>
          </a:p>
          <a:p>
            <a:pPr algn="ctr">
              <a:lnSpc>
                <a:spcPts val="2800"/>
              </a:lnSpc>
              <a:spcBef>
                <a:spcPts val="0"/>
              </a:spcBef>
              <a:spcAft>
                <a:spcPts val="0"/>
              </a:spcAft>
              <a:defRPr sz="2200" b="1">
                <a:solidFill>
                  <a:srgbClr val="F0F3F7"/>
                </a:solidFill>
                <a:latin typeface="Arial"/>
              </a:defRPr>
            </a:pPr>
            <a:r>
              <a:t>Scarcity</a:t>
            </a:r>
          </a:p>
        </p:txBody>
      </p:sp>
      <p:sp>
        <p:nvSpPr>
          <p:cNvPr id="10" name="TextBox 9"/>
          <p:cNvSpPr txBox="1"/>
          <p:nvPr/>
        </p:nvSpPr>
        <p:spPr>
          <a:xfrm>
            <a:off x="640080" y="4480560"/>
            <a:ext cx="2331720" cy="320040"/>
          </a:xfrm>
          <a:prstGeom prst="rect">
            <a:avLst/>
          </a:prstGeom>
          <a:noFill/>
        </p:spPr>
        <p:txBody>
          <a:bodyPr wrap="square">
            <a:noAutofit/>
          </a:bodyPr>
          <a:lstStyle/>
          <a:p>
            <a:pPr algn="ctr">
              <a:spcBef>
                <a:spcPts val="0"/>
              </a:spcBef>
              <a:spcAft>
                <a:spcPts val="0"/>
              </a:spcAft>
              <a:defRPr sz="1700" b="1">
                <a:solidFill>
                  <a:srgbClr val="E69F00"/>
                </a:solidFill>
                <a:latin typeface="Arial"/>
              </a:defRPr>
            </a:pPr>
            <a:r>
              <a:t>Weight: 25%</a:t>
            </a:r>
          </a:p>
        </p:txBody>
      </p:sp>
      <p:sp>
        <p:nvSpPr>
          <p:cNvPr id="11" name="TextBox 10"/>
          <p:cNvSpPr txBox="1"/>
          <p:nvPr/>
        </p:nvSpPr>
        <p:spPr>
          <a:xfrm>
            <a:off x="640080" y="4892040"/>
            <a:ext cx="2331720" cy="914400"/>
          </a:xfrm>
          <a:prstGeom prst="rect">
            <a:avLst/>
          </a:prstGeom>
          <a:noFill/>
        </p:spPr>
        <p:txBody>
          <a:bodyPr wrap="square">
            <a:noAutofit/>
          </a:bodyPr>
          <a:lstStyle/>
          <a:p>
            <a:pPr algn="ctr">
              <a:lnSpc>
                <a:spcPts val="2600"/>
              </a:lnSpc>
              <a:spcBef>
                <a:spcPts val="0"/>
              </a:spcBef>
              <a:spcAft>
                <a:spcPts val="0"/>
              </a:spcAft>
              <a:defRPr sz="1700" b="0">
                <a:solidFill>
                  <a:srgbClr val="9EADBD"/>
                </a:solidFill>
                <a:latin typeface="Arial"/>
              </a:defRPr>
            </a:pPr>
            <a:r>
              <a:t>How scarce is specialized</a:t>
            </a:r>
          </a:p>
          <a:p>
            <a:pPr algn="ctr">
              <a:lnSpc>
                <a:spcPts val="2600"/>
              </a:lnSpc>
              <a:spcBef>
                <a:spcPts val="0"/>
              </a:spcBef>
              <a:spcAft>
                <a:spcPts val="0"/>
              </a:spcAft>
              <a:defRPr sz="1700" b="0">
                <a:solidFill>
                  <a:srgbClr val="9EADBD"/>
                </a:solidFill>
                <a:latin typeface="Arial"/>
              </a:defRPr>
            </a:pPr>
            <a:r>
              <a:t>burn-care supply nearby?</a:t>
            </a:r>
          </a:p>
        </p:txBody>
      </p:sp>
      <p:sp>
        <p:nvSpPr>
          <p:cNvPr id="12" name="Rounded Rectangle 11"/>
          <p:cNvSpPr/>
          <p:nvPr/>
        </p:nvSpPr>
        <p:spPr>
          <a:xfrm>
            <a:off x="3337560" y="2468880"/>
            <a:ext cx="2697480" cy="356616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37560" y="2468880"/>
            <a:ext cx="2697480" cy="548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251960" y="2697480"/>
            <a:ext cx="777240" cy="777240"/>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51960" y="2761488"/>
            <a:ext cx="777240" cy="640080"/>
          </a:xfrm>
          <a:prstGeom prst="rect">
            <a:avLst/>
          </a:prstGeom>
          <a:noFill/>
        </p:spPr>
        <p:txBody>
          <a:bodyPr wrap="square">
            <a:noAutofit/>
          </a:bodyPr>
          <a:lstStyle/>
          <a:p>
            <a:pPr algn="ctr">
              <a:spcBef>
                <a:spcPts val="0"/>
              </a:spcBef>
              <a:spcAft>
                <a:spcPts val="0"/>
              </a:spcAft>
              <a:defRPr sz="3000" b="1">
                <a:solidFill>
                  <a:srgbClr val="121A27"/>
                </a:solidFill>
                <a:latin typeface="Arial"/>
              </a:defRPr>
            </a:pPr>
            <a:r>
              <a:t>T</a:t>
            </a:r>
          </a:p>
        </p:txBody>
      </p:sp>
      <p:sp>
        <p:nvSpPr>
          <p:cNvPr id="16" name="TextBox 15"/>
          <p:cNvSpPr txBox="1"/>
          <p:nvPr/>
        </p:nvSpPr>
        <p:spPr>
          <a:xfrm>
            <a:off x="3520440" y="3657600"/>
            <a:ext cx="2331720" cy="777240"/>
          </a:xfrm>
          <a:prstGeom prst="rect">
            <a:avLst/>
          </a:prstGeom>
          <a:noFill/>
        </p:spPr>
        <p:txBody>
          <a:bodyPr wrap="square">
            <a:noAutofit/>
          </a:bodyPr>
          <a:lstStyle/>
          <a:p>
            <a:pPr algn="ctr">
              <a:lnSpc>
                <a:spcPts val="2800"/>
              </a:lnSpc>
              <a:spcBef>
                <a:spcPts val="0"/>
              </a:spcBef>
              <a:spcAft>
                <a:spcPts val="0"/>
              </a:spcAft>
              <a:defRPr sz="2200" b="1">
                <a:solidFill>
                  <a:srgbClr val="F0F3F7"/>
                </a:solidFill>
                <a:latin typeface="Arial"/>
              </a:defRPr>
            </a:pPr>
            <a:r>
              <a:t>Timely</a:t>
            </a:r>
          </a:p>
          <a:p>
            <a:pPr algn="ctr">
              <a:lnSpc>
                <a:spcPts val="2800"/>
              </a:lnSpc>
              <a:spcBef>
                <a:spcPts val="0"/>
              </a:spcBef>
              <a:spcAft>
                <a:spcPts val="0"/>
              </a:spcAft>
              <a:defRPr sz="2200" b="1">
                <a:solidFill>
                  <a:srgbClr val="F0F3F7"/>
                </a:solidFill>
                <a:latin typeface="Arial"/>
              </a:defRPr>
            </a:pPr>
            <a:r>
              <a:t>Access</a:t>
            </a:r>
          </a:p>
        </p:txBody>
      </p:sp>
      <p:sp>
        <p:nvSpPr>
          <p:cNvPr id="17" name="TextBox 16"/>
          <p:cNvSpPr txBox="1"/>
          <p:nvPr/>
        </p:nvSpPr>
        <p:spPr>
          <a:xfrm>
            <a:off x="3520440" y="4480560"/>
            <a:ext cx="2331720" cy="320040"/>
          </a:xfrm>
          <a:prstGeom prst="rect">
            <a:avLst/>
          </a:prstGeom>
          <a:noFill/>
        </p:spPr>
        <p:txBody>
          <a:bodyPr wrap="square">
            <a:noAutofit/>
          </a:bodyPr>
          <a:lstStyle/>
          <a:p>
            <a:pPr algn="ctr">
              <a:spcBef>
                <a:spcPts val="0"/>
              </a:spcBef>
              <a:spcAft>
                <a:spcPts val="0"/>
              </a:spcAft>
              <a:defRPr sz="1700" b="1">
                <a:solidFill>
                  <a:srgbClr val="D55E00"/>
                </a:solidFill>
                <a:latin typeface="Arial"/>
              </a:defRPr>
            </a:pPr>
            <a:r>
              <a:t>Weight: 30%</a:t>
            </a:r>
          </a:p>
        </p:txBody>
      </p:sp>
      <p:sp>
        <p:nvSpPr>
          <p:cNvPr id="18" name="TextBox 17"/>
          <p:cNvSpPr txBox="1"/>
          <p:nvPr/>
        </p:nvSpPr>
        <p:spPr>
          <a:xfrm>
            <a:off x="3520440" y="4892040"/>
            <a:ext cx="2331720" cy="914400"/>
          </a:xfrm>
          <a:prstGeom prst="rect">
            <a:avLst/>
          </a:prstGeom>
          <a:noFill/>
        </p:spPr>
        <p:txBody>
          <a:bodyPr wrap="square">
            <a:noAutofit/>
          </a:bodyPr>
          <a:lstStyle/>
          <a:p>
            <a:pPr algn="ctr">
              <a:lnSpc>
                <a:spcPts val="2600"/>
              </a:lnSpc>
              <a:spcBef>
                <a:spcPts val="0"/>
              </a:spcBef>
              <a:spcAft>
                <a:spcPts val="0"/>
              </a:spcAft>
              <a:defRPr sz="1700" b="0">
                <a:solidFill>
                  <a:srgbClr val="9EADBD"/>
                </a:solidFill>
                <a:latin typeface="Arial"/>
              </a:defRPr>
            </a:pPr>
            <a:r>
              <a:t>How long to reach</a:t>
            </a:r>
          </a:p>
          <a:p>
            <a:pPr algn="ctr">
              <a:lnSpc>
                <a:spcPts val="2600"/>
              </a:lnSpc>
              <a:spcBef>
                <a:spcPts val="0"/>
              </a:spcBef>
              <a:spcAft>
                <a:spcPts val="0"/>
              </a:spcAft>
              <a:defRPr sz="1700" b="0">
                <a:solidFill>
                  <a:srgbClr val="9EADBD"/>
                </a:solidFill>
                <a:latin typeface="Arial"/>
              </a:defRPr>
            </a:pPr>
            <a:r>
              <a:t>definitive burn care?</a:t>
            </a:r>
          </a:p>
        </p:txBody>
      </p:sp>
      <p:sp>
        <p:nvSpPr>
          <p:cNvPr id="19" name="Rounded Rectangle 18"/>
          <p:cNvSpPr/>
          <p:nvPr/>
        </p:nvSpPr>
        <p:spPr>
          <a:xfrm>
            <a:off x="6217920" y="2468880"/>
            <a:ext cx="2697480" cy="356616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2468880"/>
            <a:ext cx="2697480" cy="548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2320" y="2697480"/>
            <a:ext cx="777240" cy="777240"/>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0" y="2761488"/>
            <a:ext cx="777240" cy="640080"/>
          </a:xfrm>
          <a:prstGeom prst="rect">
            <a:avLst/>
          </a:prstGeom>
          <a:noFill/>
        </p:spPr>
        <p:txBody>
          <a:bodyPr wrap="square">
            <a:noAutofit/>
          </a:bodyPr>
          <a:lstStyle/>
          <a:p>
            <a:pPr algn="ctr">
              <a:spcBef>
                <a:spcPts val="0"/>
              </a:spcBef>
              <a:spcAft>
                <a:spcPts val="0"/>
              </a:spcAft>
              <a:defRPr sz="3000" b="1">
                <a:solidFill>
                  <a:srgbClr val="121A27"/>
                </a:solidFill>
                <a:latin typeface="Arial"/>
              </a:defRPr>
            </a:pPr>
            <a:r>
              <a:t>P</a:t>
            </a:r>
          </a:p>
        </p:txBody>
      </p:sp>
      <p:sp>
        <p:nvSpPr>
          <p:cNvPr id="23" name="TextBox 22"/>
          <p:cNvSpPr txBox="1"/>
          <p:nvPr/>
        </p:nvSpPr>
        <p:spPr>
          <a:xfrm>
            <a:off x="6400800" y="3657600"/>
            <a:ext cx="2331720" cy="777240"/>
          </a:xfrm>
          <a:prstGeom prst="rect">
            <a:avLst/>
          </a:prstGeom>
          <a:noFill/>
        </p:spPr>
        <p:txBody>
          <a:bodyPr wrap="square">
            <a:noAutofit/>
          </a:bodyPr>
          <a:lstStyle/>
          <a:p>
            <a:pPr algn="ctr">
              <a:lnSpc>
                <a:spcPts val="2800"/>
              </a:lnSpc>
              <a:spcBef>
                <a:spcPts val="0"/>
              </a:spcBef>
              <a:spcAft>
                <a:spcPts val="0"/>
              </a:spcAft>
              <a:defRPr sz="2200" b="1">
                <a:solidFill>
                  <a:srgbClr val="F0F3F7"/>
                </a:solidFill>
                <a:latin typeface="Arial"/>
              </a:defRPr>
            </a:pPr>
            <a:r>
              <a:t>Pediatric</a:t>
            </a:r>
          </a:p>
          <a:p>
            <a:pPr algn="ctr">
              <a:lnSpc>
                <a:spcPts val="2800"/>
              </a:lnSpc>
              <a:spcBef>
                <a:spcPts val="0"/>
              </a:spcBef>
              <a:spcAft>
                <a:spcPts val="0"/>
              </a:spcAft>
              <a:defRPr sz="2200" b="1">
                <a:solidFill>
                  <a:srgbClr val="F0F3F7"/>
                </a:solidFill>
                <a:latin typeface="Arial"/>
              </a:defRPr>
            </a:pPr>
            <a:r>
              <a:t>Access</a:t>
            </a:r>
          </a:p>
        </p:txBody>
      </p:sp>
      <p:sp>
        <p:nvSpPr>
          <p:cNvPr id="24" name="TextBox 23"/>
          <p:cNvSpPr txBox="1"/>
          <p:nvPr/>
        </p:nvSpPr>
        <p:spPr>
          <a:xfrm>
            <a:off x="6400800" y="4480560"/>
            <a:ext cx="2331720" cy="320040"/>
          </a:xfrm>
          <a:prstGeom prst="rect">
            <a:avLst/>
          </a:prstGeom>
          <a:noFill/>
        </p:spPr>
        <p:txBody>
          <a:bodyPr wrap="square">
            <a:noAutofit/>
          </a:bodyPr>
          <a:lstStyle/>
          <a:p>
            <a:pPr algn="ctr">
              <a:spcBef>
                <a:spcPts val="0"/>
              </a:spcBef>
              <a:spcAft>
                <a:spcPts val="0"/>
              </a:spcAft>
              <a:defRPr sz="1700" b="1">
                <a:solidFill>
                  <a:srgbClr val="009E73"/>
                </a:solidFill>
                <a:latin typeface="Arial"/>
              </a:defRPr>
            </a:pPr>
            <a:r>
              <a:t>Weight: 20%</a:t>
            </a:r>
          </a:p>
        </p:txBody>
      </p:sp>
      <p:sp>
        <p:nvSpPr>
          <p:cNvPr id="25" name="TextBox 24"/>
          <p:cNvSpPr txBox="1"/>
          <p:nvPr/>
        </p:nvSpPr>
        <p:spPr>
          <a:xfrm>
            <a:off x="6400800" y="4892040"/>
            <a:ext cx="2331720" cy="914400"/>
          </a:xfrm>
          <a:prstGeom prst="rect">
            <a:avLst/>
          </a:prstGeom>
          <a:noFill/>
        </p:spPr>
        <p:txBody>
          <a:bodyPr wrap="square">
            <a:noAutofit/>
          </a:bodyPr>
          <a:lstStyle/>
          <a:p>
            <a:pPr algn="ctr">
              <a:lnSpc>
                <a:spcPts val="2600"/>
              </a:lnSpc>
              <a:spcBef>
                <a:spcPts val="0"/>
              </a:spcBef>
              <a:spcAft>
                <a:spcPts val="0"/>
              </a:spcAft>
              <a:defRPr sz="1700" b="0">
                <a:solidFill>
                  <a:srgbClr val="9EADBD"/>
                </a:solidFill>
                <a:latin typeface="Arial"/>
              </a:defRPr>
            </a:pPr>
            <a:r>
              <a:t>Can children reach</a:t>
            </a:r>
          </a:p>
          <a:p>
            <a:pPr algn="ctr">
              <a:lnSpc>
                <a:spcPts val="2600"/>
              </a:lnSpc>
              <a:spcBef>
                <a:spcPts val="0"/>
              </a:spcBef>
              <a:spcAft>
                <a:spcPts val="0"/>
              </a:spcAft>
              <a:defRPr sz="1700" b="0">
                <a:solidFill>
                  <a:srgbClr val="9EADBD"/>
                </a:solidFill>
                <a:latin typeface="Arial"/>
              </a:defRPr>
            </a:pPr>
            <a:r>
              <a:t>pediatric burn care?</a:t>
            </a:r>
          </a:p>
        </p:txBody>
      </p:sp>
      <p:sp>
        <p:nvSpPr>
          <p:cNvPr id="26" name="Rounded Rectangle 25"/>
          <p:cNvSpPr/>
          <p:nvPr/>
        </p:nvSpPr>
        <p:spPr>
          <a:xfrm>
            <a:off x="9098280" y="2468880"/>
            <a:ext cx="2697480" cy="356616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98280" y="2468880"/>
            <a:ext cx="2697480" cy="54864"/>
          </a:xfrm>
          <a:prstGeom prst="rect">
            <a:avLst/>
          </a:prstGeom>
          <a:solidFill>
            <a:srgbClr val="56B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012680" y="2697480"/>
            <a:ext cx="777240" cy="777240"/>
          </a:xfrm>
          <a:prstGeom prst="ellipse">
            <a:avLst/>
          </a:prstGeom>
          <a:solidFill>
            <a:srgbClr val="56B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12680" y="2761488"/>
            <a:ext cx="777240" cy="640080"/>
          </a:xfrm>
          <a:prstGeom prst="rect">
            <a:avLst/>
          </a:prstGeom>
          <a:noFill/>
        </p:spPr>
        <p:txBody>
          <a:bodyPr wrap="square">
            <a:noAutofit/>
          </a:bodyPr>
          <a:lstStyle/>
          <a:p>
            <a:pPr algn="ctr">
              <a:spcBef>
                <a:spcPts val="0"/>
              </a:spcBef>
              <a:spcAft>
                <a:spcPts val="0"/>
              </a:spcAft>
              <a:defRPr sz="3000" b="1">
                <a:solidFill>
                  <a:srgbClr val="121A27"/>
                </a:solidFill>
                <a:latin typeface="Arial"/>
              </a:defRPr>
            </a:pPr>
            <a:r>
              <a:t>C</a:t>
            </a:r>
          </a:p>
        </p:txBody>
      </p:sp>
      <p:sp>
        <p:nvSpPr>
          <p:cNvPr id="30" name="TextBox 29"/>
          <p:cNvSpPr txBox="1"/>
          <p:nvPr/>
        </p:nvSpPr>
        <p:spPr>
          <a:xfrm>
            <a:off x="9281160" y="3657600"/>
            <a:ext cx="2331720" cy="777240"/>
          </a:xfrm>
          <a:prstGeom prst="rect">
            <a:avLst/>
          </a:prstGeom>
          <a:noFill/>
        </p:spPr>
        <p:txBody>
          <a:bodyPr wrap="square">
            <a:noAutofit/>
          </a:bodyPr>
          <a:lstStyle/>
          <a:p>
            <a:pPr algn="ctr">
              <a:lnSpc>
                <a:spcPts val="2800"/>
              </a:lnSpc>
              <a:spcBef>
                <a:spcPts val="0"/>
              </a:spcBef>
              <a:spcAft>
                <a:spcPts val="0"/>
              </a:spcAft>
              <a:defRPr sz="2200" b="1">
                <a:solidFill>
                  <a:srgbClr val="F0F3F7"/>
                </a:solidFill>
                <a:latin typeface="Arial"/>
              </a:defRPr>
            </a:pPr>
            <a:r>
              <a:t>Capacity</a:t>
            </a:r>
          </a:p>
          <a:p>
            <a:pPr algn="ctr">
              <a:lnSpc>
                <a:spcPts val="2800"/>
              </a:lnSpc>
              <a:spcBef>
                <a:spcPts val="0"/>
              </a:spcBef>
              <a:spcAft>
                <a:spcPts val="0"/>
              </a:spcAft>
              <a:defRPr sz="2200" b="1">
                <a:solidFill>
                  <a:srgbClr val="F0F3F7"/>
                </a:solidFill>
                <a:latin typeface="Arial"/>
              </a:defRPr>
            </a:pPr>
            <a:r>
              <a:t>Gap</a:t>
            </a:r>
          </a:p>
        </p:txBody>
      </p:sp>
      <p:sp>
        <p:nvSpPr>
          <p:cNvPr id="31" name="TextBox 30"/>
          <p:cNvSpPr txBox="1"/>
          <p:nvPr/>
        </p:nvSpPr>
        <p:spPr>
          <a:xfrm>
            <a:off x="9281160" y="4480560"/>
            <a:ext cx="2331720" cy="320040"/>
          </a:xfrm>
          <a:prstGeom prst="rect">
            <a:avLst/>
          </a:prstGeom>
          <a:noFill/>
        </p:spPr>
        <p:txBody>
          <a:bodyPr wrap="square">
            <a:noAutofit/>
          </a:bodyPr>
          <a:lstStyle/>
          <a:p>
            <a:pPr algn="ctr">
              <a:spcBef>
                <a:spcPts val="0"/>
              </a:spcBef>
              <a:spcAft>
                <a:spcPts val="0"/>
              </a:spcAft>
              <a:defRPr sz="1700" b="1">
                <a:solidFill>
                  <a:srgbClr val="56B4E9"/>
                </a:solidFill>
                <a:latin typeface="Arial"/>
              </a:defRPr>
            </a:pPr>
            <a:r>
              <a:t>Weight: 25%</a:t>
            </a:r>
          </a:p>
        </p:txBody>
      </p:sp>
      <p:sp>
        <p:nvSpPr>
          <p:cNvPr id="32" name="TextBox 31"/>
          <p:cNvSpPr txBox="1"/>
          <p:nvPr/>
        </p:nvSpPr>
        <p:spPr>
          <a:xfrm>
            <a:off x="9281160" y="4892040"/>
            <a:ext cx="2331720" cy="914400"/>
          </a:xfrm>
          <a:prstGeom prst="rect">
            <a:avLst/>
          </a:prstGeom>
          <a:noFill/>
        </p:spPr>
        <p:txBody>
          <a:bodyPr wrap="square">
            <a:noAutofit/>
          </a:bodyPr>
          <a:lstStyle/>
          <a:p>
            <a:pPr algn="ctr">
              <a:lnSpc>
                <a:spcPts val="2600"/>
              </a:lnSpc>
              <a:spcBef>
                <a:spcPts val="0"/>
              </a:spcBef>
              <a:spcAft>
                <a:spcPts val="0"/>
              </a:spcAft>
              <a:defRPr sz="1700" b="0">
                <a:solidFill>
                  <a:srgbClr val="9EADBD"/>
                </a:solidFill>
                <a:latin typeface="Arial"/>
              </a:defRPr>
            </a:pPr>
            <a:r>
              <a:t>Are there enough</a:t>
            </a:r>
          </a:p>
          <a:p>
            <a:pPr algn="ctr">
              <a:lnSpc>
                <a:spcPts val="2600"/>
              </a:lnSpc>
              <a:spcBef>
                <a:spcPts val="0"/>
              </a:spcBef>
              <a:spcAft>
                <a:spcPts val="0"/>
              </a:spcAft>
              <a:defRPr sz="1700" b="0">
                <a:solidFill>
                  <a:srgbClr val="9EADBD"/>
                </a:solidFill>
                <a:latin typeface="Arial"/>
              </a:defRPr>
            </a:pPr>
            <a:r>
              <a:t>burn beds nearby?</a:t>
            </a:r>
          </a:p>
        </p:txBody>
      </p:sp>
      <p:sp>
        <p:nvSpPr>
          <p:cNvPr id="33" name="TextBox 32"/>
          <p:cNvSpPr txBox="1"/>
          <p:nvPr/>
        </p:nvSpPr>
        <p:spPr>
          <a:xfrm>
            <a:off x="1371600" y="6217920"/>
            <a:ext cx="2743200" cy="274320"/>
          </a:xfrm>
          <a:prstGeom prst="rect">
            <a:avLst/>
          </a:prstGeom>
          <a:noFill/>
        </p:spPr>
        <p:txBody>
          <a:bodyPr wrap="square">
            <a:noAutofit/>
          </a:bodyPr>
          <a:lstStyle/>
          <a:p>
            <a:pPr algn="l">
              <a:spcBef>
                <a:spcPts val="0"/>
              </a:spcBef>
              <a:spcAft>
                <a:spcPts val="0"/>
              </a:spcAft>
              <a:defRPr sz="1700" b="1">
                <a:solidFill>
                  <a:srgbClr val="009E73"/>
                </a:solidFill>
                <a:latin typeface="Arial"/>
              </a:defRPr>
            </a:pPr>
            <a:r>
              <a:t>0 = Best Access</a:t>
            </a:r>
          </a:p>
        </p:txBody>
      </p:sp>
      <p:sp>
        <p:nvSpPr>
          <p:cNvPr id="34" name="TextBox 33"/>
          <p:cNvSpPr txBox="1"/>
          <p:nvPr/>
        </p:nvSpPr>
        <p:spPr>
          <a:xfrm>
            <a:off x="8686800" y="6217920"/>
            <a:ext cx="2743200" cy="274320"/>
          </a:xfrm>
          <a:prstGeom prst="rect">
            <a:avLst/>
          </a:prstGeom>
          <a:noFill/>
        </p:spPr>
        <p:txBody>
          <a:bodyPr wrap="square">
            <a:noAutofit/>
          </a:bodyPr>
          <a:lstStyle/>
          <a:p>
            <a:pPr algn="r">
              <a:spcBef>
                <a:spcPts val="0"/>
              </a:spcBef>
              <a:spcAft>
                <a:spcPts val="0"/>
              </a:spcAft>
              <a:defRPr sz="1700" b="1">
                <a:solidFill>
                  <a:srgbClr val="D55E00"/>
                </a:solidFill>
                <a:latin typeface="Arial"/>
              </a:defRPr>
            </a:pPr>
            <a:r>
              <a:t>100 = Worst Access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914400" cy="548640"/>
          </a:xfrm>
          <a:prstGeom prst="rect">
            <a:avLst/>
          </a:prstGeom>
          <a:noFill/>
        </p:spPr>
        <p:txBody>
          <a:bodyPr wrap="square">
            <a:noAutofit/>
          </a:bodyPr>
          <a:lstStyle/>
          <a:p>
            <a:pPr algn="l">
              <a:spcBef>
                <a:spcPts val="0"/>
              </a:spcBef>
              <a:spcAft>
                <a:spcPts val="0"/>
              </a:spcAft>
              <a:defRPr sz="3400" b="1">
                <a:solidFill>
                  <a:srgbClr val="E69F00"/>
                </a:solidFill>
                <a:latin typeface="Arial"/>
              </a:defRPr>
            </a:pPr>
            <a:r>
              <a:t>S</a:t>
            </a:r>
          </a:p>
        </p:txBody>
      </p:sp>
      <p:sp>
        <p:nvSpPr>
          <p:cNvPr id="4" name="TextBox 3"/>
          <p:cNvSpPr txBox="1"/>
          <p:nvPr/>
        </p:nvSpPr>
        <p:spPr>
          <a:xfrm>
            <a:off x="1463040" y="274320"/>
            <a:ext cx="9144000" cy="548640"/>
          </a:xfrm>
          <a:prstGeom prst="rect">
            <a:avLst/>
          </a:prstGeom>
          <a:noFill/>
        </p:spPr>
        <p:txBody>
          <a:bodyPr wrap="square">
            <a:noAutofit/>
          </a:bodyPr>
          <a:lstStyle/>
          <a:p>
            <a:pPr algn="l">
              <a:spcBef>
                <a:spcPts val="0"/>
              </a:spcBef>
              <a:spcAft>
                <a:spcPts val="0"/>
              </a:spcAft>
              <a:defRPr sz="3400" b="1">
                <a:solidFill>
                  <a:srgbClr val="F0F3F7"/>
                </a:solidFill>
                <a:latin typeface="Arial"/>
              </a:defRPr>
            </a:pPr>
            <a:r>
              <a:t>Specialized Supply Scarcity  (25%)</a:t>
            </a:r>
          </a:p>
        </p:txBody>
      </p:sp>
      <p:sp>
        <p:nvSpPr>
          <p:cNvPr id="5" name="TextBox 4"/>
          <p:cNvSpPr txBox="1"/>
          <p:nvPr/>
        </p:nvSpPr>
        <p:spPr>
          <a:xfrm>
            <a:off x="640080" y="1005840"/>
            <a:ext cx="10515600" cy="457200"/>
          </a:xfrm>
          <a:prstGeom prst="rect">
            <a:avLst/>
          </a:prstGeom>
          <a:noFill/>
        </p:spPr>
        <p:txBody>
          <a:bodyPr wrap="square">
            <a:noAutofit/>
          </a:bodyPr>
          <a:lstStyle/>
          <a:p>
            <a:pPr algn="l">
              <a:spcBef>
                <a:spcPts val="0"/>
              </a:spcBef>
              <a:spcAft>
                <a:spcPts val="0"/>
              </a:spcAft>
              <a:defRPr sz="2200" b="0">
                <a:solidFill>
                  <a:srgbClr val="9EADBD"/>
                </a:solidFill>
                <a:latin typeface="Arial"/>
              </a:defRPr>
            </a:pPr>
            <a:r>
              <a:t>How scarce is specialized burn-care supply around each community?</a:t>
            </a:r>
          </a:p>
        </p:txBody>
      </p:sp>
      <p:sp>
        <p:nvSpPr>
          <p:cNvPr id="6" name="TextBox 5"/>
          <p:cNvSpPr txBox="1"/>
          <p:nvPr/>
        </p:nvSpPr>
        <p:spPr>
          <a:xfrm>
            <a:off x="640080" y="1645920"/>
            <a:ext cx="5486400" cy="365760"/>
          </a:xfrm>
          <a:prstGeom prst="rect">
            <a:avLst/>
          </a:prstGeom>
          <a:noFill/>
        </p:spPr>
        <p:txBody>
          <a:bodyPr wrap="square">
            <a:noAutofit/>
          </a:bodyPr>
          <a:lstStyle/>
          <a:p>
            <a:pPr algn="l">
              <a:spcBef>
                <a:spcPts val="0"/>
              </a:spcBef>
              <a:spcAft>
                <a:spcPts val="0"/>
              </a:spcAft>
              <a:defRPr sz="2200" b="1">
                <a:solidFill>
                  <a:srgbClr val="E69F00"/>
                </a:solidFill>
                <a:latin typeface="Arial"/>
              </a:defRPr>
            </a:pPr>
            <a:r>
              <a:t>Facility Capability Weights</a:t>
            </a:r>
          </a:p>
        </p:txBody>
      </p:sp>
      <p:sp>
        <p:nvSpPr>
          <p:cNvPr id="7" name="TextBox 6"/>
          <p:cNvSpPr txBox="1"/>
          <p:nvPr/>
        </p:nvSpPr>
        <p:spPr>
          <a:xfrm>
            <a:off x="914400" y="2103120"/>
            <a:ext cx="4572000" cy="365760"/>
          </a:xfrm>
          <a:prstGeom prst="rect">
            <a:avLst/>
          </a:prstGeom>
          <a:noFill/>
        </p:spPr>
        <p:txBody>
          <a:bodyPr wrap="square">
            <a:noAutofit/>
          </a:bodyPr>
          <a:lstStyle/>
          <a:p>
            <a:pPr algn="l">
              <a:spcBef>
                <a:spcPts val="0"/>
              </a:spcBef>
              <a:spcAft>
                <a:spcPts val="0"/>
              </a:spcAft>
              <a:defRPr sz="1800" b="0">
                <a:solidFill>
                  <a:srgbClr val="F0F3F7"/>
                </a:solidFill>
                <a:latin typeface="Arial"/>
              </a:defRPr>
            </a:pPr>
            <a:r>
              <a:t>ABA-Verified Burn Center</a:t>
            </a:r>
          </a:p>
        </p:txBody>
      </p:sp>
      <p:sp>
        <p:nvSpPr>
          <p:cNvPr id="8" name="TextBox 7"/>
          <p:cNvSpPr txBox="1"/>
          <p:nvPr/>
        </p:nvSpPr>
        <p:spPr>
          <a:xfrm>
            <a:off x="5029200" y="2103120"/>
            <a:ext cx="1097280" cy="365760"/>
          </a:xfrm>
          <a:prstGeom prst="rect">
            <a:avLst/>
          </a:prstGeom>
          <a:noFill/>
        </p:spPr>
        <p:txBody>
          <a:bodyPr wrap="square">
            <a:noAutofit/>
          </a:bodyPr>
          <a:lstStyle/>
          <a:p>
            <a:pPr algn="r">
              <a:spcBef>
                <a:spcPts val="0"/>
              </a:spcBef>
              <a:spcAft>
                <a:spcPts val="0"/>
              </a:spcAft>
              <a:defRPr sz="1800" b="1">
                <a:solidFill>
                  <a:srgbClr val="009E73"/>
                </a:solidFill>
                <a:latin typeface="Arial"/>
              </a:defRPr>
            </a:pPr>
            <a:r>
              <a:t>1.00</a:t>
            </a:r>
          </a:p>
        </p:txBody>
      </p:sp>
      <p:sp>
        <p:nvSpPr>
          <p:cNvPr id="9" name="TextBox 8"/>
          <p:cNvSpPr txBox="1"/>
          <p:nvPr/>
        </p:nvSpPr>
        <p:spPr>
          <a:xfrm>
            <a:off x="914400" y="2560320"/>
            <a:ext cx="4572000" cy="365760"/>
          </a:xfrm>
          <a:prstGeom prst="rect">
            <a:avLst/>
          </a:prstGeom>
          <a:noFill/>
        </p:spPr>
        <p:txBody>
          <a:bodyPr wrap="square">
            <a:noAutofit/>
          </a:bodyPr>
          <a:lstStyle/>
          <a:p>
            <a:pPr algn="l">
              <a:spcBef>
                <a:spcPts val="0"/>
              </a:spcBef>
              <a:spcAft>
                <a:spcPts val="0"/>
              </a:spcAft>
              <a:defRPr sz="1800" b="0">
                <a:solidFill>
                  <a:srgbClr val="F0F3F7"/>
                </a:solidFill>
                <a:latin typeface="Arial"/>
              </a:defRPr>
            </a:pPr>
            <a:r>
              <a:t>State-Designated Burn Center</a:t>
            </a:r>
          </a:p>
        </p:txBody>
      </p:sp>
      <p:sp>
        <p:nvSpPr>
          <p:cNvPr id="10" name="TextBox 9"/>
          <p:cNvSpPr txBox="1"/>
          <p:nvPr/>
        </p:nvSpPr>
        <p:spPr>
          <a:xfrm>
            <a:off x="5029200" y="2560320"/>
            <a:ext cx="1097280" cy="365760"/>
          </a:xfrm>
          <a:prstGeom prst="rect">
            <a:avLst/>
          </a:prstGeom>
          <a:noFill/>
        </p:spPr>
        <p:txBody>
          <a:bodyPr wrap="square">
            <a:noAutofit/>
          </a:bodyPr>
          <a:lstStyle/>
          <a:p>
            <a:pPr algn="r">
              <a:spcBef>
                <a:spcPts val="0"/>
              </a:spcBef>
              <a:spcAft>
                <a:spcPts val="0"/>
              </a:spcAft>
              <a:defRPr sz="1800" b="1">
                <a:solidFill>
                  <a:srgbClr val="56B4E9"/>
                </a:solidFill>
                <a:latin typeface="Arial"/>
              </a:defRPr>
            </a:pPr>
            <a:r>
              <a:t>0.85</a:t>
            </a:r>
          </a:p>
        </p:txBody>
      </p:sp>
      <p:sp>
        <p:nvSpPr>
          <p:cNvPr id="11" name="TextBox 10"/>
          <p:cNvSpPr txBox="1"/>
          <p:nvPr/>
        </p:nvSpPr>
        <p:spPr>
          <a:xfrm>
            <a:off x="914400" y="3017520"/>
            <a:ext cx="4572000" cy="365760"/>
          </a:xfrm>
          <a:prstGeom prst="rect">
            <a:avLst/>
          </a:prstGeom>
          <a:noFill/>
        </p:spPr>
        <p:txBody>
          <a:bodyPr wrap="square">
            <a:noAutofit/>
          </a:bodyPr>
          <a:lstStyle/>
          <a:p>
            <a:pPr algn="l">
              <a:spcBef>
                <a:spcPts val="0"/>
              </a:spcBef>
              <a:spcAft>
                <a:spcPts val="0"/>
              </a:spcAft>
              <a:defRPr sz="1800" b="0">
                <a:solidFill>
                  <a:srgbClr val="F0F3F7"/>
                </a:solidFill>
                <a:latin typeface="Arial"/>
              </a:defRPr>
            </a:pPr>
            <a:r>
              <a:t>Burn-Capable (Non-Verified)</a:t>
            </a:r>
          </a:p>
        </p:txBody>
      </p:sp>
      <p:sp>
        <p:nvSpPr>
          <p:cNvPr id="12" name="TextBox 11"/>
          <p:cNvSpPr txBox="1"/>
          <p:nvPr/>
        </p:nvSpPr>
        <p:spPr>
          <a:xfrm>
            <a:off x="5029200" y="3017520"/>
            <a:ext cx="1097280" cy="365760"/>
          </a:xfrm>
          <a:prstGeom prst="rect">
            <a:avLst/>
          </a:prstGeom>
          <a:noFill/>
        </p:spPr>
        <p:txBody>
          <a:bodyPr wrap="square">
            <a:noAutofit/>
          </a:bodyPr>
          <a:lstStyle/>
          <a:p>
            <a:pPr algn="r">
              <a:spcBef>
                <a:spcPts val="0"/>
              </a:spcBef>
              <a:spcAft>
                <a:spcPts val="0"/>
              </a:spcAft>
              <a:defRPr sz="1800" b="1">
                <a:solidFill>
                  <a:srgbClr val="E69F00"/>
                </a:solidFill>
                <a:latin typeface="Arial"/>
              </a:defRPr>
            </a:pPr>
            <a:r>
              <a:t>0.50</a:t>
            </a:r>
          </a:p>
        </p:txBody>
      </p:sp>
      <p:sp>
        <p:nvSpPr>
          <p:cNvPr id="13" name="TextBox 12"/>
          <p:cNvSpPr txBox="1"/>
          <p:nvPr/>
        </p:nvSpPr>
        <p:spPr>
          <a:xfrm>
            <a:off x="914400" y="3474720"/>
            <a:ext cx="4572000" cy="365760"/>
          </a:xfrm>
          <a:prstGeom prst="rect">
            <a:avLst/>
          </a:prstGeom>
          <a:noFill/>
        </p:spPr>
        <p:txBody>
          <a:bodyPr wrap="square">
            <a:noAutofit/>
          </a:bodyPr>
          <a:lstStyle/>
          <a:p>
            <a:pPr algn="l">
              <a:spcBef>
                <a:spcPts val="0"/>
              </a:spcBef>
              <a:spcAft>
                <a:spcPts val="0"/>
              </a:spcAft>
              <a:defRPr sz="1800" b="0">
                <a:solidFill>
                  <a:srgbClr val="F0F3F7"/>
                </a:solidFill>
                <a:latin typeface="Arial"/>
              </a:defRPr>
            </a:pPr>
            <a:r>
              <a:t>Trauma-Only Stabilization</a:t>
            </a:r>
          </a:p>
        </p:txBody>
      </p:sp>
      <p:sp>
        <p:nvSpPr>
          <p:cNvPr id="14" name="TextBox 13"/>
          <p:cNvSpPr txBox="1"/>
          <p:nvPr/>
        </p:nvSpPr>
        <p:spPr>
          <a:xfrm>
            <a:off x="5029200" y="3474720"/>
            <a:ext cx="1097280" cy="365760"/>
          </a:xfrm>
          <a:prstGeom prst="rect">
            <a:avLst/>
          </a:prstGeom>
          <a:noFill/>
        </p:spPr>
        <p:txBody>
          <a:bodyPr wrap="square">
            <a:noAutofit/>
          </a:bodyPr>
          <a:lstStyle/>
          <a:p>
            <a:pPr algn="r">
              <a:spcBef>
                <a:spcPts val="0"/>
              </a:spcBef>
              <a:spcAft>
                <a:spcPts val="0"/>
              </a:spcAft>
              <a:defRPr sz="1800" b="1">
                <a:solidFill>
                  <a:srgbClr val="9EADBD"/>
                </a:solidFill>
                <a:latin typeface="Arial"/>
              </a:defRPr>
            </a:pPr>
            <a:r>
              <a:t>0.20</a:t>
            </a:r>
          </a:p>
        </p:txBody>
      </p:sp>
      <p:sp>
        <p:nvSpPr>
          <p:cNvPr id="15" name="Rounded Rectangle 14"/>
          <p:cNvSpPr/>
          <p:nvPr/>
        </p:nvSpPr>
        <p:spPr>
          <a:xfrm>
            <a:off x="6675120" y="1645920"/>
            <a:ext cx="5029200" cy="420624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0" y="1783080"/>
            <a:ext cx="4572000" cy="365760"/>
          </a:xfrm>
          <a:prstGeom prst="rect">
            <a:avLst/>
          </a:prstGeom>
          <a:noFill/>
        </p:spPr>
        <p:txBody>
          <a:bodyPr wrap="square">
            <a:noAutofit/>
          </a:bodyPr>
          <a:lstStyle/>
          <a:p>
            <a:pPr algn="l">
              <a:spcBef>
                <a:spcPts val="0"/>
              </a:spcBef>
              <a:spcAft>
                <a:spcPts val="0"/>
              </a:spcAft>
              <a:defRPr sz="2000" b="1">
                <a:solidFill>
                  <a:srgbClr val="E69F00"/>
                </a:solidFill>
                <a:latin typeface="Arial"/>
              </a:defRPr>
            </a:pPr>
            <a:r>
              <a:t>How It Works (E2SFCA)</a:t>
            </a:r>
          </a:p>
        </p:txBody>
      </p:sp>
      <p:sp>
        <p:nvSpPr>
          <p:cNvPr id="17" name="TextBox 16"/>
          <p:cNvSpPr txBox="1"/>
          <p:nvPr/>
        </p:nvSpPr>
        <p:spPr>
          <a:xfrm>
            <a:off x="6949440" y="2286000"/>
            <a:ext cx="4480560" cy="1005840"/>
          </a:xfrm>
          <a:prstGeom prst="rect">
            <a:avLst/>
          </a:prstGeom>
          <a:noFill/>
        </p:spPr>
        <p:txBody>
          <a:bodyPr wrap="square">
            <a:noAutofit/>
          </a:bodyPr>
          <a:lstStyle/>
          <a:p>
            <a:pPr algn="l">
              <a:lnSpc>
                <a:spcPts val="2400"/>
              </a:lnSpc>
              <a:spcBef>
                <a:spcPts val="0"/>
              </a:spcBef>
              <a:spcAft>
                <a:spcPts val="0"/>
              </a:spcAft>
              <a:defRPr sz="1700" b="0">
                <a:solidFill>
                  <a:srgbClr val="F0F3F7"/>
                </a:solidFill>
                <a:latin typeface="Arial"/>
              </a:defRPr>
            </a:pPr>
            <a:r>
              <a:t>1. Compute each facility's supply-to-</a:t>
            </a:r>
          </a:p>
          <a:p>
            <a:pPr algn="l">
              <a:lnSpc>
                <a:spcPts val="2400"/>
              </a:lnSpc>
              <a:spcBef>
                <a:spcPts val="0"/>
              </a:spcBef>
              <a:spcAft>
                <a:spcPts val="0"/>
              </a:spcAft>
              <a:defRPr sz="1700" b="0">
                <a:solidFill>
                  <a:srgbClr val="F0F3F7"/>
                </a:solidFill>
                <a:latin typeface="Arial"/>
              </a:defRPr>
            </a:pPr>
            <a:r>
              <a:t>    demand ratio (capability weight</a:t>
            </a:r>
          </a:p>
          <a:p>
            <a:pPr algn="l">
              <a:lnSpc>
                <a:spcPts val="2400"/>
              </a:lnSpc>
              <a:spcBef>
                <a:spcPts val="0"/>
              </a:spcBef>
              <a:spcAft>
                <a:spcPts val="0"/>
              </a:spcAft>
              <a:defRPr sz="1700" b="0">
                <a:solidFill>
                  <a:srgbClr val="F0F3F7"/>
                </a:solidFill>
                <a:latin typeface="Arial"/>
              </a:defRPr>
            </a:pPr>
            <a:r>
              <a:t>    divided by nearby population).</a:t>
            </a:r>
          </a:p>
        </p:txBody>
      </p:sp>
      <p:sp>
        <p:nvSpPr>
          <p:cNvPr id="18" name="TextBox 17"/>
          <p:cNvSpPr txBox="1"/>
          <p:nvPr/>
        </p:nvSpPr>
        <p:spPr>
          <a:xfrm>
            <a:off x="6949440" y="3337560"/>
            <a:ext cx="4480560" cy="1005840"/>
          </a:xfrm>
          <a:prstGeom prst="rect">
            <a:avLst/>
          </a:prstGeom>
          <a:noFill/>
        </p:spPr>
        <p:txBody>
          <a:bodyPr wrap="square">
            <a:noAutofit/>
          </a:bodyPr>
          <a:lstStyle/>
          <a:p>
            <a:pPr algn="l">
              <a:lnSpc>
                <a:spcPts val="2400"/>
              </a:lnSpc>
              <a:spcBef>
                <a:spcPts val="0"/>
              </a:spcBef>
              <a:spcAft>
                <a:spcPts val="0"/>
              </a:spcAft>
              <a:defRPr sz="1700" b="0">
                <a:solidFill>
                  <a:srgbClr val="F0F3F7"/>
                </a:solidFill>
                <a:latin typeface="Arial"/>
              </a:defRPr>
            </a:pPr>
            <a:r>
              <a:t>2. For each tract, sum ratios of</a:t>
            </a:r>
          </a:p>
          <a:p>
            <a:pPr algn="l">
              <a:lnSpc>
                <a:spcPts val="2400"/>
              </a:lnSpc>
              <a:spcBef>
                <a:spcPts val="0"/>
              </a:spcBef>
              <a:spcAft>
                <a:spcPts val="0"/>
              </a:spcAft>
              <a:defRPr sz="1700" b="0">
                <a:solidFill>
                  <a:srgbClr val="F0F3F7"/>
                </a:solidFill>
                <a:latin typeface="Arial"/>
              </a:defRPr>
            </a:pPr>
            <a:r>
              <a:t>    all reachable facilities.</a:t>
            </a:r>
          </a:p>
        </p:txBody>
      </p:sp>
      <p:sp>
        <p:nvSpPr>
          <p:cNvPr id="19" name="TextBox 18"/>
          <p:cNvSpPr txBox="1"/>
          <p:nvPr/>
        </p:nvSpPr>
        <p:spPr>
          <a:xfrm>
            <a:off x="6949440" y="4389120"/>
            <a:ext cx="4480560" cy="1005840"/>
          </a:xfrm>
          <a:prstGeom prst="rect">
            <a:avLst/>
          </a:prstGeom>
          <a:noFill/>
        </p:spPr>
        <p:txBody>
          <a:bodyPr wrap="square">
            <a:noAutofit/>
          </a:bodyPr>
          <a:lstStyle/>
          <a:p>
            <a:pPr algn="l">
              <a:lnSpc>
                <a:spcPts val="2400"/>
              </a:lnSpc>
              <a:spcBef>
                <a:spcPts val="0"/>
              </a:spcBef>
              <a:spcAft>
                <a:spcPts val="0"/>
              </a:spcAft>
              <a:defRPr sz="1700" b="0">
                <a:solidFill>
                  <a:srgbClr val="F0F3F7"/>
                </a:solidFill>
                <a:latin typeface="Arial"/>
              </a:defRPr>
            </a:pPr>
            <a:r>
              <a:t>3. Normalize nationally, then flip:</a:t>
            </a:r>
          </a:p>
          <a:p>
            <a:pPr algn="l">
              <a:lnSpc>
                <a:spcPts val="2400"/>
              </a:lnSpc>
              <a:spcBef>
                <a:spcPts val="0"/>
              </a:spcBef>
              <a:spcAft>
                <a:spcPts val="0"/>
              </a:spcAft>
              <a:defRPr sz="1700" b="0">
                <a:solidFill>
                  <a:srgbClr val="F0F3F7"/>
                </a:solidFill>
                <a:latin typeface="Arial"/>
              </a:defRPr>
            </a:pPr>
            <a:r>
              <a:t>    high value = scarce supply.</a:t>
            </a:r>
          </a:p>
        </p:txBody>
      </p:sp>
      <p:sp>
        <p:nvSpPr>
          <p:cNvPr id="20" name="TextBox 19"/>
          <p:cNvSpPr txBox="1"/>
          <p:nvPr/>
        </p:nvSpPr>
        <p:spPr>
          <a:xfrm>
            <a:off x="640080" y="4206240"/>
            <a:ext cx="5486400" cy="365760"/>
          </a:xfrm>
          <a:prstGeom prst="rect">
            <a:avLst/>
          </a:prstGeom>
          <a:noFill/>
        </p:spPr>
        <p:txBody>
          <a:bodyPr wrap="square">
            <a:noAutofit/>
          </a:bodyPr>
          <a:lstStyle/>
          <a:p>
            <a:pPr algn="l">
              <a:spcBef>
                <a:spcPts val="0"/>
              </a:spcBef>
              <a:spcAft>
                <a:spcPts val="0"/>
              </a:spcAft>
              <a:defRPr sz="2200" b="1">
                <a:solidFill>
                  <a:srgbClr val="F0F3F7"/>
                </a:solidFill>
                <a:latin typeface="Arial"/>
              </a:defRPr>
            </a:pPr>
            <a:r>
              <a:t>Distance Decay Function</a:t>
            </a:r>
          </a:p>
        </p:txBody>
      </p:sp>
      <p:sp>
        <p:nvSpPr>
          <p:cNvPr id="21" name="TextBox 20"/>
          <p:cNvSpPr txBox="1"/>
          <p:nvPr/>
        </p:nvSpPr>
        <p:spPr>
          <a:xfrm>
            <a:off x="914400" y="4663440"/>
            <a:ext cx="1371600" cy="320040"/>
          </a:xfrm>
          <a:prstGeom prst="rect">
            <a:avLst/>
          </a:prstGeom>
          <a:noFill/>
        </p:spPr>
        <p:txBody>
          <a:bodyPr wrap="square">
            <a:noAutofit/>
          </a:bodyPr>
          <a:lstStyle/>
          <a:p>
            <a:pPr algn="l">
              <a:spcBef>
                <a:spcPts val="0"/>
              </a:spcBef>
              <a:spcAft>
                <a:spcPts val="0"/>
              </a:spcAft>
              <a:defRPr sz="1700" b="1">
                <a:solidFill>
                  <a:srgbClr val="56B4E9"/>
                </a:solidFill>
                <a:latin typeface="Arial"/>
              </a:defRPr>
            </a:pPr>
            <a:r>
              <a:t>≤ 30 min</a:t>
            </a:r>
          </a:p>
        </p:txBody>
      </p:sp>
      <p:sp>
        <p:nvSpPr>
          <p:cNvPr id="22" name="TextBox 21"/>
          <p:cNvSpPr txBox="1"/>
          <p:nvPr/>
        </p:nvSpPr>
        <p:spPr>
          <a:xfrm>
            <a:off x="2468880" y="4663440"/>
            <a:ext cx="3200400" cy="320040"/>
          </a:xfrm>
          <a:prstGeom prst="rect">
            <a:avLst/>
          </a:prstGeom>
          <a:noFill/>
        </p:spPr>
        <p:txBody>
          <a:bodyPr wrap="square">
            <a:noAutofit/>
          </a:bodyPr>
          <a:lstStyle/>
          <a:p>
            <a:pPr algn="l">
              <a:spcBef>
                <a:spcPts val="0"/>
              </a:spcBef>
              <a:spcAft>
                <a:spcPts val="0"/>
              </a:spcAft>
              <a:defRPr sz="1700" b="0">
                <a:solidFill>
                  <a:srgbClr val="9EADBD"/>
                </a:solidFill>
                <a:latin typeface="Arial"/>
              </a:defRPr>
            </a:pPr>
            <a:r>
              <a:t>1.00  Full access</a:t>
            </a:r>
          </a:p>
        </p:txBody>
      </p:sp>
      <p:sp>
        <p:nvSpPr>
          <p:cNvPr id="23" name="TextBox 22"/>
          <p:cNvSpPr txBox="1"/>
          <p:nvPr/>
        </p:nvSpPr>
        <p:spPr>
          <a:xfrm>
            <a:off x="914400" y="5074920"/>
            <a:ext cx="1371600" cy="320040"/>
          </a:xfrm>
          <a:prstGeom prst="rect">
            <a:avLst/>
          </a:prstGeom>
          <a:noFill/>
        </p:spPr>
        <p:txBody>
          <a:bodyPr wrap="square">
            <a:noAutofit/>
          </a:bodyPr>
          <a:lstStyle/>
          <a:p>
            <a:pPr algn="l">
              <a:spcBef>
                <a:spcPts val="0"/>
              </a:spcBef>
              <a:spcAft>
                <a:spcPts val="0"/>
              </a:spcAft>
              <a:defRPr sz="1700" b="1">
                <a:solidFill>
                  <a:srgbClr val="56B4E9"/>
                </a:solidFill>
                <a:latin typeface="Arial"/>
              </a:defRPr>
            </a:pPr>
            <a:r>
              <a:t>31–60 min</a:t>
            </a:r>
          </a:p>
        </p:txBody>
      </p:sp>
      <p:sp>
        <p:nvSpPr>
          <p:cNvPr id="24" name="TextBox 23"/>
          <p:cNvSpPr txBox="1"/>
          <p:nvPr/>
        </p:nvSpPr>
        <p:spPr>
          <a:xfrm>
            <a:off x="2468880" y="5074920"/>
            <a:ext cx="3200400" cy="320040"/>
          </a:xfrm>
          <a:prstGeom prst="rect">
            <a:avLst/>
          </a:prstGeom>
          <a:noFill/>
        </p:spPr>
        <p:txBody>
          <a:bodyPr wrap="square">
            <a:noAutofit/>
          </a:bodyPr>
          <a:lstStyle/>
          <a:p>
            <a:pPr algn="l">
              <a:spcBef>
                <a:spcPts val="0"/>
              </a:spcBef>
              <a:spcAft>
                <a:spcPts val="0"/>
              </a:spcAft>
              <a:defRPr sz="1700" b="0">
                <a:solidFill>
                  <a:srgbClr val="9EADBD"/>
                </a:solidFill>
                <a:latin typeface="Arial"/>
              </a:defRPr>
            </a:pPr>
            <a:r>
              <a:t>0.60  Reduced</a:t>
            </a:r>
          </a:p>
        </p:txBody>
      </p:sp>
      <p:sp>
        <p:nvSpPr>
          <p:cNvPr id="25" name="TextBox 24"/>
          <p:cNvSpPr txBox="1"/>
          <p:nvPr/>
        </p:nvSpPr>
        <p:spPr>
          <a:xfrm>
            <a:off x="914400" y="5486400"/>
            <a:ext cx="1371600" cy="320040"/>
          </a:xfrm>
          <a:prstGeom prst="rect">
            <a:avLst/>
          </a:prstGeom>
          <a:noFill/>
        </p:spPr>
        <p:txBody>
          <a:bodyPr wrap="square">
            <a:noAutofit/>
          </a:bodyPr>
          <a:lstStyle/>
          <a:p>
            <a:pPr algn="l">
              <a:spcBef>
                <a:spcPts val="0"/>
              </a:spcBef>
              <a:spcAft>
                <a:spcPts val="0"/>
              </a:spcAft>
              <a:defRPr sz="1700" b="1">
                <a:solidFill>
                  <a:srgbClr val="56B4E9"/>
                </a:solidFill>
                <a:latin typeface="Arial"/>
              </a:defRPr>
            </a:pPr>
            <a:r>
              <a:t>61–90 min</a:t>
            </a:r>
          </a:p>
        </p:txBody>
      </p:sp>
      <p:sp>
        <p:nvSpPr>
          <p:cNvPr id="26" name="TextBox 25"/>
          <p:cNvSpPr txBox="1"/>
          <p:nvPr/>
        </p:nvSpPr>
        <p:spPr>
          <a:xfrm>
            <a:off x="2468880" y="5486400"/>
            <a:ext cx="3200400" cy="320040"/>
          </a:xfrm>
          <a:prstGeom prst="rect">
            <a:avLst/>
          </a:prstGeom>
          <a:noFill/>
        </p:spPr>
        <p:txBody>
          <a:bodyPr wrap="square">
            <a:noAutofit/>
          </a:bodyPr>
          <a:lstStyle/>
          <a:p>
            <a:pPr algn="l">
              <a:spcBef>
                <a:spcPts val="0"/>
              </a:spcBef>
              <a:spcAft>
                <a:spcPts val="0"/>
              </a:spcAft>
              <a:defRPr sz="1700" b="0">
                <a:solidFill>
                  <a:srgbClr val="9EADBD"/>
                </a:solidFill>
                <a:latin typeface="Arial"/>
              </a:defRPr>
            </a:pPr>
            <a:r>
              <a:t>0.30  Marginal</a:t>
            </a:r>
          </a:p>
        </p:txBody>
      </p:sp>
      <p:sp>
        <p:nvSpPr>
          <p:cNvPr id="27" name="TextBox 26"/>
          <p:cNvSpPr txBox="1"/>
          <p:nvPr/>
        </p:nvSpPr>
        <p:spPr>
          <a:xfrm>
            <a:off x="914400" y="5897880"/>
            <a:ext cx="1371600" cy="320040"/>
          </a:xfrm>
          <a:prstGeom prst="rect">
            <a:avLst/>
          </a:prstGeom>
          <a:noFill/>
        </p:spPr>
        <p:txBody>
          <a:bodyPr wrap="square">
            <a:noAutofit/>
          </a:bodyPr>
          <a:lstStyle/>
          <a:p>
            <a:pPr algn="l">
              <a:spcBef>
                <a:spcPts val="0"/>
              </a:spcBef>
              <a:spcAft>
                <a:spcPts val="0"/>
              </a:spcAft>
              <a:defRPr sz="1700" b="1">
                <a:solidFill>
                  <a:srgbClr val="56B4E9"/>
                </a:solidFill>
                <a:latin typeface="Arial"/>
              </a:defRPr>
            </a:pPr>
            <a:r>
              <a:t>&gt; 90 min</a:t>
            </a:r>
          </a:p>
        </p:txBody>
      </p:sp>
      <p:sp>
        <p:nvSpPr>
          <p:cNvPr id="28" name="TextBox 27"/>
          <p:cNvSpPr txBox="1"/>
          <p:nvPr/>
        </p:nvSpPr>
        <p:spPr>
          <a:xfrm>
            <a:off x="2468880" y="5897880"/>
            <a:ext cx="3200400" cy="320040"/>
          </a:xfrm>
          <a:prstGeom prst="rect">
            <a:avLst/>
          </a:prstGeom>
          <a:noFill/>
        </p:spPr>
        <p:txBody>
          <a:bodyPr wrap="square">
            <a:noAutofit/>
          </a:bodyPr>
          <a:lstStyle/>
          <a:p>
            <a:pPr algn="l">
              <a:spcBef>
                <a:spcPts val="0"/>
              </a:spcBef>
              <a:spcAft>
                <a:spcPts val="0"/>
              </a:spcAft>
              <a:defRPr sz="1700" b="0">
                <a:solidFill>
                  <a:srgbClr val="9EADBD"/>
                </a:solidFill>
                <a:latin typeface="Arial"/>
              </a:defRPr>
            </a:pPr>
            <a:r>
              <a:t>0.00  Out of reach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914400" cy="548640"/>
          </a:xfrm>
          <a:prstGeom prst="rect">
            <a:avLst/>
          </a:prstGeom>
          <a:noFill/>
        </p:spPr>
        <p:txBody>
          <a:bodyPr wrap="square">
            <a:noAutofit/>
          </a:bodyPr>
          <a:lstStyle/>
          <a:p>
            <a:pPr algn="l">
              <a:spcBef>
                <a:spcPts val="0"/>
              </a:spcBef>
              <a:spcAft>
                <a:spcPts val="0"/>
              </a:spcAft>
              <a:defRPr sz="3400" b="1">
                <a:solidFill>
                  <a:srgbClr val="D55E00"/>
                </a:solidFill>
                <a:latin typeface="Arial"/>
              </a:defRPr>
            </a:pPr>
            <a:r>
              <a:t>T</a:t>
            </a:r>
          </a:p>
        </p:txBody>
      </p:sp>
      <p:sp>
        <p:nvSpPr>
          <p:cNvPr id="4" name="TextBox 3"/>
          <p:cNvSpPr txBox="1"/>
          <p:nvPr/>
        </p:nvSpPr>
        <p:spPr>
          <a:xfrm>
            <a:off x="1463040" y="274320"/>
            <a:ext cx="9144000" cy="548640"/>
          </a:xfrm>
          <a:prstGeom prst="rect">
            <a:avLst/>
          </a:prstGeom>
          <a:noFill/>
        </p:spPr>
        <p:txBody>
          <a:bodyPr wrap="square">
            <a:noAutofit/>
          </a:bodyPr>
          <a:lstStyle/>
          <a:p>
            <a:pPr algn="l">
              <a:spcBef>
                <a:spcPts val="0"/>
              </a:spcBef>
              <a:spcAft>
                <a:spcPts val="0"/>
              </a:spcAft>
              <a:defRPr sz="3400" b="1">
                <a:solidFill>
                  <a:srgbClr val="F0F3F7"/>
                </a:solidFill>
                <a:latin typeface="Arial"/>
              </a:defRPr>
            </a:pPr>
            <a:r>
              <a:t>Timely Access Burden  (30% -- Highest Weight)</a:t>
            </a:r>
          </a:p>
        </p:txBody>
      </p:sp>
      <p:sp>
        <p:nvSpPr>
          <p:cNvPr id="5" name="TextBox 4"/>
          <p:cNvSpPr txBox="1"/>
          <p:nvPr/>
        </p:nvSpPr>
        <p:spPr>
          <a:xfrm>
            <a:off x="640080" y="1005840"/>
            <a:ext cx="10515600" cy="502920"/>
          </a:xfrm>
          <a:prstGeom prst="rect">
            <a:avLst/>
          </a:prstGeom>
          <a:noFill/>
        </p:spPr>
        <p:txBody>
          <a:bodyPr wrap="square">
            <a:noAutofit/>
          </a:bodyPr>
          <a:lstStyle/>
          <a:p>
            <a:pPr algn="l">
              <a:lnSpc>
                <a:spcPts val="2800"/>
              </a:lnSpc>
              <a:spcBef>
                <a:spcPts val="0"/>
              </a:spcBef>
              <a:spcAft>
                <a:spcPts val="0"/>
              </a:spcAft>
              <a:defRPr sz="2000" b="0">
                <a:solidFill>
                  <a:srgbClr val="9EADBD"/>
                </a:solidFill>
                <a:latin typeface="Arial"/>
              </a:defRPr>
            </a:pPr>
            <a:r>
              <a:t>Models the real-world tiered burn care system, not just distance to the nearest center.</a:t>
            </a:r>
          </a:p>
        </p:txBody>
      </p:sp>
      <p:sp>
        <p:nvSpPr>
          <p:cNvPr id="6" name="Rounded Rectangle 5"/>
          <p:cNvSpPr/>
          <p:nvPr/>
        </p:nvSpPr>
        <p:spPr>
          <a:xfrm>
            <a:off x="457200" y="1645920"/>
            <a:ext cx="3566160" cy="24688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40080" y="1828800"/>
            <a:ext cx="548640" cy="548640"/>
          </a:xfrm>
          <a:prstGeom prst="ellipse">
            <a:avLst/>
          </a:prstGeom>
          <a:solidFill>
            <a:srgbClr val="56B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847088"/>
            <a:ext cx="548640" cy="502920"/>
          </a:xfrm>
          <a:prstGeom prst="rect">
            <a:avLst/>
          </a:prstGeom>
          <a:noFill/>
        </p:spPr>
        <p:txBody>
          <a:bodyPr wrap="square">
            <a:noAutofit/>
          </a:bodyPr>
          <a:lstStyle/>
          <a:p>
            <a:pPr algn="ctr">
              <a:spcBef>
                <a:spcPts val="0"/>
              </a:spcBef>
              <a:spcAft>
                <a:spcPts val="0"/>
              </a:spcAft>
              <a:defRPr sz="2400" b="1">
                <a:solidFill>
                  <a:srgbClr val="121A27"/>
                </a:solidFill>
                <a:latin typeface="Arial"/>
              </a:defRPr>
            </a:pPr>
            <a:r>
              <a:t>A</a:t>
            </a:r>
          </a:p>
        </p:txBody>
      </p:sp>
      <p:sp>
        <p:nvSpPr>
          <p:cNvPr id="9" name="TextBox 8"/>
          <p:cNvSpPr txBox="1"/>
          <p:nvPr/>
        </p:nvSpPr>
        <p:spPr>
          <a:xfrm>
            <a:off x="1371600" y="1828800"/>
            <a:ext cx="2377440" cy="365760"/>
          </a:xfrm>
          <a:prstGeom prst="rect">
            <a:avLst/>
          </a:prstGeom>
          <a:noFill/>
        </p:spPr>
        <p:txBody>
          <a:bodyPr wrap="square">
            <a:noAutofit/>
          </a:bodyPr>
          <a:lstStyle/>
          <a:p>
            <a:pPr algn="l">
              <a:spcBef>
                <a:spcPts val="0"/>
              </a:spcBef>
              <a:spcAft>
                <a:spcPts val="0"/>
              </a:spcAft>
              <a:defRPr sz="2000" b="1">
                <a:solidFill>
                  <a:srgbClr val="F0F3F7"/>
                </a:solidFill>
                <a:latin typeface="Arial"/>
              </a:defRPr>
            </a:pPr>
            <a:r>
              <a:t>Direct Path</a:t>
            </a:r>
          </a:p>
        </p:txBody>
      </p:sp>
      <p:sp>
        <p:nvSpPr>
          <p:cNvPr id="10" name="TextBox 9"/>
          <p:cNvSpPr txBox="1"/>
          <p:nvPr/>
        </p:nvSpPr>
        <p:spPr>
          <a:xfrm>
            <a:off x="1371600" y="2194560"/>
            <a:ext cx="2377440" cy="274320"/>
          </a:xfrm>
          <a:prstGeom prst="rect">
            <a:avLst/>
          </a:prstGeom>
          <a:noFill/>
        </p:spPr>
        <p:txBody>
          <a:bodyPr wrap="square">
            <a:noAutofit/>
          </a:bodyPr>
          <a:lstStyle/>
          <a:p>
            <a:pPr algn="l">
              <a:spcBef>
                <a:spcPts val="0"/>
              </a:spcBef>
              <a:spcAft>
                <a:spcPts val="0"/>
              </a:spcAft>
              <a:defRPr sz="1500" b="1">
                <a:solidFill>
                  <a:srgbClr val="56B4E9"/>
                </a:solidFill>
                <a:latin typeface="Consolas"/>
              </a:defRPr>
            </a:pPr>
            <a:r>
              <a:t>T(dir)</a:t>
            </a:r>
          </a:p>
        </p:txBody>
      </p:sp>
      <p:sp>
        <p:nvSpPr>
          <p:cNvPr id="11" name="TextBox 10"/>
          <p:cNvSpPr txBox="1"/>
          <p:nvPr/>
        </p:nvSpPr>
        <p:spPr>
          <a:xfrm>
            <a:off x="685800" y="2651760"/>
            <a:ext cx="3108960" cy="1188720"/>
          </a:xfrm>
          <a:prstGeom prst="rect">
            <a:avLst/>
          </a:prstGeom>
          <a:noFill/>
        </p:spPr>
        <p:txBody>
          <a:bodyPr wrap="square">
            <a:noAutofit/>
          </a:bodyPr>
          <a:lstStyle/>
          <a:p>
            <a:pPr algn="l">
              <a:lnSpc>
                <a:spcPts val="2600"/>
              </a:lnSpc>
              <a:spcBef>
                <a:spcPts val="0"/>
              </a:spcBef>
              <a:spcAft>
                <a:spcPts val="0"/>
              </a:spcAft>
              <a:defRPr sz="1700" b="0">
                <a:solidFill>
                  <a:srgbClr val="9EADBD"/>
                </a:solidFill>
                <a:latin typeface="Arial"/>
              </a:defRPr>
            </a:pPr>
            <a:r>
              <a:t>Drive from the tract to the</a:t>
            </a:r>
          </a:p>
          <a:p>
            <a:pPr algn="l">
              <a:lnSpc>
                <a:spcPts val="2600"/>
              </a:lnSpc>
              <a:spcBef>
                <a:spcPts val="0"/>
              </a:spcBef>
              <a:spcAft>
                <a:spcPts val="0"/>
              </a:spcAft>
              <a:defRPr sz="1700" b="0">
                <a:solidFill>
                  <a:srgbClr val="9EADBD"/>
                </a:solidFill>
                <a:latin typeface="Arial"/>
              </a:defRPr>
            </a:pPr>
            <a:r>
              <a:t>nearest definitive burn center.</a:t>
            </a:r>
          </a:p>
        </p:txBody>
      </p:sp>
      <p:sp>
        <p:nvSpPr>
          <p:cNvPr id="12" name="Rounded Rectangle 11"/>
          <p:cNvSpPr/>
          <p:nvPr/>
        </p:nvSpPr>
        <p:spPr>
          <a:xfrm>
            <a:off x="4251960" y="1645920"/>
            <a:ext cx="3566160" cy="24688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434840" y="1828800"/>
            <a:ext cx="548640" cy="548640"/>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1847088"/>
            <a:ext cx="548640" cy="502920"/>
          </a:xfrm>
          <a:prstGeom prst="rect">
            <a:avLst/>
          </a:prstGeom>
          <a:noFill/>
        </p:spPr>
        <p:txBody>
          <a:bodyPr wrap="square">
            <a:noAutofit/>
          </a:bodyPr>
          <a:lstStyle/>
          <a:p>
            <a:pPr algn="ctr">
              <a:spcBef>
                <a:spcPts val="0"/>
              </a:spcBef>
              <a:spcAft>
                <a:spcPts val="0"/>
              </a:spcAft>
              <a:defRPr sz="2400" b="1">
                <a:solidFill>
                  <a:srgbClr val="121A27"/>
                </a:solidFill>
                <a:latin typeface="Arial"/>
              </a:defRPr>
            </a:pPr>
            <a:r>
              <a:t>B</a:t>
            </a:r>
          </a:p>
        </p:txBody>
      </p:sp>
      <p:sp>
        <p:nvSpPr>
          <p:cNvPr id="15" name="TextBox 14"/>
          <p:cNvSpPr txBox="1"/>
          <p:nvPr/>
        </p:nvSpPr>
        <p:spPr>
          <a:xfrm>
            <a:off x="5166360" y="1828800"/>
            <a:ext cx="2377440" cy="365760"/>
          </a:xfrm>
          <a:prstGeom prst="rect">
            <a:avLst/>
          </a:prstGeom>
          <a:noFill/>
        </p:spPr>
        <p:txBody>
          <a:bodyPr wrap="square">
            <a:noAutofit/>
          </a:bodyPr>
          <a:lstStyle/>
          <a:p>
            <a:pPr algn="l">
              <a:spcBef>
                <a:spcPts val="0"/>
              </a:spcBef>
              <a:spcAft>
                <a:spcPts val="0"/>
              </a:spcAft>
              <a:defRPr sz="2000" b="1">
                <a:solidFill>
                  <a:srgbClr val="F0F3F7"/>
                </a:solidFill>
                <a:latin typeface="Arial"/>
              </a:defRPr>
            </a:pPr>
            <a:r>
              <a:t>Transfer Path</a:t>
            </a:r>
          </a:p>
        </p:txBody>
      </p:sp>
      <p:sp>
        <p:nvSpPr>
          <p:cNvPr id="16" name="TextBox 15"/>
          <p:cNvSpPr txBox="1"/>
          <p:nvPr/>
        </p:nvSpPr>
        <p:spPr>
          <a:xfrm>
            <a:off x="5166360" y="2194560"/>
            <a:ext cx="2377440" cy="274320"/>
          </a:xfrm>
          <a:prstGeom prst="rect">
            <a:avLst/>
          </a:prstGeom>
          <a:noFill/>
        </p:spPr>
        <p:txBody>
          <a:bodyPr wrap="square">
            <a:noAutofit/>
          </a:bodyPr>
          <a:lstStyle/>
          <a:p>
            <a:pPr algn="l">
              <a:spcBef>
                <a:spcPts val="0"/>
              </a:spcBef>
              <a:spcAft>
                <a:spcPts val="0"/>
              </a:spcAft>
              <a:defRPr sz="1500" b="1">
                <a:solidFill>
                  <a:srgbClr val="E69F00"/>
                </a:solidFill>
                <a:latin typeface="Consolas"/>
              </a:defRPr>
            </a:pPr>
            <a:r>
              <a:t>T(trans)</a:t>
            </a:r>
          </a:p>
        </p:txBody>
      </p:sp>
      <p:sp>
        <p:nvSpPr>
          <p:cNvPr id="17" name="TextBox 16"/>
          <p:cNvSpPr txBox="1"/>
          <p:nvPr/>
        </p:nvSpPr>
        <p:spPr>
          <a:xfrm>
            <a:off x="4480560" y="2651760"/>
            <a:ext cx="3108960" cy="1188720"/>
          </a:xfrm>
          <a:prstGeom prst="rect">
            <a:avLst/>
          </a:prstGeom>
          <a:noFill/>
        </p:spPr>
        <p:txBody>
          <a:bodyPr wrap="square">
            <a:noAutofit/>
          </a:bodyPr>
          <a:lstStyle/>
          <a:p>
            <a:pPr algn="l">
              <a:lnSpc>
                <a:spcPts val="2600"/>
              </a:lnSpc>
              <a:spcBef>
                <a:spcPts val="0"/>
              </a:spcBef>
              <a:spcAft>
                <a:spcPts val="0"/>
              </a:spcAft>
              <a:defRPr sz="1700" b="0">
                <a:solidFill>
                  <a:srgbClr val="9EADBD"/>
                </a:solidFill>
                <a:latin typeface="Arial"/>
              </a:defRPr>
            </a:pPr>
            <a:r>
              <a:t>Drive to stabilization hospital,</a:t>
            </a:r>
          </a:p>
          <a:p>
            <a:pPr algn="l">
              <a:lnSpc>
                <a:spcPts val="2600"/>
              </a:lnSpc>
              <a:spcBef>
                <a:spcPts val="0"/>
              </a:spcBef>
              <a:spcAft>
                <a:spcPts val="0"/>
              </a:spcAft>
              <a:defRPr sz="1700" b="0">
                <a:solidFill>
                  <a:srgbClr val="9EADBD"/>
                </a:solidFill>
                <a:latin typeface="Arial"/>
              </a:defRPr>
            </a:pPr>
            <a:r>
              <a:t>add 45-min transfer penalty,</a:t>
            </a:r>
          </a:p>
          <a:p>
            <a:pPr algn="l">
              <a:lnSpc>
                <a:spcPts val="2600"/>
              </a:lnSpc>
              <a:spcBef>
                <a:spcPts val="0"/>
              </a:spcBef>
              <a:spcAft>
                <a:spcPts val="0"/>
              </a:spcAft>
              <a:defRPr sz="1700" b="0">
                <a:solidFill>
                  <a:srgbClr val="9EADBD"/>
                </a:solidFill>
                <a:latin typeface="Arial"/>
              </a:defRPr>
            </a:pPr>
            <a:r>
              <a:t>then transfer to burn center.</a:t>
            </a:r>
          </a:p>
        </p:txBody>
      </p:sp>
      <p:sp>
        <p:nvSpPr>
          <p:cNvPr id="18" name="Rounded Rectangle 17"/>
          <p:cNvSpPr/>
          <p:nvPr/>
        </p:nvSpPr>
        <p:spPr>
          <a:xfrm>
            <a:off x="8046720" y="1645920"/>
            <a:ext cx="3566160" cy="24688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29600" y="1828800"/>
            <a:ext cx="548640" cy="548640"/>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0" y="1847088"/>
            <a:ext cx="548640" cy="502920"/>
          </a:xfrm>
          <a:prstGeom prst="rect">
            <a:avLst/>
          </a:prstGeom>
          <a:noFill/>
        </p:spPr>
        <p:txBody>
          <a:bodyPr wrap="square">
            <a:noAutofit/>
          </a:bodyPr>
          <a:lstStyle/>
          <a:p>
            <a:pPr algn="ctr">
              <a:spcBef>
                <a:spcPts val="0"/>
              </a:spcBef>
              <a:spcAft>
                <a:spcPts val="0"/>
              </a:spcAft>
              <a:defRPr sz="2400" b="1">
                <a:solidFill>
                  <a:srgbClr val="121A27"/>
                </a:solidFill>
                <a:latin typeface="Arial"/>
              </a:defRPr>
            </a:pPr>
            <a:r>
              <a:t>C</a:t>
            </a:r>
          </a:p>
        </p:txBody>
      </p:sp>
      <p:sp>
        <p:nvSpPr>
          <p:cNvPr id="21" name="TextBox 20"/>
          <p:cNvSpPr txBox="1"/>
          <p:nvPr/>
        </p:nvSpPr>
        <p:spPr>
          <a:xfrm>
            <a:off x="8961120" y="1828800"/>
            <a:ext cx="2377440" cy="365760"/>
          </a:xfrm>
          <a:prstGeom prst="rect">
            <a:avLst/>
          </a:prstGeom>
          <a:noFill/>
        </p:spPr>
        <p:txBody>
          <a:bodyPr wrap="square">
            <a:noAutofit/>
          </a:bodyPr>
          <a:lstStyle/>
          <a:p>
            <a:pPr algn="l">
              <a:spcBef>
                <a:spcPts val="0"/>
              </a:spcBef>
              <a:spcAft>
                <a:spcPts val="0"/>
              </a:spcAft>
              <a:defRPr sz="2000" b="1">
                <a:solidFill>
                  <a:srgbClr val="F0F3F7"/>
                </a:solidFill>
                <a:latin typeface="Arial"/>
              </a:defRPr>
            </a:pPr>
            <a:r>
              <a:t>System Time</a:t>
            </a:r>
          </a:p>
        </p:txBody>
      </p:sp>
      <p:sp>
        <p:nvSpPr>
          <p:cNvPr id="22" name="TextBox 21"/>
          <p:cNvSpPr txBox="1"/>
          <p:nvPr/>
        </p:nvSpPr>
        <p:spPr>
          <a:xfrm>
            <a:off x="8961120" y="2194560"/>
            <a:ext cx="2377440" cy="274320"/>
          </a:xfrm>
          <a:prstGeom prst="rect">
            <a:avLst/>
          </a:prstGeom>
          <a:noFill/>
        </p:spPr>
        <p:txBody>
          <a:bodyPr wrap="square">
            <a:noAutofit/>
          </a:bodyPr>
          <a:lstStyle/>
          <a:p>
            <a:pPr algn="l">
              <a:spcBef>
                <a:spcPts val="0"/>
              </a:spcBef>
              <a:spcAft>
                <a:spcPts val="0"/>
              </a:spcAft>
              <a:defRPr sz="1500" b="1">
                <a:solidFill>
                  <a:srgbClr val="009E73"/>
                </a:solidFill>
                <a:latin typeface="Consolas"/>
              </a:defRPr>
            </a:pPr>
            <a:r>
              <a:t>T(sys)</a:t>
            </a:r>
          </a:p>
        </p:txBody>
      </p:sp>
      <p:sp>
        <p:nvSpPr>
          <p:cNvPr id="23" name="TextBox 22"/>
          <p:cNvSpPr txBox="1"/>
          <p:nvPr/>
        </p:nvSpPr>
        <p:spPr>
          <a:xfrm>
            <a:off x="8275320" y="2651760"/>
            <a:ext cx="3108960" cy="1188720"/>
          </a:xfrm>
          <a:prstGeom prst="rect">
            <a:avLst/>
          </a:prstGeom>
          <a:noFill/>
        </p:spPr>
        <p:txBody>
          <a:bodyPr wrap="square">
            <a:noAutofit/>
          </a:bodyPr>
          <a:lstStyle/>
          <a:p>
            <a:pPr algn="l">
              <a:lnSpc>
                <a:spcPts val="2600"/>
              </a:lnSpc>
              <a:spcBef>
                <a:spcPts val="0"/>
              </a:spcBef>
              <a:spcAft>
                <a:spcPts val="0"/>
              </a:spcAft>
              <a:defRPr sz="1700" b="0">
                <a:solidFill>
                  <a:srgbClr val="9EADBD"/>
                </a:solidFill>
                <a:latin typeface="Arial"/>
              </a:defRPr>
            </a:pPr>
            <a:r>
              <a:t>Whichever is faster -- direct</a:t>
            </a:r>
          </a:p>
          <a:p>
            <a:pPr algn="l">
              <a:lnSpc>
                <a:spcPts val="2600"/>
              </a:lnSpc>
              <a:spcBef>
                <a:spcPts val="0"/>
              </a:spcBef>
              <a:spcAft>
                <a:spcPts val="0"/>
              </a:spcAft>
              <a:defRPr sz="1700" b="0">
                <a:solidFill>
                  <a:srgbClr val="9EADBD"/>
                </a:solidFill>
                <a:latin typeface="Arial"/>
              </a:defRPr>
            </a:pPr>
            <a:r>
              <a:t>or stabilize-then-transfer.</a:t>
            </a:r>
          </a:p>
        </p:txBody>
      </p:sp>
      <p:sp>
        <p:nvSpPr>
          <p:cNvPr id="24" name="Rounded Rectangle 23"/>
          <p:cNvSpPr/>
          <p:nvPr/>
        </p:nvSpPr>
        <p:spPr>
          <a:xfrm>
            <a:off x="457200" y="4389120"/>
            <a:ext cx="11247120" cy="192024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4526280"/>
            <a:ext cx="10698480" cy="365760"/>
          </a:xfrm>
          <a:prstGeom prst="rect">
            <a:avLst/>
          </a:prstGeom>
          <a:noFill/>
        </p:spPr>
        <p:txBody>
          <a:bodyPr wrap="square">
            <a:noAutofit/>
          </a:bodyPr>
          <a:lstStyle/>
          <a:p>
            <a:pPr algn="l">
              <a:spcBef>
                <a:spcPts val="0"/>
              </a:spcBef>
              <a:spcAft>
                <a:spcPts val="0"/>
              </a:spcAft>
              <a:defRPr sz="2000" b="1">
                <a:solidFill>
                  <a:srgbClr val="D55E00"/>
                </a:solidFill>
                <a:latin typeface="Consolas"/>
              </a:defRPr>
            </a:pPr>
            <a:r>
              <a:t>Tier Penalty:  Δ = max(0, T_stab − 30 min)</a:t>
            </a:r>
          </a:p>
        </p:txBody>
      </p:sp>
      <p:sp>
        <p:nvSpPr>
          <p:cNvPr id="26" name="TextBox 25"/>
          <p:cNvSpPr txBox="1"/>
          <p:nvPr/>
        </p:nvSpPr>
        <p:spPr>
          <a:xfrm>
            <a:off x="731520" y="5029200"/>
            <a:ext cx="10698480" cy="1097280"/>
          </a:xfrm>
          <a:prstGeom prst="rect">
            <a:avLst/>
          </a:prstGeom>
          <a:noFill/>
        </p:spPr>
        <p:txBody>
          <a:bodyPr wrap="square">
            <a:noAutofit/>
          </a:bodyPr>
          <a:lstStyle/>
          <a:p>
            <a:pPr algn="l">
              <a:lnSpc>
                <a:spcPts val="3000"/>
              </a:lnSpc>
              <a:spcBef>
                <a:spcPts val="0"/>
              </a:spcBef>
              <a:spcAft>
                <a:spcPts val="0"/>
              </a:spcAft>
              <a:defRPr sz="1900" b="0">
                <a:solidFill>
                  <a:srgbClr val="F0F3F7"/>
                </a:solidFill>
                <a:latin typeface="Arial"/>
              </a:defRPr>
            </a:pPr>
            <a:r>
              <a:t>We also penalize tracts where even first-line stabilization is more than 30 minutes away. Final score: 75% system time + 25% tier penalty. This captures both the journey and the safety net.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Rectangle 1"/>
          <p:cNvSpPr/>
          <p:nvPr/>
        </p:nvSpPr>
        <p:spPr>
          <a:xfrm>
            <a:off x="0" y="0"/>
            <a:ext cx="5943600" cy="548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731520" cy="548640"/>
          </a:xfrm>
          <a:prstGeom prst="rect">
            <a:avLst/>
          </a:prstGeom>
          <a:noFill/>
        </p:spPr>
        <p:txBody>
          <a:bodyPr wrap="square">
            <a:noAutofit/>
          </a:bodyPr>
          <a:lstStyle/>
          <a:p>
            <a:pPr algn="l">
              <a:spcBef>
                <a:spcPts val="0"/>
              </a:spcBef>
              <a:spcAft>
                <a:spcPts val="0"/>
              </a:spcAft>
              <a:defRPr sz="3400" b="1">
                <a:solidFill>
                  <a:srgbClr val="009E73"/>
                </a:solidFill>
                <a:latin typeface="Arial"/>
              </a:defRPr>
            </a:pPr>
            <a:r>
              <a:t>P</a:t>
            </a:r>
          </a:p>
        </p:txBody>
      </p:sp>
      <p:sp>
        <p:nvSpPr>
          <p:cNvPr id="4" name="TextBox 3"/>
          <p:cNvSpPr txBox="1"/>
          <p:nvPr/>
        </p:nvSpPr>
        <p:spPr>
          <a:xfrm>
            <a:off x="1371600" y="274320"/>
            <a:ext cx="4572000" cy="548640"/>
          </a:xfrm>
          <a:prstGeom prst="rect">
            <a:avLst/>
          </a:prstGeom>
          <a:noFill/>
        </p:spPr>
        <p:txBody>
          <a:bodyPr wrap="square">
            <a:noAutofit/>
          </a:bodyPr>
          <a:lstStyle/>
          <a:p>
            <a:pPr algn="l">
              <a:spcBef>
                <a:spcPts val="0"/>
              </a:spcBef>
              <a:spcAft>
                <a:spcPts val="0"/>
              </a:spcAft>
              <a:defRPr sz="3000" b="1">
                <a:solidFill>
                  <a:srgbClr val="F0F3F7"/>
                </a:solidFill>
                <a:latin typeface="Arial"/>
              </a:defRPr>
            </a:pPr>
            <a:r>
              <a:t>Pediatric Access Gap  (20%)</a:t>
            </a:r>
          </a:p>
        </p:txBody>
      </p:sp>
      <p:sp>
        <p:nvSpPr>
          <p:cNvPr id="5" name="TextBox 4"/>
          <p:cNvSpPr txBox="1"/>
          <p:nvPr/>
        </p:nvSpPr>
        <p:spPr>
          <a:xfrm>
            <a:off x="640080" y="1005840"/>
            <a:ext cx="5120640" cy="1005840"/>
          </a:xfrm>
          <a:prstGeom prst="rect">
            <a:avLst/>
          </a:prstGeom>
          <a:noFill/>
        </p:spPr>
        <p:txBody>
          <a:bodyPr wrap="square">
            <a:noAutofit/>
          </a:bodyPr>
          <a:lstStyle/>
          <a:p>
            <a:pPr algn="l">
              <a:lnSpc>
                <a:spcPts val="2600"/>
              </a:lnSpc>
              <a:spcBef>
                <a:spcPts val="0"/>
              </a:spcBef>
              <a:spcAft>
                <a:spcPts val="0"/>
              </a:spcAft>
              <a:defRPr sz="1800" b="0">
                <a:solidFill>
                  <a:srgbClr val="9EADBD"/>
                </a:solidFill>
                <a:latin typeface="Arial"/>
              </a:defRPr>
            </a:pPr>
            <a:r>
              <a:t>Same method as Supply, but using</a:t>
            </a:r>
          </a:p>
          <a:p>
            <a:pPr algn="l">
              <a:lnSpc>
                <a:spcPts val="2600"/>
              </a:lnSpc>
              <a:spcBef>
                <a:spcPts val="0"/>
              </a:spcBef>
              <a:spcAft>
                <a:spcPts val="0"/>
              </a:spcAft>
              <a:defRPr sz="1800" b="0">
                <a:solidFill>
                  <a:srgbClr val="9EADBD"/>
                </a:solidFill>
                <a:latin typeface="Arial"/>
              </a:defRPr>
            </a:pPr>
            <a:r>
              <a:t>pediatric-capable facilities and</a:t>
            </a:r>
          </a:p>
          <a:p>
            <a:pPr algn="l">
              <a:lnSpc>
                <a:spcPts val="2600"/>
              </a:lnSpc>
              <a:spcBef>
                <a:spcPts val="0"/>
              </a:spcBef>
              <a:spcAft>
                <a:spcPts val="0"/>
              </a:spcAft>
              <a:defRPr sz="1800" b="0">
                <a:solidFill>
                  <a:srgbClr val="9EADBD"/>
                </a:solidFill>
                <a:latin typeface="Arial"/>
              </a:defRPr>
            </a:pPr>
            <a:r>
              <a:t>child population.</a:t>
            </a:r>
          </a:p>
        </p:txBody>
      </p:sp>
      <p:sp>
        <p:nvSpPr>
          <p:cNvPr id="6" name="TextBox 5"/>
          <p:cNvSpPr txBox="1"/>
          <p:nvPr/>
        </p:nvSpPr>
        <p:spPr>
          <a:xfrm>
            <a:off x="822960" y="2103120"/>
            <a:ext cx="3931920" cy="320040"/>
          </a:xfrm>
          <a:prstGeom prst="rect">
            <a:avLst/>
          </a:prstGeom>
          <a:noFill/>
        </p:spPr>
        <p:txBody>
          <a:bodyPr wrap="square">
            <a:noAutofit/>
          </a:bodyPr>
          <a:lstStyle/>
          <a:p>
            <a:pPr algn="l">
              <a:spcBef>
                <a:spcPts val="0"/>
              </a:spcBef>
              <a:spcAft>
                <a:spcPts val="0"/>
              </a:spcAft>
              <a:defRPr sz="1700" b="0">
                <a:solidFill>
                  <a:srgbClr val="F0F3F7"/>
                </a:solidFill>
                <a:latin typeface="Arial"/>
              </a:defRPr>
            </a:pPr>
            <a:r>
              <a:t>Pediatric ABA-Verified</a:t>
            </a:r>
          </a:p>
        </p:txBody>
      </p:sp>
      <p:sp>
        <p:nvSpPr>
          <p:cNvPr id="7" name="TextBox 6"/>
          <p:cNvSpPr txBox="1"/>
          <p:nvPr/>
        </p:nvSpPr>
        <p:spPr>
          <a:xfrm>
            <a:off x="4572000" y="2103120"/>
            <a:ext cx="1097280" cy="320040"/>
          </a:xfrm>
          <a:prstGeom prst="rect">
            <a:avLst/>
          </a:prstGeom>
          <a:noFill/>
        </p:spPr>
        <p:txBody>
          <a:bodyPr wrap="square">
            <a:noAutofit/>
          </a:bodyPr>
          <a:lstStyle/>
          <a:p>
            <a:pPr algn="r">
              <a:spcBef>
                <a:spcPts val="0"/>
              </a:spcBef>
              <a:spcAft>
                <a:spcPts val="0"/>
              </a:spcAft>
              <a:defRPr sz="1700" b="1">
                <a:solidFill>
                  <a:srgbClr val="009E73"/>
                </a:solidFill>
                <a:latin typeface="Arial"/>
              </a:defRPr>
            </a:pPr>
            <a:r>
              <a:t>1.00</a:t>
            </a:r>
          </a:p>
        </p:txBody>
      </p:sp>
      <p:sp>
        <p:nvSpPr>
          <p:cNvPr id="8" name="TextBox 7"/>
          <p:cNvSpPr txBox="1"/>
          <p:nvPr/>
        </p:nvSpPr>
        <p:spPr>
          <a:xfrm>
            <a:off x="822960" y="2514600"/>
            <a:ext cx="3931920" cy="320040"/>
          </a:xfrm>
          <a:prstGeom prst="rect">
            <a:avLst/>
          </a:prstGeom>
          <a:noFill/>
        </p:spPr>
        <p:txBody>
          <a:bodyPr wrap="square">
            <a:noAutofit/>
          </a:bodyPr>
          <a:lstStyle/>
          <a:p>
            <a:pPr algn="l">
              <a:spcBef>
                <a:spcPts val="0"/>
              </a:spcBef>
              <a:spcAft>
                <a:spcPts val="0"/>
              </a:spcAft>
              <a:defRPr sz="1700" b="0">
                <a:solidFill>
                  <a:srgbClr val="F0F3F7"/>
                </a:solidFill>
                <a:latin typeface="Arial"/>
              </a:defRPr>
            </a:pPr>
            <a:r>
              <a:t>Pediatric State-Designated</a:t>
            </a:r>
          </a:p>
        </p:txBody>
      </p:sp>
      <p:sp>
        <p:nvSpPr>
          <p:cNvPr id="9" name="TextBox 8"/>
          <p:cNvSpPr txBox="1"/>
          <p:nvPr/>
        </p:nvSpPr>
        <p:spPr>
          <a:xfrm>
            <a:off x="4572000" y="2514600"/>
            <a:ext cx="1097280" cy="320040"/>
          </a:xfrm>
          <a:prstGeom prst="rect">
            <a:avLst/>
          </a:prstGeom>
          <a:noFill/>
        </p:spPr>
        <p:txBody>
          <a:bodyPr wrap="square">
            <a:noAutofit/>
          </a:bodyPr>
          <a:lstStyle/>
          <a:p>
            <a:pPr algn="r">
              <a:spcBef>
                <a:spcPts val="0"/>
              </a:spcBef>
              <a:spcAft>
                <a:spcPts val="0"/>
              </a:spcAft>
              <a:defRPr sz="1700" b="1">
                <a:solidFill>
                  <a:srgbClr val="009E73"/>
                </a:solidFill>
                <a:latin typeface="Arial"/>
              </a:defRPr>
            </a:pPr>
            <a:r>
              <a:t>0.85</a:t>
            </a:r>
          </a:p>
        </p:txBody>
      </p:sp>
      <p:sp>
        <p:nvSpPr>
          <p:cNvPr id="10" name="TextBox 9"/>
          <p:cNvSpPr txBox="1"/>
          <p:nvPr/>
        </p:nvSpPr>
        <p:spPr>
          <a:xfrm>
            <a:off x="822960" y="2926080"/>
            <a:ext cx="3931920" cy="320040"/>
          </a:xfrm>
          <a:prstGeom prst="rect">
            <a:avLst/>
          </a:prstGeom>
          <a:noFill/>
        </p:spPr>
        <p:txBody>
          <a:bodyPr wrap="square">
            <a:noAutofit/>
          </a:bodyPr>
          <a:lstStyle/>
          <a:p>
            <a:pPr algn="l">
              <a:spcBef>
                <a:spcPts val="0"/>
              </a:spcBef>
              <a:spcAft>
                <a:spcPts val="0"/>
              </a:spcAft>
              <a:defRPr sz="1700" b="0">
                <a:solidFill>
                  <a:srgbClr val="F0F3F7"/>
                </a:solidFill>
                <a:latin typeface="Arial"/>
              </a:defRPr>
            </a:pPr>
            <a:r>
              <a:t>Peds Trauma + Burn Capable</a:t>
            </a:r>
          </a:p>
        </p:txBody>
      </p:sp>
      <p:sp>
        <p:nvSpPr>
          <p:cNvPr id="11" name="TextBox 10"/>
          <p:cNvSpPr txBox="1"/>
          <p:nvPr/>
        </p:nvSpPr>
        <p:spPr>
          <a:xfrm>
            <a:off x="4572000" y="2926080"/>
            <a:ext cx="1097280" cy="320040"/>
          </a:xfrm>
          <a:prstGeom prst="rect">
            <a:avLst/>
          </a:prstGeom>
          <a:noFill/>
        </p:spPr>
        <p:txBody>
          <a:bodyPr wrap="square">
            <a:noAutofit/>
          </a:bodyPr>
          <a:lstStyle/>
          <a:p>
            <a:pPr algn="r">
              <a:spcBef>
                <a:spcPts val="0"/>
              </a:spcBef>
              <a:spcAft>
                <a:spcPts val="0"/>
              </a:spcAft>
              <a:defRPr sz="1700" b="1">
                <a:solidFill>
                  <a:srgbClr val="009E73"/>
                </a:solidFill>
                <a:latin typeface="Arial"/>
              </a:defRPr>
            </a:pPr>
            <a:r>
              <a:t>0.60</a:t>
            </a:r>
          </a:p>
        </p:txBody>
      </p:sp>
      <p:sp>
        <p:nvSpPr>
          <p:cNvPr id="12" name="TextBox 11"/>
          <p:cNvSpPr txBox="1"/>
          <p:nvPr/>
        </p:nvSpPr>
        <p:spPr>
          <a:xfrm>
            <a:off x="822960" y="3337560"/>
            <a:ext cx="3931920" cy="320040"/>
          </a:xfrm>
          <a:prstGeom prst="rect">
            <a:avLst/>
          </a:prstGeom>
          <a:noFill/>
        </p:spPr>
        <p:txBody>
          <a:bodyPr wrap="square">
            <a:noAutofit/>
          </a:bodyPr>
          <a:lstStyle/>
          <a:p>
            <a:pPr algn="l">
              <a:spcBef>
                <a:spcPts val="0"/>
              </a:spcBef>
              <a:spcAft>
                <a:spcPts val="0"/>
              </a:spcAft>
              <a:defRPr sz="1700" b="0">
                <a:solidFill>
                  <a:srgbClr val="F0F3F7"/>
                </a:solidFill>
                <a:latin typeface="Arial"/>
              </a:defRPr>
            </a:pPr>
            <a:r>
              <a:t>Pediatric Stabilization Only</a:t>
            </a:r>
          </a:p>
        </p:txBody>
      </p:sp>
      <p:sp>
        <p:nvSpPr>
          <p:cNvPr id="13" name="TextBox 12"/>
          <p:cNvSpPr txBox="1"/>
          <p:nvPr/>
        </p:nvSpPr>
        <p:spPr>
          <a:xfrm>
            <a:off x="4572000" y="3337560"/>
            <a:ext cx="1097280" cy="320040"/>
          </a:xfrm>
          <a:prstGeom prst="rect">
            <a:avLst/>
          </a:prstGeom>
          <a:noFill/>
        </p:spPr>
        <p:txBody>
          <a:bodyPr wrap="square">
            <a:noAutofit/>
          </a:bodyPr>
          <a:lstStyle/>
          <a:p>
            <a:pPr algn="r">
              <a:spcBef>
                <a:spcPts val="0"/>
              </a:spcBef>
              <a:spcAft>
                <a:spcPts val="0"/>
              </a:spcAft>
              <a:defRPr sz="1700" b="1">
                <a:solidFill>
                  <a:srgbClr val="009E73"/>
                </a:solidFill>
                <a:latin typeface="Arial"/>
              </a:defRPr>
            </a:pPr>
            <a:r>
              <a:t>0.25</a:t>
            </a:r>
          </a:p>
        </p:txBody>
      </p:sp>
      <p:sp>
        <p:nvSpPr>
          <p:cNvPr id="14" name="Rounded Rectangle 13"/>
          <p:cNvSpPr/>
          <p:nvPr/>
        </p:nvSpPr>
        <p:spPr>
          <a:xfrm>
            <a:off x="640080" y="4114800"/>
            <a:ext cx="5120640" cy="20116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251960"/>
            <a:ext cx="4754880" cy="320040"/>
          </a:xfrm>
          <a:prstGeom prst="rect">
            <a:avLst/>
          </a:prstGeom>
          <a:noFill/>
        </p:spPr>
        <p:txBody>
          <a:bodyPr wrap="square">
            <a:noAutofit/>
          </a:bodyPr>
          <a:lstStyle/>
          <a:p>
            <a:pPr algn="l">
              <a:spcBef>
                <a:spcPts val="0"/>
              </a:spcBef>
              <a:spcAft>
                <a:spcPts val="0"/>
              </a:spcAft>
              <a:defRPr sz="1900" b="1">
                <a:solidFill>
                  <a:srgbClr val="009E73"/>
                </a:solidFill>
                <a:latin typeface="Arial"/>
              </a:defRPr>
            </a:pPr>
            <a:r>
              <a:t>Why a separate pillar?</a:t>
            </a:r>
          </a:p>
        </p:txBody>
      </p:sp>
      <p:sp>
        <p:nvSpPr>
          <p:cNvPr id="16" name="TextBox 15"/>
          <p:cNvSpPr txBox="1"/>
          <p:nvPr/>
        </p:nvSpPr>
        <p:spPr>
          <a:xfrm>
            <a:off x="822960" y="4663440"/>
            <a:ext cx="4754880" cy="1280160"/>
          </a:xfrm>
          <a:prstGeom prst="rect">
            <a:avLst/>
          </a:prstGeom>
          <a:noFill/>
        </p:spPr>
        <p:txBody>
          <a:bodyPr wrap="square">
            <a:noAutofit/>
          </a:bodyPr>
          <a:lstStyle/>
          <a:p>
            <a:pPr algn="l">
              <a:lnSpc>
                <a:spcPts val="2600"/>
              </a:lnSpc>
              <a:spcBef>
                <a:spcPts val="0"/>
              </a:spcBef>
              <a:spcAft>
                <a:spcPts val="0"/>
              </a:spcAft>
              <a:defRPr sz="1700" b="0">
                <a:solidFill>
                  <a:srgbClr val="F0F3F7"/>
                </a:solidFill>
                <a:latin typeface="Arial"/>
              </a:defRPr>
            </a:pPr>
            <a:r>
              <a:t>Pediatric burns need different expertise</a:t>
            </a:r>
          </a:p>
          <a:p>
            <a:pPr algn="l">
              <a:lnSpc>
                <a:spcPts val="2600"/>
              </a:lnSpc>
              <a:spcBef>
                <a:spcPts val="0"/>
              </a:spcBef>
              <a:spcAft>
                <a:spcPts val="0"/>
              </a:spcAft>
              <a:defRPr sz="1700" b="0">
                <a:solidFill>
                  <a:srgbClr val="F0F3F7"/>
                </a:solidFill>
                <a:latin typeface="Arial"/>
              </a:defRPr>
            </a:pPr>
            <a:r>
              <a:t>and equipment. A community can have</a:t>
            </a:r>
          </a:p>
          <a:p>
            <a:pPr algn="l">
              <a:lnSpc>
                <a:spcPts val="2600"/>
              </a:lnSpc>
              <a:spcBef>
                <a:spcPts val="0"/>
              </a:spcBef>
              <a:spcAft>
                <a:spcPts val="0"/>
              </a:spcAft>
              <a:defRPr sz="1700" b="0">
                <a:solidFill>
                  <a:srgbClr val="F0F3F7"/>
                </a:solidFill>
                <a:latin typeface="Arial"/>
              </a:defRPr>
            </a:pPr>
            <a:r>
              <a:t>adult access but zero pediatric capability.</a:t>
            </a:r>
          </a:p>
        </p:txBody>
      </p:sp>
      <p:sp>
        <p:nvSpPr>
          <p:cNvPr id="17" name="Rectangle 16"/>
          <p:cNvSpPr/>
          <p:nvPr/>
        </p:nvSpPr>
        <p:spPr>
          <a:xfrm>
            <a:off x="6217920" y="0"/>
            <a:ext cx="5943600" cy="54864"/>
          </a:xfrm>
          <a:prstGeom prst="rect">
            <a:avLst/>
          </a:prstGeom>
          <a:solidFill>
            <a:srgbClr val="56B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274320"/>
            <a:ext cx="731520" cy="548640"/>
          </a:xfrm>
          <a:prstGeom prst="rect">
            <a:avLst/>
          </a:prstGeom>
          <a:noFill/>
        </p:spPr>
        <p:txBody>
          <a:bodyPr wrap="square">
            <a:noAutofit/>
          </a:bodyPr>
          <a:lstStyle/>
          <a:p>
            <a:pPr algn="l">
              <a:spcBef>
                <a:spcPts val="0"/>
              </a:spcBef>
              <a:spcAft>
                <a:spcPts val="0"/>
              </a:spcAft>
              <a:defRPr sz="3400" b="1">
                <a:solidFill>
                  <a:srgbClr val="56B4E9"/>
                </a:solidFill>
                <a:latin typeface="Arial"/>
              </a:defRPr>
            </a:pPr>
            <a:r>
              <a:t>C</a:t>
            </a:r>
          </a:p>
        </p:txBody>
      </p:sp>
      <p:sp>
        <p:nvSpPr>
          <p:cNvPr id="19" name="TextBox 18"/>
          <p:cNvSpPr txBox="1"/>
          <p:nvPr/>
        </p:nvSpPr>
        <p:spPr>
          <a:xfrm>
            <a:off x="7132320" y="274320"/>
            <a:ext cx="4754880" cy="548640"/>
          </a:xfrm>
          <a:prstGeom prst="rect">
            <a:avLst/>
          </a:prstGeom>
          <a:noFill/>
        </p:spPr>
        <p:txBody>
          <a:bodyPr wrap="square">
            <a:noAutofit/>
          </a:bodyPr>
          <a:lstStyle/>
          <a:p>
            <a:pPr algn="l">
              <a:spcBef>
                <a:spcPts val="0"/>
              </a:spcBef>
              <a:spcAft>
                <a:spcPts val="0"/>
              </a:spcAft>
              <a:defRPr sz="3000" b="1">
                <a:solidFill>
                  <a:srgbClr val="F0F3F7"/>
                </a:solidFill>
                <a:latin typeface="Arial"/>
              </a:defRPr>
            </a:pPr>
            <a:r>
              <a:t>Structural Capacity Gap  (25%)</a:t>
            </a:r>
          </a:p>
        </p:txBody>
      </p:sp>
      <p:sp>
        <p:nvSpPr>
          <p:cNvPr id="20" name="TextBox 19"/>
          <p:cNvSpPr txBox="1"/>
          <p:nvPr/>
        </p:nvSpPr>
        <p:spPr>
          <a:xfrm>
            <a:off x="6400800" y="1005840"/>
            <a:ext cx="5120640" cy="1005840"/>
          </a:xfrm>
          <a:prstGeom prst="rect">
            <a:avLst/>
          </a:prstGeom>
          <a:noFill/>
        </p:spPr>
        <p:txBody>
          <a:bodyPr wrap="square">
            <a:noAutofit/>
          </a:bodyPr>
          <a:lstStyle/>
          <a:p>
            <a:pPr algn="l">
              <a:lnSpc>
                <a:spcPts val="2600"/>
              </a:lnSpc>
              <a:spcBef>
                <a:spcPts val="0"/>
              </a:spcBef>
              <a:spcAft>
                <a:spcPts val="0"/>
              </a:spcAft>
              <a:defRPr sz="1800" b="0">
                <a:solidFill>
                  <a:srgbClr val="9EADBD"/>
                </a:solidFill>
                <a:latin typeface="Arial"/>
              </a:defRPr>
            </a:pPr>
            <a:r>
              <a:t>Measures burn-bed adequacy relative</a:t>
            </a:r>
          </a:p>
          <a:p>
            <a:pPr algn="l">
              <a:lnSpc>
                <a:spcPts val="2600"/>
              </a:lnSpc>
              <a:spcBef>
                <a:spcPts val="0"/>
              </a:spcBef>
              <a:spcAft>
                <a:spcPts val="0"/>
              </a:spcAft>
              <a:defRPr sz="1800" b="0">
                <a:solidFill>
                  <a:srgbClr val="9EADBD"/>
                </a:solidFill>
                <a:latin typeface="Arial"/>
              </a:defRPr>
            </a:pPr>
            <a:r>
              <a:t>to surrounding population, weighted</a:t>
            </a:r>
          </a:p>
          <a:p>
            <a:pPr algn="l">
              <a:lnSpc>
                <a:spcPts val="2600"/>
              </a:lnSpc>
              <a:spcBef>
                <a:spcPts val="0"/>
              </a:spcBef>
              <a:spcAft>
                <a:spcPts val="0"/>
              </a:spcAft>
              <a:defRPr sz="1800" b="0">
                <a:solidFill>
                  <a:srgbClr val="9EADBD"/>
                </a:solidFill>
                <a:latin typeface="Arial"/>
              </a:defRPr>
            </a:pPr>
            <a:r>
              <a:t>by distance.</a:t>
            </a:r>
          </a:p>
        </p:txBody>
      </p:sp>
      <p:sp>
        <p:nvSpPr>
          <p:cNvPr id="21" name="Rounded Rectangle 20"/>
          <p:cNvSpPr/>
          <p:nvPr/>
        </p:nvSpPr>
        <p:spPr>
          <a:xfrm>
            <a:off x="6400800" y="2011680"/>
            <a:ext cx="5303520" cy="182880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0" y="2148840"/>
            <a:ext cx="4754880" cy="320040"/>
          </a:xfrm>
          <a:prstGeom prst="rect">
            <a:avLst/>
          </a:prstGeom>
          <a:noFill/>
        </p:spPr>
        <p:txBody>
          <a:bodyPr wrap="square">
            <a:noAutofit/>
          </a:bodyPr>
          <a:lstStyle/>
          <a:p>
            <a:pPr algn="l">
              <a:spcBef>
                <a:spcPts val="0"/>
              </a:spcBef>
              <a:spcAft>
                <a:spcPts val="0"/>
              </a:spcAft>
              <a:defRPr sz="1800" b="1">
                <a:solidFill>
                  <a:srgbClr val="56B4E9"/>
                </a:solidFill>
                <a:latin typeface="Consolas"/>
              </a:defRPr>
            </a:pPr>
            <a:r>
              <a:t>Effective Beds = BURN_BEDS × u</a:t>
            </a:r>
          </a:p>
        </p:txBody>
      </p:sp>
      <p:sp>
        <p:nvSpPr>
          <p:cNvPr id="23" name="TextBox 22"/>
          <p:cNvSpPr txBox="1"/>
          <p:nvPr/>
        </p:nvSpPr>
        <p:spPr>
          <a:xfrm>
            <a:off x="6675120" y="2560320"/>
            <a:ext cx="4754880" cy="1005840"/>
          </a:xfrm>
          <a:prstGeom prst="rect">
            <a:avLst/>
          </a:prstGeom>
          <a:noFill/>
        </p:spPr>
        <p:txBody>
          <a:bodyPr wrap="square">
            <a:noAutofit/>
          </a:bodyPr>
          <a:lstStyle/>
          <a:p>
            <a:pPr algn="l">
              <a:lnSpc>
                <a:spcPts val="2600"/>
              </a:lnSpc>
              <a:spcBef>
                <a:spcPts val="0"/>
              </a:spcBef>
              <a:spcAft>
                <a:spcPts val="0"/>
              </a:spcAft>
              <a:defRPr sz="1700" b="0">
                <a:solidFill>
                  <a:srgbClr val="F0F3F7"/>
                </a:solidFill>
                <a:latin typeface="Arial"/>
              </a:defRPr>
            </a:pPr>
            <a:r>
              <a:t>u = capacity utilization factor</a:t>
            </a:r>
          </a:p>
          <a:p>
            <a:pPr algn="l">
              <a:lnSpc>
                <a:spcPts val="2600"/>
              </a:lnSpc>
              <a:spcBef>
                <a:spcPts val="0"/>
              </a:spcBef>
              <a:spcAft>
                <a:spcPts val="0"/>
              </a:spcAft>
              <a:defRPr sz="1700" b="0">
                <a:solidFill>
                  <a:srgbClr val="F0F3F7"/>
                </a:solidFill>
                <a:latin typeface="Arial"/>
              </a:defRPr>
            </a:pPr>
            <a:r>
              <a:t>Baseline: u = 1.0 (structural)</a:t>
            </a:r>
          </a:p>
          <a:p>
            <a:pPr algn="l">
              <a:lnSpc>
                <a:spcPts val="2600"/>
              </a:lnSpc>
              <a:spcBef>
                <a:spcPts val="0"/>
              </a:spcBef>
              <a:spcAft>
                <a:spcPts val="0"/>
              </a:spcAft>
              <a:defRPr sz="1700" b="0">
                <a:solidFill>
                  <a:srgbClr val="F0F3F7"/>
                </a:solidFill>
                <a:latin typeface="Arial"/>
              </a:defRPr>
            </a:pPr>
            <a:r>
              <a:t>Sensitivity: u = 0.75 (conservative)</a:t>
            </a:r>
          </a:p>
        </p:txBody>
      </p:sp>
      <p:sp>
        <p:nvSpPr>
          <p:cNvPr id="24" name="Rounded Rectangle 23"/>
          <p:cNvSpPr/>
          <p:nvPr/>
        </p:nvSpPr>
        <p:spPr>
          <a:xfrm>
            <a:off x="6400800" y="4114800"/>
            <a:ext cx="5303520" cy="20116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0" y="4251960"/>
            <a:ext cx="4754880" cy="320040"/>
          </a:xfrm>
          <a:prstGeom prst="rect">
            <a:avLst/>
          </a:prstGeom>
          <a:noFill/>
        </p:spPr>
        <p:txBody>
          <a:bodyPr wrap="square">
            <a:noAutofit/>
          </a:bodyPr>
          <a:lstStyle/>
          <a:p>
            <a:pPr algn="l">
              <a:spcBef>
                <a:spcPts val="0"/>
              </a:spcBef>
              <a:spcAft>
                <a:spcPts val="0"/>
              </a:spcAft>
              <a:defRPr sz="1900" b="1">
                <a:solidFill>
                  <a:srgbClr val="56B4E9"/>
                </a:solidFill>
                <a:latin typeface="Arial"/>
              </a:defRPr>
            </a:pPr>
            <a:r>
              <a:t>The national picture</a:t>
            </a:r>
          </a:p>
        </p:txBody>
      </p:sp>
      <p:sp>
        <p:nvSpPr>
          <p:cNvPr id="26" name="TextBox 25"/>
          <p:cNvSpPr txBox="1"/>
          <p:nvPr/>
        </p:nvSpPr>
        <p:spPr>
          <a:xfrm>
            <a:off x="6675120" y="4663440"/>
            <a:ext cx="4754880" cy="1280160"/>
          </a:xfrm>
          <a:prstGeom prst="rect">
            <a:avLst/>
          </a:prstGeom>
          <a:noFill/>
        </p:spPr>
        <p:txBody>
          <a:bodyPr wrap="square">
            <a:noAutofit/>
          </a:bodyPr>
          <a:lstStyle/>
          <a:p>
            <a:pPr algn="l">
              <a:lnSpc>
                <a:spcPts val="2600"/>
              </a:lnSpc>
              <a:spcBef>
                <a:spcPts val="0"/>
              </a:spcBef>
              <a:spcAft>
                <a:spcPts val="0"/>
              </a:spcAft>
              <a:defRPr sz="1700" b="0">
                <a:solidFill>
                  <a:srgbClr val="F0F3F7"/>
                </a:solidFill>
                <a:latin typeface="Arial"/>
              </a:defRPr>
            </a:pPr>
            <a:r>
              <a:t>2,080 total US burn beds</a:t>
            </a:r>
          </a:p>
          <a:p>
            <a:pPr algn="l">
              <a:lnSpc>
                <a:spcPts val="2600"/>
              </a:lnSpc>
              <a:spcBef>
                <a:spcPts val="0"/>
              </a:spcBef>
              <a:spcAft>
                <a:spcPts val="0"/>
              </a:spcAft>
              <a:defRPr sz="1700" b="0">
                <a:solidFill>
                  <a:srgbClr val="F0F3F7"/>
                </a:solidFill>
                <a:latin typeface="Arial"/>
              </a:defRPr>
            </a:pPr>
            <a:r>
              <a:t>= 0.63 beds per 100,000 people</a:t>
            </a:r>
          </a:p>
          <a:p>
            <a:pPr algn="l">
              <a:lnSpc>
                <a:spcPts val="2600"/>
              </a:lnSpc>
              <a:spcBef>
                <a:spcPts val="0"/>
              </a:spcBef>
              <a:spcAft>
                <a:spcPts val="0"/>
              </a:spcAft>
              <a:defRPr sz="1700" b="0">
                <a:solidFill>
                  <a:srgbClr val="F0F3F7"/>
                </a:solidFill>
                <a:latin typeface="Arial"/>
              </a:defRPr>
            </a:pPr>
            <a:r>
              <a:t>Concentrated in urban corridors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TextBox 1"/>
          <p:cNvSpPr txBox="1"/>
          <p:nvPr/>
        </p:nvSpPr>
        <p:spPr>
          <a:xfrm>
            <a:off x="640080" y="274320"/>
            <a:ext cx="10972800" cy="548640"/>
          </a:xfrm>
          <a:prstGeom prst="rect">
            <a:avLst/>
          </a:prstGeom>
          <a:noFill/>
        </p:spPr>
        <p:txBody>
          <a:bodyPr wrap="square">
            <a:noAutofit/>
          </a:bodyPr>
          <a:lstStyle/>
          <a:p>
            <a:pPr algn="l">
              <a:spcBef>
                <a:spcPts val="0"/>
              </a:spcBef>
              <a:spcAft>
                <a:spcPts val="0"/>
              </a:spcAft>
              <a:defRPr sz="3800" b="1">
                <a:solidFill>
                  <a:srgbClr val="F0F3F7"/>
                </a:solidFill>
                <a:latin typeface="Arial"/>
              </a:defRPr>
            </a:pPr>
            <a:r>
              <a:t>Data Sources &amp; Integration</a:t>
            </a:r>
          </a:p>
        </p:txBody>
      </p:sp>
      <p:sp>
        <p:nvSpPr>
          <p:cNvPr id="3" name="TextBox 2"/>
          <p:cNvSpPr txBox="1"/>
          <p:nvPr/>
        </p:nvSpPr>
        <p:spPr>
          <a:xfrm>
            <a:off x="640080" y="822960"/>
            <a:ext cx="10972800" cy="365760"/>
          </a:xfrm>
          <a:prstGeom prst="rect">
            <a:avLst/>
          </a:prstGeom>
          <a:noFill/>
        </p:spPr>
        <p:txBody>
          <a:bodyPr wrap="square">
            <a:noAutofit/>
          </a:bodyPr>
          <a:lstStyle/>
          <a:p>
            <a:pPr algn="l">
              <a:spcBef>
                <a:spcPts val="0"/>
              </a:spcBef>
              <a:spcAft>
                <a:spcPts val="0"/>
              </a:spcAft>
              <a:defRPr sz="2000" b="0">
                <a:solidFill>
                  <a:srgbClr val="9EADBD"/>
                </a:solidFill>
                <a:latin typeface="Arial"/>
              </a:defRPr>
            </a:pPr>
            <a:r>
              <a:t>Every source is public or challenge-provided -- fully reproducible</a:t>
            </a:r>
          </a:p>
        </p:txBody>
      </p:sp>
      <p:sp>
        <p:nvSpPr>
          <p:cNvPr id="4" name="Rounded Rectangle 3"/>
          <p:cNvSpPr/>
          <p:nvPr/>
        </p:nvSpPr>
        <p:spPr>
          <a:xfrm>
            <a:off x="457200" y="1463040"/>
            <a:ext cx="3566160" cy="210312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00200"/>
            <a:ext cx="3108960" cy="640080"/>
          </a:xfrm>
          <a:prstGeom prst="rect">
            <a:avLst/>
          </a:prstGeom>
          <a:noFill/>
        </p:spPr>
        <p:txBody>
          <a:bodyPr wrap="square">
            <a:noAutofit/>
          </a:bodyPr>
          <a:lstStyle/>
          <a:p>
            <a:pPr algn="l">
              <a:lnSpc>
                <a:spcPts val="2400"/>
              </a:lnSpc>
              <a:spcBef>
                <a:spcPts val="0"/>
              </a:spcBef>
              <a:spcAft>
                <a:spcPts val="0"/>
              </a:spcAft>
              <a:defRPr sz="1900" b="1">
                <a:solidFill>
                  <a:srgbClr val="56B4E9"/>
                </a:solidFill>
                <a:latin typeface="Arial"/>
              </a:defRPr>
            </a:pPr>
            <a:r>
              <a:t>NIRD</a:t>
            </a:r>
          </a:p>
        </p:txBody>
      </p:sp>
      <p:sp>
        <p:nvSpPr>
          <p:cNvPr id="6" name="TextBox 5"/>
          <p:cNvSpPr txBox="1"/>
          <p:nvPr/>
        </p:nvSpPr>
        <p:spPr>
          <a:xfrm>
            <a:off x="685800" y="2286000"/>
            <a:ext cx="3108960" cy="1005840"/>
          </a:xfrm>
          <a:prstGeom prst="rect">
            <a:avLst/>
          </a:prstGeom>
          <a:noFill/>
        </p:spPr>
        <p:txBody>
          <a:bodyPr wrap="square">
            <a:noAutofit/>
          </a:bodyPr>
          <a:lstStyle/>
          <a:p>
            <a:pPr algn="l">
              <a:lnSpc>
                <a:spcPts val="2400"/>
              </a:lnSpc>
              <a:spcBef>
                <a:spcPts val="0"/>
              </a:spcBef>
              <a:spcAft>
                <a:spcPts val="0"/>
              </a:spcAft>
              <a:defRPr sz="1700" b="0">
                <a:solidFill>
                  <a:srgbClr val="F0F3F7"/>
                </a:solidFill>
                <a:latin typeface="Arial"/>
              </a:defRPr>
            </a:pPr>
            <a:r>
              <a:t>635 facilities with burn</a:t>
            </a:r>
          </a:p>
          <a:p>
            <a:pPr algn="l">
              <a:lnSpc>
                <a:spcPts val="2400"/>
              </a:lnSpc>
              <a:spcBef>
                <a:spcPts val="0"/>
              </a:spcBef>
              <a:spcAft>
                <a:spcPts val="0"/>
              </a:spcAft>
              <a:defRPr sz="1700" b="0">
                <a:solidFill>
                  <a:srgbClr val="F0F3F7"/>
                </a:solidFill>
                <a:latin typeface="Arial"/>
              </a:defRPr>
            </a:pPr>
            <a:r>
              <a:t>designation and bed counts</a:t>
            </a:r>
          </a:p>
        </p:txBody>
      </p:sp>
      <p:sp>
        <p:nvSpPr>
          <p:cNvPr id="7" name="Rounded Rectangle 6"/>
          <p:cNvSpPr/>
          <p:nvPr/>
        </p:nvSpPr>
        <p:spPr>
          <a:xfrm>
            <a:off x="4251960" y="1463040"/>
            <a:ext cx="3566160" cy="210312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1600200"/>
            <a:ext cx="3108960" cy="640080"/>
          </a:xfrm>
          <a:prstGeom prst="rect">
            <a:avLst/>
          </a:prstGeom>
          <a:noFill/>
        </p:spPr>
        <p:txBody>
          <a:bodyPr wrap="square">
            <a:noAutofit/>
          </a:bodyPr>
          <a:lstStyle/>
          <a:p>
            <a:pPr algn="l">
              <a:lnSpc>
                <a:spcPts val="2400"/>
              </a:lnSpc>
              <a:spcBef>
                <a:spcPts val="0"/>
              </a:spcBef>
              <a:spcAft>
                <a:spcPts val="0"/>
              </a:spcAft>
              <a:defRPr sz="1900" b="1">
                <a:solidFill>
                  <a:srgbClr val="E69F00"/>
                </a:solidFill>
                <a:latin typeface="Arial"/>
              </a:defRPr>
            </a:pPr>
            <a:r>
              <a:t>US Census (ACS)</a:t>
            </a:r>
          </a:p>
        </p:txBody>
      </p:sp>
      <p:sp>
        <p:nvSpPr>
          <p:cNvPr id="9" name="TextBox 8"/>
          <p:cNvSpPr txBox="1"/>
          <p:nvPr/>
        </p:nvSpPr>
        <p:spPr>
          <a:xfrm>
            <a:off x="4480560" y="2286000"/>
            <a:ext cx="3108960" cy="1005840"/>
          </a:xfrm>
          <a:prstGeom prst="rect">
            <a:avLst/>
          </a:prstGeom>
          <a:noFill/>
        </p:spPr>
        <p:txBody>
          <a:bodyPr wrap="square">
            <a:noAutofit/>
          </a:bodyPr>
          <a:lstStyle/>
          <a:p>
            <a:pPr algn="l">
              <a:lnSpc>
                <a:spcPts val="2400"/>
              </a:lnSpc>
              <a:spcBef>
                <a:spcPts val="0"/>
              </a:spcBef>
              <a:spcAft>
                <a:spcPts val="0"/>
              </a:spcAft>
              <a:defRPr sz="1700" b="0">
                <a:solidFill>
                  <a:srgbClr val="F0F3F7"/>
                </a:solidFill>
                <a:latin typeface="Arial"/>
              </a:defRPr>
            </a:pPr>
            <a:r>
              <a:t>84,000+ tract boundaries</a:t>
            </a:r>
          </a:p>
          <a:p>
            <a:pPr algn="l">
              <a:lnSpc>
                <a:spcPts val="2400"/>
              </a:lnSpc>
              <a:spcBef>
                <a:spcPts val="0"/>
              </a:spcBef>
              <a:spcAft>
                <a:spcPts val="0"/>
              </a:spcAft>
              <a:defRPr sz="1700" b="0">
                <a:solidFill>
                  <a:srgbClr val="F0F3F7"/>
                </a:solidFill>
                <a:latin typeface="Arial"/>
              </a:defRPr>
            </a:pPr>
            <a:r>
              <a:t>and population data</a:t>
            </a:r>
          </a:p>
        </p:txBody>
      </p:sp>
      <p:sp>
        <p:nvSpPr>
          <p:cNvPr id="10" name="Rounded Rectangle 9"/>
          <p:cNvSpPr/>
          <p:nvPr/>
        </p:nvSpPr>
        <p:spPr>
          <a:xfrm>
            <a:off x="8046720" y="1463040"/>
            <a:ext cx="3566160" cy="210312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20" y="1600200"/>
            <a:ext cx="3108960" cy="640080"/>
          </a:xfrm>
          <a:prstGeom prst="rect">
            <a:avLst/>
          </a:prstGeom>
          <a:noFill/>
        </p:spPr>
        <p:txBody>
          <a:bodyPr wrap="square">
            <a:noAutofit/>
          </a:bodyPr>
          <a:lstStyle/>
          <a:p>
            <a:pPr algn="l">
              <a:lnSpc>
                <a:spcPts val="2400"/>
              </a:lnSpc>
              <a:spcBef>
                <a:spcPts val="0"/>
              </a:spcBef>
              <a:spcAft>
                <a:spcPts val="0"/>
              </a:spcAft>
              <a:defRPr sz="1900" b="1">
                <a:solidFill>
                  <a:srgbClr val="009E73"/>
                </a:solidFill>
                <a:latin typeface="Arial"/>
              </a:defRPr>
            </a:pPr>
            <a:r>
              <a:t>OpenStreetMap</a:t>
            </a:r>
          </a:p>
          <a:p>
            <a:pPr algn="l">
              <a:lnSpc>
                <a:spcPts val="2400"/>
              </a:lnSpc>
              <a:spcBef>
                <a:spcPts val="0"/>
              </a:spcBef>
              <a:spcAft>
                <a:spcPts val="0"/>
              </a:spcAft>
              <a:defRPr sz="1900" b="1">
                <a:solidFill>
                  <a:srgbClr val="009E73"/>
                </a:solidFill>
                <a:latin typeface="Arial"/>
              </a:defRPr>
            </a:pPr>
            <a:r>
              <a:t>+ Valhalla</a:t>
            </a:r>
          </a:p>
        </p:txBody>
      </p:sp>
      <p:sp>
        <p:nvSpPr>
          <p:cNvPr id="12" name="TextBox 11"/>
          <p:cNvSpPr txBox="1"/>
          <p:nvPr/>
        </p:nvSpPr>
        <p:spPr>
          <a:xfrm>
            <a:off x="8275320" y="2286000"/>
            <a:ext cx="3108960" cy="1005840"/>
          </a:xfrm>
          <a:prstGeom prst="rect">
            <a:avLst/>
          </a:prstGeom>
          <a:noFill/>
        </p:spPr>
        <p:txBody>
          <a:bodyPr wrap="square">
            <a:noAutofit/>
          </a:bodyPr>
          <a:lstStyle/>
          <a:p>
            <a:pPr algn="l">
              <a:lnSpc>
                <a:spcPts val="2400"/>
              </a:lnSpc>
              <a:spcBef>
                <a:spcPts val="0"/>
              </a:spcBef>
              <a:spcAft>
                <a:spcPts val="0"/>
              </a:spcAft>
              <a:defRPr sz="1700" b="0">
                <a:solidFill>
                  <a:srgbClr val="F0F3F7"/>
                </a:solidFill>
                <a:latin typeface="Arial"/>
              </a:defRPr>
            </a:pPr>
            <a:r>
              <a:t>Real road-network travel</a:t>
            </a:r>
          </a:p>
          <a:p>
            <a:pPr algn="l">
              <a:lnSpc>
                <a:spcPts val="2400"/>
              </a:lnSpc>
              <a:spcBef>
                <a:spcPts val="0"/>
              </a:spcBef>
              <a:spcAft>
                <a:spcPts val="0"/>
              </a:spcAft>
              <a:defRPr sz="1700" b="0">
                <a:solidFill>
                  <a:srgbClr val="F0F3F7"/>
                </a:solidFill>
                <a:latin typeface="Arial"/>
              </a:defRPr>
            </a:pPr>
            <a:r>
              <a:t>times, not estimates</a:t>
            </a:r>
          </a:p>
        </p:txBody>
      </p:sp>
      <p:sp>
        <p:nvSpPr>
          <p:cNvPr id="13" name="Rounded Rectangle 12"/>
          <p:cNvSpPr/>
          <p:nvPr/>
        </p:nvSpPr>
        <p:spPr>
          <a:xfrm>
            <a:off x="457200" y="3840480"/>
            <a:ext cx="3566160" cy="210312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977640"/>
            <a:ext cx="3108960" cy="640080"/>
          </a:xfrm>
          <a:prstGeom prst="rect">
            <a:avLst/>
          </a:prstGeom>
          <a:noFill/>
        </p:spPr>
        <p:txBody>
          <a:bodyPr wrap="square">
            <a:noAutofit/>
          </a:bodyPr>
          <a:lstStyle/>
          <a:p>
            <a:pPr algn="l">
              <a:lnSpc>
                <a:spcPts val="2400"/>
              </a:lnSpc>
              <a:spcBef>
                <a:spcPts val="0"/>
              </a:spcBef>
              <a:spcAft>
                <a:spcPts val="0"/>
              </a:spcAft>
              <a:defRPr sz="1900" b="1">
                <a:solidFill>
                  <a:srgbClr val="CC79A7"/>
                </a:solidFill>
                <a:latin typeface="Arial"/>
              </a:defRPr>
            </a:pPr>
            <a:r>
              <a:t>RUCA Codes</a:t>
            </a:r>
          </a:p>
        </p:txBody>
      </p:sp>
      <p:sp>
        <p:nvSpPr>
          <p:cNvPr id="15" name="TextBox 14"/>
          <p:cNvSpPr txBox="1"/>
          <p:nvPr/>
        </p:nvSpPr>
        <p:spPr>
          <a:xfrm>
            <a:off x="685800" y="4663440"/>
            <a:ext cx="3108960" cy="1005840"/>
          </a:xfrm>
          <a:prstGeom prst="rect">
            <a:avLst/>
          </a:prstGeom>
          <a:noFill/>
        </p:spPr>
        <p:txBody>
          <a:bodyPr wrap="square">
            <a:noAutofit/>
          </a:bodyPr>
          <a:lstStyle/>
          <a:p>
            <a:pPr algn="l">
              <a:lnSpc>
                <a:spcPts val="2400"/>
              </a:lnSpc>
              <a:spcBef>
                <a:spcPts val="0"/>
              </a:spcBef>
              <a:spcAft>
                <a:spcPts val="0"/>
              </a:spcAft>
              <a:defRPr sz="1700" b="0">
                <a:solidFill>
                  <a:srgbClr val="F0F3F7"/>
                </a:solidFill>
                <a:latin typeface="Arial"/>
              </a:defRPr>
            </a:pPr>
            <a:r>
              <a:t>Rural-urban classification</a:t>
            </a:r>
          </a:p>
          <a:p>
            <a:pPr algn="l">
              <a:lnSpc>
                <a:spcPts val="2400"/>
              </a:lnSpc>
              <a:spcBef>
                <a:spcPts val="0"/>
              </a:spcBef>
              <a:spcAft>
                <a:spcPts val="0"/>
              </a:spcAft>
              <a:defRPr sz="1700" b="0">
                <a:solidFill>
                  <a:srgbClr val="F0F3F7"/>
                </a:solidFill>
                <a:latin typeface="Arial"/>
              </a:defRPr>
            </a:pPr>
            <a:r>
              <a:t>for every census tract</a:t>
            </a:r>
          </a:p>
        </p:txBody>
      </p:sp>
      <p:sp>
        <p:nvSpPr>
          <p:cNvPr id="16" name="Rounded Rectangle 15"/>
          <p:cNvSpPr/>
          <p:nvPr/>
        </p:nvSpPr>
        <p:spPr>
          <a:xfrm>
            <a:off x="4251960" y="3840480"/>
            <a:ext cx="3566160" cy="210312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3977640"/>
            <a:ext cx="3108960" cy="640080"/>
          </a:xfrm>
          <a:prstGeom prst="rect">
            <a:avLst/>
          </a:prstGeom>
          <a:noFill/>
        </p:spPr>
        <p:txBody>
          <a:bodyPr wrap="square">
            <a:noAutofit/>
          </a:bodyPr>
          <a:lstStyle/>
          <a:p>
            <a:pPr algn="l">
              <a:lnSpc>
                <a:spcPts val="2400"/>
              </a:lnSpc>
              <a:spcBef>
                <a:spcPts val="0"/>
              </a:spcBef>
              <a:spcAft>
                <a:spcPts val="0"/>
              </a:spcAft>
              <a:defRPr sz="1900" b="1">
                <a:solidFill>
                  <a:srgbClr val="9EADBD"/>
                </a:solidFill>
                <a:latin typeface="Arial"/>
              </a:defRPr>
            </a:pPr>
            <a:r>
              <a:t>CDC SVI</a:t>
            </a:r>
          </a:p>
        </p:txBody>
      </p:sp>
      <p:sp>
        <p:nvSpPr>
          <p:cNvPr id="18" name="TextBox 17"/>
          <p:cNvSpPr txBox="1"/>
          <p:nvPr/>
        </p:nvSpPr>
        <p:spPr>
          <a:xfrm>
            <a:off x="4480560" y="4663440"/>
            <a:ext cx="3108960" cy="1005840"/>
          </a:xfrm>
          <a:prstGeom prst="rect">
            <a:avLst/>
          </a:prstGeom>
          <a:noFill/>
        </p:spPr>
        <p:txBody>
          <a:bodyPr wrap="square">
            <a:noAutofit/>
          </a:bodyPr>
          <a:lstStyle/>
          <a:p>
            <a:pPr algn="l">
              <a:lnSpc>
                <a:spcPts val="2400"/>
              </a:lnSpc>
              <a:spcBef>
                <a:spcPts val="0"/>
              </a:spcBef>
              <a:spcAft>
                <a:spcPts val="0"/>
              </a:spcAft>
              <a:defRPr sz="1700" b="0">
                <a:solidFill>
                  <a:srgbClr val="F0F3F7"/>
                </a:solidFill>
                <a:latin typeface="Arial"/>
              </a:defRPr>
            </a:pPr>
            <a:r>
              <a:t>Social vulnerability overlay</a:t>
            </a:r>
          </a:p>
          <a:p>
            <a:pPr algn="l">
              <a:lnSpc>
                <a:spcPts val="2400"/>
              </a:lnSpc>
              <a:spcBef>
                <a:spcPts val="0"/>
              </a:spcBef>
              <a:spcAft>
                <a:spcPts val="0"/>
              </a:spcAft>
              <a:defRPr sz="1700" b="0">
                <a:solidFill>
                  <a:srgbClr val="F0F3F7"/>
                </a:solidFill>
                <a:latin typeface="Arial"/>
              </a:defRPr>
            </a:pPr>
            <a:r>
              <a:t>(kept outside core BEI)</a:t>
            </a:r>
          </a:p>
        </p:txBody>
      </p:sp>
      <p:sp>
        <p:nvSpPr>
          <p:cNvPr id="19" name="Rounded Rectangle 18"/>
          <p:cNvSpPr/>
          <p:nvPr/>
        </p:nvSpPr>
        <p:spPr>
          <a:xfrm>
            <a:off x="8046720" y="3840480"/>
            <a:ext cx="3566160" cy="210312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3977640"/>
            <a:ext cx="3108960" cy="640080"/>
          </a:xfrm>
          <a:prstGeom prst="rect">
            <a:avLst/>
          </a:prstGeom>
          <a:noFill/>
        </p:spPr>
        <p:txBody>
          <a:bodyPr wrap="square">
            <a:noAutofit/>
          </a:bodyPr>
          <a:lstStyle/>
          <a:p>
            <a:pPr algn="l">
              <a:lnSpc>
                <a:spcPts val="2400"/>
              </a:lnSpc>
              <a:spcBef>
                <a:spcPts val="0"/>
              </a:spcBef>
              <a:spcAft>
                <a:spcPts val="0"/>
              </a:spcAft>
              <a:defRPr sz="1900" b="1">
                <a:solidFill>
                  <a:srgbClr val="D55E00"/>
                </a:solidFill>
                <a:latin typeface="Arial"/>
              </a:defRPr>
            </a:pPr>
            <a:r>
              <a:t>FAA Airport Data</a:t>
            </a:r>
          </a:p>
        </p:txBody>
      </p:sp>
      <p:sp>
        <p:nvSpPr>
          <p:cNvPr id="21" name="TextBox 20"/>
          <p:cNvSpPr txBox="1"/>
          <p:nvPr/>
        </p:nvSpPr>
        <p:spPr>
          <a:xfrm>
            <a:off x="8275320" y="4663440"/>
            <a:ext cx="3108960" cy="1005840"/>
          </a:xfrm>
          <a:prstGeom prst="rect">
            <a:avLst/>
          </a:prstGeom>
          <a:noFill/>
        </p:spPr>
        <p:txBody>
          <a:bodyPr wrap="square">
            <a:noAutofit/>
          </a:bodyPr>
          <a:lstStyle/>
          <a:p>
            <a:pPr algn="l">
              <a:lnSpc>
                <a:spcPts val="2400"/>
              </a:lnSpc>
              <a:spcBef>
                <a:spcPts val="0"/>
              </a:spcBef>
              <a:spcAft>
                <a:spcPts val="0"/>
              </a:spcAft>
              <a:defRPr sz="1700" b="0">
                <a:solidFill>
                  <a:srgbClr val="F0F3F7"/>
                </a:solidFill>
                <a:latin typeface="Arial"/>
              </a:defRPr>
            </a:pPr>
            <a:r>
              <a:t>Heliport locations for air-</a:t>
            </a:r>
          </a:p>
          <a:p>
            <a:pPr algn="l">
              <a:lnSpc>
                <a:spcPts val="2400"/>
              </a:lnSpc>
              <a:spcBef>
                <a:spcPts val="0"/>
              </a:spcBef>
              <a:spcAft>
                <a:spcPts val="0"/>
              </a:spcAft>
              <a:defRPr sz="1700" b="0">
                <a:solidFill>
                  <a:srgbClr val="F0F3F7"/>
                </a:solidFill>
                <a:latin typeface="Arial"/>
              </a:defRPr>
            </a:pPr>
            <a:r>
              <a:t>transport sensitivity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TextBox 1"/>
          <p:cNvSpPr txBox="1"/>
          <p:nvPr/>
        </p:nvSpPr>
        <p:spPr>
          <a:xfrm>
            <a:off x="1371600" y="1828800"/>
            <a:ext cx="9418320" cy="822960"/>
          </a:xfrm>
          <a:prstGeom prst="rect">
            <a:avLst/>
          </a:prstGeom>
          <a:noFill/>
        </p:spPr>
        <p:txBody>
          <a:bodyPr wrap="square">
            <a:noAutofit/>
          </a:bodyPr>
          <a:lstStyle/>
          <a:p>
            <a:pPr algn="ctr">
              <a:spcBef>
                <a:spcPts val="0"/>
              </a:spcBef>
              <a:spcAft>
                <a:spcPts val="0"/>
              </a:spcAft>
              <a:defRPr sz="4600" b="1">
                <a:solidFill>
                  <a:srgbClr val="F0F3F7"/>
                </a:solidFill>
                <a:latin typeface="Arial"/>
              </a:defRPr>
            </a:pPr>
            <a:r>
              <a:t>What Does the Data Reveal?</a:t>
            </a:r>
          </a:p>
        </p:txBody>
      </p:sp>
      <p:sp>
        <p:nvSpPr>
          <p:cNvPr id="3" name="TextBox 2"/>
          <p:cNvSpPr txBox="1"/>
          <p:nvPr/>
        </p:nvSpPr>
        <p:spPr>
          <a:xfrm>
            <a:off x="1371600" y="2926080"/>
            <a:ext cx="9418320" cy="457200"/>
          </a:xfrm>
          <a:prstGeom prst="rect">
            <a:avLst/>
          </a:prstGeom>
          <a:noFill/>
        </p:spPr>
        <p:txBody>
          <a:bodyPr wrap="square">
            <a:noAutofit/>
          </a:bodyPr>
          <a:lstStyle/>
          <a:p>
            <a:pPr algn="ctr">
              <a:spcBef>
                <a:spcPts val="0"/>
              </a:spcBef>
              <a:spcAft>
                <a:spcPts val="0"/>
              </a:spcAft>
              <a:defRPr sz="2400" b="0">
                <a:solidFill>
                  <a:srgbClr val="E69F00"/>
                </a:solidFill>
                <a:latin typeface="Arial"/>
              </a:defRPr>
            </a:pPr>
            <a:r>
              <a:t>From method to map -- let's explore what the data shows</a:t>
            </a:r>
          </a:p>
        </p:txBody>
      </p:sp>
      <p:sp>
        <p:nvSpPr>
          <p:cNvPr id="4" name="Rounded Rectangle 3"/>
          <p:cNvSpPr/>
          <p:nvPr/>
        </p:nvSpPr>
        <p:spPr>
          <a:xfrm>
            <a:off x="731520" y="4023360"/>
            <a:ext cx="2606040" cy="150876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133088"/>
            <a:ext cx="2331720" cy="594360"/>
          </a:xfrm>
          <a:prstGeom prst="rect">
            <a:avLst/>
          </a:prstGeom>
          <a:noFill/>
        </p:spPr>
        <p:txBody>
          <a:bodyPr wrap="square">
            <a:noAutofit/>
          </a:bodyPr>
          <a:lstStyle/>
          <a:p>
            <a:pPr algn="l">
              <a:spcBef>
                <a:spcPts val="0"/>
              </a:spcBef>
              <a:spcAft>
                <a:spcPts val="0"/>
              </a:spcAft>
              <a:defRPr sz="1500" b="1">
                <a:solidFill>
                  <a:srgbClr val="9EADBD"/>
                </a:solidFill>
                <a:latin typeface="Arial"/>
              </a:defRPr>
            </a:pPr>
            <a:r>
              <a:t>MN Tracts</a:t>
            </a:r>
          </a:p>
        </p:txBody>
      </p:sp>
      <p:sp>
        <p:nvSpPr>
          <p:cNvPr id="6" name="TextBox 5"/>
          <p:cNvSpPr txBox="1"/>
          <p:nvPr/>
        </p:nvSpPr>
        <p:spPr>
          <a:xfrm>
            <a:off x="868680" y="4754880"/>
            <a:ext cx="2331720" cy="594360"/>
          </a:xfrm>
          <a:prstGeom prst="rect">
            <a:avLst/>
          </a:prstGeom>
          <a:noFill/>
        </p:spPr>
        <p:txBody>
          <a:bodyPr wrap="square">
            <a:noAutofit/>
          </a:bodyPr>
          <a:lstStyle/>
          <a:p>
            <a:pPr algn="l">
              <a:spcBef>
                <a:spcPts val="0"/>
              </a:spcBef>
              <a:spcAft>
                <a:spcPts val="0"/>
              </a:spcAft>
              <a:defRPr sz="3000" b="1">
                <a:solidFill>
                  <a:srgbClr val="56B4E9"/>
                </a:solidFill>
                <a:latin typeface="Arial"/>
              </a:defRPr>
            </a:pPr>
            <a:r>
              <a:t>1,505</a:t>
            </a:r>
          </a:p>
        </p:txBody>
      </p:sp>
      <p:sp>
        <p:nvSpPr>
          <p:cNvPr id="7" name="Rounded Rectangle 6"/>
          <p:cNvSpPr/>
          <p:nvPr/>
        </p:nvSpPr>
        <p:spPr>
          <a:xfrm>
            <a:off x="3611880" y="4023360"/>
            <a:ext cx="2606040" cy="150876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49040" y="4133088"/>
            <a:ext cx="2331720" cy="594360"/>
          </a:xfrm>
          <a:prstGeom prst="rect">
            <a:avLst/>
          </a:prstGeom>
          <a:noFill/>
        </p:spPr>
        <p:txBody>
          <a:bodyPr wrap="square">
            <a:noAutofit/>
          </a:bodyPr>
          <a:lstStyle/>
          <a:p>
            <a:pPr algn="l">
              <a:spcBef>
                <a:spcPts val="0"/>
              </a:spcBef>
              <a:spcAft>
                <a:spcPts val="0"/>
              </a:spcAft>
              <a:defRPr sz="1500" b="1">
                <a:solidFill>
                  <a:srgbClr val="9EADBD"/>
                </a:solidFill>
                <a:latin typeface="Arial"/>
              </a:defRPr>
            </a:pPr>
            <a:r>
              <a:t>MN Median BEI</a:t>
            </a:r>
          </a:p>
        </p:txBody>
      </p:sp>
      <p:sp>
        <p:nvSpPr>
          <p:cNvPr id="9" name="TextBox 8"/>
          <p:cNvSpPr txBox="1"/>
          <p:nvPr/>
        </p:nvSpPr>
        <p:spPr>
          <a:xfrm>
            <a:off x="3749040" y="4754880"/>
            <a:ext cx="2331720" cy="594360"/>
          </a:xfrm>
          <a:prstGeom prst="rect">
            <a:avLst/>
          </a:prstGeom>
          <a:noFill/>
        </p:spPr>
        <p:txBody>
          <a:bodyPr wrap="square">
            <a:noAutofit/>
          </a:bodyPr>
          <a:lstStyle/>
          <a:p>
            <a:pPr algn="l">
              <a:spcBef>
                <a:spcPts val="0"/>
              </a:spcBef>
              <a:spcAft>
                <a:spcPts val="0"/>
              </a:spcAft>
              <a:defRPr sz="3000" b="1">
                <a:solidFill>
                  <a:srgbClr val="E69F00"/>
                </a:solidFill>
                <a:latin typeface="Arial"/>
              </a:defRPr>
            </a:pPr>
            <a:r>
              <a:t>23.0</a:t>
            </a:r>
          </a:p>
        </p:txBody>
      </p:sp>
      <p:sp>
        <p:nvSpPr>
          <p:cNvPr id="10" name="Rounded Rectangle 9"/>
          <p:cNvSpPr/>
          <p:nvPr/>
        </p:nvSpPr>
        <p:spPr>
          <a:xfrm>
            <a:off x="6492240" y="4023360"/>
            <a:ext cx="2606040" cy="150876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4133088"/>
            <a:ext cx="2331720" cy="594360"/>
          </a:xfrm>
          <a:prstGeom prst="rect">
            <a:avLst/>
          </a:prstGeom>
          <a:noFill/>
        </p:spPr>
        <p:txBody>
          <a:bodyPr wrap="square">
            <a:noAutofit/>
          </a:bodyPr>
          <a:lstStyle/>
          <a:p>
            <a:pPr algn="l">
              <a:spcBef>
                <a:spcPts val="0"/>
              </a:spcBef>
              <a:spcAft>
                <a:spcPts val="0"/>
              </a:spcAft>
              <a:defRPr sz="1500" b="1">
                <a:solidFill>
                  <a:srgbClr val="9EADBD"/>
                </a:solidFill>
                <a:latin typeface="Arial"/>
              </a:defRPr>
            </a:pPr>
            <a:r>
              <a:t>High-Burden</a:t>
            </a:r>
          </a:p>
          <a:p>
            <a:pPr algn="l">
              <a:spcBef>
                <a:spcPts val="0"/>
              </a:spcBef>
              <a:spcAft>
                <a:spcPts val="0"/>
              </a:spcAft>
              <a:defRPr sz="1500" b="1">
                <a:solidFill>
                  <a:srgbClr val="9EADBD"/>
                </a:solidFill>
                <a:latin typeface="Arial"/>
              </a:defRPr>
            </a:pPr>
            <a:r>
              <a:t>(BEI ≥ 80)</a:t>
            </a:r>
          </a:p>
        </p:txBody>
      </p:sp>
      <p:sp>
        <p:nvSpPr>
          <p:cNvPr id="12" name="TextBox 11"/>
          <p:cNvSpPr txBox="1"/>
          <p:nvPr/>
        </p:nvSpPr>
        <p:spPr>
          <a:xfrm>
            <a:off x="6629400" y="4754880"/>
            <a:ext cx="2331720" cy="594360"/>
          </a:xfrm>
          <a:prstGeom prst="rect">
            <a:avLst/>
          </a:prstGeom>
          <a:noFill/>
        </p:spPr>
        <p:txBody>
          <a:bodyPr wrap="square">
            <a:noAutofit/>
          </a:bodyPr>
          <a:lstStyle/>
          <a:p>
            <a:pPr algn="l">
              <a:spcBef>
                <a:spcPts val="0"/>
              </a:spcBef>
              <a:spcAft>
                <a:spcPts val="0"/>
              </a:spcAft>
              <a:defRPr sz="3000" b="1">
                <a:solidFill>
                  <a:srgbClr val="D55E00"/>
                </a:solidFill>
                <a:latin typeface="Arial"/>
              </a:defRPr>
            </a:pPr>
            <a:r>
              <a:t>155 tracts</a:t>
            </a:r>
          </a:p>
        </p:txBody>
      </p:sp>
      <p:sp>
        <p:nvSpPr>
          <p:cNvPr id="13" name="Rounded Rectangle 12"/>
          <p:cNvSpPr/>
          <p:nvPr/>
        </p:nvSpPr>
        <p:spPr>
          <a:xfrm>
            <a:off x="9372600" y="4023360"/>
            <a:ext cx="2606040" cy="150876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60" y="4133088"/>
            <a:ext cx="2331720" cy="594360"/>
          </a:xfrm>
          <a:prstGeom prst="rect">
            <a:avLst/>
          </a:prstGeom>
          <a:noFill/>
        </p:spPr>
        <p:txBody>
          <a:bodyPr wrap="square">
            <a:noAutofit/>
          </a:bodyPr>
          <a:lstStyle/>
          <a:p>
            <a:pPr algn="l">
              <a:spcBef>
                <a:spcPts val="0"/>
              </a:spcBef>
              <a:spcAft>
                <a:spcPts val="0"/>
              </a:spcAft>
              <a:defRPr sz="1500" b="1">
                <a:solidFill>
                  <a:srgbClr val="9EADBD"/>
                </a:solidFill>
                <a:latin typeface="Arial"/>
              </a:defRPr>
            </a:pPr>
            <a:r>
              <a:t>US Counties</a:t>
            </a:r>
          </a:p>
        </p:txBody>
      </p:sp>
      <p:sp>
        <p:nvSpPr>
          <p:cNvPr id="15" name="TextBox 14"/>
          <p:cNvSpPr txBox="1"/>
          <p:nvPr/>
        </p:nvSpPr>
        <p:spPr>
          <a:xfrm>
            <a:off x="9509760" y="4754880"/>
            <a:ext cx="2331720" cy="594360"/>
          </a:xfrm>
          <a:prstGeom prst="rect">
            <a:avLst/>
          </a:prstGeom>
          <a:noFill/>
        </p:spPr>
        <p:txBody>
          <a:bodyPr wrap="square">
            <a:noAutofit/>
          </a:bodyPr>
          <a:lstStyle/>
          <a:p>
            <a:pPr algn="l">
              <a:spcBef>
                <a:spcPts val="0"/>
              </a:spcBef>
              <a:spcAft>
                <a:spcPts val="0"/>
              </a:spcAft>
              <a:defRPr sz="3000" b="1">
                <a:solidFill>
                  <a:srgbClr val="56B4E9"/>
                </a:solidFill>
                <a:latin typeface="Arial"/>
              </a:defRPr>
            </a:pPr>
            <a:r>
              <a:t>3,144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TextBox 1"/>
          <p:cNvSpPr txBox="1"/>
          <p:nvPr/>
        </p:nvSpPr>
        <p:spPr>
          <a:xfrm>
            <a:off x="640080" y="274320"/>
            <a:ext cx="10972800" cy="548640"/>
          </a:xfrm>
          <a:prstGeom prst="rect">
            <a:avLst/>
          </a:prstGeom>
          <a:noFill/>
        </p:spPr>
        <p:txBody>
          <a:bodyPr wrap="square">
            <a:noAutofit/>
          </a:bodyPr>
          <a:lstStyle/>
          <a:p>
            <a:pPr algn="l">
              <a:spcBef>
                <a:spcPts val="0"/>
              </a:spcBef>
              <a:spcAft>
                <a:spcPts val="0"/>
              </a:spcAft>
              <a:defRPr sz="3400" b="1">
                <a:solidFill>
                  <a:srgbClr val="F0F3F7"/>
                </a:solidFill>
                <a:latin typeface="Arial"/>
              </a:defRPr>
            </a:pPr>
            <a:r>
              <a:t>Minnesota: Burn Equity Index Map</a:t>
            </a:r>
          </a:p>
        </p:txBody>
      </p:sp>
      <p:sp>
        <p:nvSpPr>
          <p:cNvPr id="3" name="TextBox 2"/>
          <p:cNvSpPr txBox="1"/>
          <p:nvPr/>
        </p:nvSpPr>
        <p:spPr>
          <a:xfrm>
            <a:off x="640080" y="777240"/>
            <a:ext cx="10972800" cy="320040"/>
          </a:xfrm>
          <a:prstGeom prst="rect">
            <a:avLst/>
          </a:prstGeom>
          <a:noFill/>
        </p:spPr>
        <p:txBody>
          <a:bodyPr wrap="square">
            <a:noAutofit/>
          </a:bodyPr>
          <a:lstStyle/>
          <a:p>
            <a:pPr algn="l">
              <a:spcBef>
                <a:spcPts val="0"/>
              </a:spcBef>
              <a:spcAft>
                <a:spcPts val="0"/>
              </a:spcAft>
              <a:defRPr sz="1800" b="0">
                <a:solidFill>
                  <a:srgbClr val="9EADBD"/>
                </a:solidFill>
                <a:latin typeface="Arial"/>
              </a:defRPr>
            </a:pPr>
            <a:r>
              <a:t>Tract-level BEI scores  |  Interactive Dashboard</a:t>
            </a:r>
          </a:p>
        </p:txBody>
      </p:sp>
      <p:sp>
        <p:nvSpPr>
          <p:cNvPr id="4" name="Rounded Rectangle 3"/>
          <p:cNvSpPr/>
          <p:nvPr/>
        </p:nvSpPr>
        <p:spPr>
          <a:xfrm>
            <a:off x="640080" y="1280160"/>
            <a:ext cx="7589520" cy="5029200"/>
          </a:xfrm>
          <a:prstGeom prst="roundRect">
            <a:avLst/>
          </a:prstGeom>
          <a:solidFill>
            <a:srgbClr val="1E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280160"/>
            <a:ext cx="7589520" cy="54864"/>
          </a:xfrm>
          <a:prstGeom prst="rect">
            <a:avLst/>
          </a:prstGeom>
          <a:solidFill>
            <a:srgbClr val="56B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3337560"/>
            <a:ext cx="6675120" cy="914400"/>
          </a:xfrm>
          <a:prstGeom prst="rect">
            <a:avLst/>
          </a:prstGeom>
          <a:noFill/>
        </p:spPr>
        <p:txBody>
          <a:bodyPr wrap="square">
            <a:noAutofit/>
          </a:bodyPr>
          <a:lstStyle/>
          <a:p>
            <a:pPr algn="ctr">
              <a:spcBef>
                <a:spcPts val="0"/>
              </a:spcBef>
              <a:spcAft>
                <a:spcPts val="0"/>
              </a:spcAft>
              <a:defRPr sz="1600" b="1">
                <a:solidFill>
                  <a:srgbClr val="9EADBD"/>
                </a:solidFill>
                <a:latin typeface="Arial"/>
              </a:defRPr>
            </a:pPr>
            <a:r>
              <a:t>[ DASHBOARD SCREENSHOT ]</a:t>
            </a:r>
          </a:p>
          <a:p>
            <a:pPr algn="ctr">
              <a:spcBef>
                <a:spcPts val="0"/>
              </a:spcBef>
              <a:spcAft>
                <a:spcPts val="0"/>
              </a:spcAft>
              <a:defRPr sz="1600" b="1">
                <a:solidFill>
                  <a:srgbClr val="9EADBD"/>
                </a:solidFill>
                <a:latin typeface="Arial"/>
              </a:defRPr>
            </a:pPr>
            <a:r>
              <a:t>MN Map Page -- BEI choropleth with facility markers</a:t>
            </a:r>
          </a:p>
        </p:txBody>
      </p:sp>
      <p:sp>
        <p:nvSpPr>
          <p:cNvPr id="7" name="Rounded Rectangle 6"/>
          <p:cNvSpPr/>
          <p:nvPr/>
        </p:nvSpPr>
        <p:spPr>
          <a:xfrm>
            <a:off x="8503920" y="1280160"/>
            <a:ext cx="3200400" cy="228600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1417320"/>
            <a:ext cx="2834640" cy="320040"/>
          </a:xfrm>
          <a:prstGeom prst="rect">
            <a:avLst/>
          </a:prstGeom>
          <a:noFill/>
        </p:spPr>
        <p:txBody>
          <a:bodyPr wrap="square">
            <a:noAutofit/>
          </a:bodyPr>
          <a:lstStyle/>
          <a:p>
            <a:pPr algn="l">
              <a:spcBef>
                <a:spcPts val="0"/>
              </a:spcBef>
              <a:spcAft>
                <a:spcPts val="0"/>
              </a:spcAft>
              <a:defRPr sz="1900" b="1">
                <a:solidFill>
                  <a:srgbClr val="009E73"/>
                </a:solidFill>
                <a:latin typeface="Arial"/>
              </a:defRPr>
            </a:pPr>
            <a:r>
              <a:t>Twin Cities Metro</a:t>
            </a:r>
          </a:p>
        </p:txBody>
      </p:sp>
      <p:sp>
        <p:nvSpPr>
          <p:cNvPr id="9" name="TextBox 8"/>
          <p:cNvSpPr txBox="1"/>
          <p:nvPr/>
        </p:nvSpPr>
        <p:spPr>
          <a:xfrm>
            <a:off x="8686800" y="1783080"/>
            <a:ext cx="2834640" cy="1463040"/>
          </a:xfrm>
          <a:prstGeom prst="rect">
            <a:avLst/>
          </a:prstGeom>
          <a:noFill/>
        </p:spPr>
        <p:txBody>
          <a:bodyPr wrap="square">
            <a:noAutofit/>
          </a:bodyPr>
          <a:lstStyle/>
          <a:p>
            <a:pPr algn="l">
              <a:lnSpc>
                <a:spcPts val="2600"/>
              </a:lnSpc>
              <a:spcBef>
                <a:spcPts val="0"/>
              </a:spcBef>
              <a:spcAft>
                <a:spcPts val="0"/>
              </a:spcAft>
              <a:defRPr sz="1700" b="0">
                <a:solidFill>
                  <a:srgbClr val="F0F3F7"/>
                </a:solidFill>
                <a:latin typeface="Arial"/>
              </a:defRPr>
            </a:pPr>
            <a:r>
              <a:t>BEI: 0 -- 2</a:t>
            </a:r>
          </a:p>
          <a:p>
            <a:pPr algn="l">
              <a:lnSpc>
                <a:spcPts val="2600"/>
              </a:lnSpc>
              <a:spcBef>
                <a:spcPts val="0"/>
              </a:spcBef>
              <a:spcAft>
                <a:spcPts val="0"/>
              </a:spcAft>
              <a:defRPr sz="1700" b="0">
                <a:solidFill>
                  <a:srgbClr val="F0F3F7"/>
                </a:solidFill>
                <a:latin typeface="Arial"/>
              </a:defRPr>
            </a:pPr>
            <a:r>
              <a:t>Multiple burn centers</a:t>
            </a:r>
          </a:p>
          <a:p>
            <a:pPr algn="l">
              <a:lnSpc>
                <a:spcPts val="2600"/>
              </a:lnSpc>
              <a:spcBef>
                <a:spcPts val="0"/>
              </a:spcBef>
              <a:spcAft>
                <a:spcPts val="0"/>
              </a:spcAft>
              <a:defRPr sz="1700" b="0">
                <a:solidFill>
                  <a:srgbClr val="F0F3F7"/>
                </a:solidFill>
                <a:latin typeface="Arial"/>
              </a:defRPr>
            </a:pPr>
            <a:r>
              <a:t>within 15 minutes</a:t>
            </a:r>
          </a:p>
          <a:p>
            <a:pPr algn="l">
              <a:lnSpc>
                <a:spcPts val="2600"/>
              </a:lnSpc>
              <a:spcBef>
                <a:spcPts val="0"/>
              </a:spcBef>
              <a:spcAft>
                <a:spcPts val="0"/>
              </a:spcAft>
              <a:defRPr sz="1700" b="0">
                <a:solidFill>
                  <a:srgbClr val="F0F3F7"/>
                </a:solidFill>
                <a:latin typeface="Arial"/>
              </a:defRPr>
            </a:pPr>
            <a:r>
              <a:t>50%+ of MN population</a:t>
            </a:r>
          </a:p>
        </p:txBody>
      </p:sp>
      <p:sp>
        <p:nvSpPr>
          <p:cNvPr id="10" name="Rounded Rectangle 9"/>
          <p:cNvSpPr/>
          <p:nvPr/>
        </p:nvSpPr>
        <p:spPr>
          <a:xfrm>
            <a:off x="8503920" y="3840480"/>
            <a:ext cx="3200400" cy="24688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0" y="3977639"/>
            <a:ext cx="2834640" cy="320040"/>
          </a:xfrm>
          <a:prstGeom prst="rect">
            <a:avLst/>
          </a:prstGeom>
          <a:noFill/>
        </p:spPr>
        <p:txBody>
          <a:bodyPr wrap="square">
            <a:noAutofit/>
          </a:bodyPr>
          <a:lstStyle/>
          <a:p>
            <a:pPr algn="l">
              <a:spcBef>
                <a:spcPts val="0"/>
              </a:spcBef>
              <a:spcAft>
                <a:spcPts val="0"/>
              </a:spcAft>
              <a:defRPr sz="1900" b="1">
                <a:solidFill>
                  <a:srgbClr val="D55E00"/>
                </a:solidFill>
                <a:latin typeface="Arial"/>
              </a:defRPr>
            </a:pPr>
            <a:r>
              <a:t>Northwest MN</a:t>
            </a:r>
          </a:p>
        </p:txBody>
      </p:sp>
      <p:sp>
        <p:nvSpPr>
          <p:cNvPr id="12" name="TextBox 11"/>
          <p:cNvSpPr txBox="1"/>
          <p:nvPr/>
        </p:nvSpPr>
        <p:spPr>
          <a:xfrm>
            <a:off x="8686800" y="4343400"/>
            <a:ext cx="2834640" cy="1645920"/>
          </a:xfrm>
          <a:prstGeom prst="rect">
            <a:avLst/>
          </a:prstGeom>
          <a:noFill/>
        </p:spPr>
        <p:txBody>
          <a:bodyPr wrap="square">
            <a:noAutofit/>
          </a:bodyPr>
          <a:lstStyle/>
          <a:p>
            <a:pPr algn="l">
              <a:lnSpc>
                <a:spcPts val="2600"/>
              </a:lnSpc>
              <a:spcBef>
                <a:spcPts val="0"/>
              </a:spcBef>
              <a:spcAft>
                <a:spcPts val="0"/>
              </a:spcAft>
              <a:defRPr sz="1700" b="0">
                <a:solidFill>
                  <a:srgbClr val="F0F3F7"/>
                </a:solidFill>
                <a:latin typeface="Arial"/>
              </a:defRPr>
            </a:pPr>
            <a:r>
              <a:t>BEI: 90 -- 100</a:t>
            </a:r>
          </a:p>
          <a:p>
            <a:pPr algn="l">
              <a:lnSpc>
                <a:spcPts val="2600"/>
              </a:lnSpc>
              <a:spcBef>
                <a:spcPts val="0"/>
              </a:spcBef>
              <a:spcAft>
                <a:spcPts val="0"/>
              </a:spcAft>
              <a:defRPr sz="1700" b="0">
                <a:solidFill>
                  <a:srgbClr val="F0F3F7"/>
                </a:solidFill>
                <a:latin typeface="Arial"/>
              </a:defRPr>
            </a:pPr>
            <a:r>
              <a:t>No burn center for</a:t>
            </a:r>
          </a:p>
          <a:p>
            <a:pPr algn="l">
              <a:lnSpc>
                <a:spcPts val="2600"/>
              </a:lnSpc>
              <a:spcBef>
                <a:spcPts val="0"/>
              </a:spcBef>
              <a:spcAft>
                <a:spcPts val="0"/>
              </a:spcAft>
              <a:defRPr sz="1700" b="0">
                <a:solidFill>
                  <a:srgbClr val="F0F3F7"/>
                </a:solidFill>
                <a:latin typeface="Arial"/>
              </a:defRPr>
            </a:pPr>
            <a:r>
              <a:t>hundreds of miles</a:t>
            </a:r>
          </a:p>
          <a:p>
            <a:pPr algn="l">
              <a:lnSpc>
                <a:spcPts val="2600"/>
              </a:lnSpc>
              <a:spcBef>
                <a:spcPts val="0"/>
              </a:spcBef>
              <a:spcAft>
                <a:spcPts val="0"/>
              </a:spcAft>
              <a:defRPr sz="1700" b="0">
                <a:solidFill>
                  <a:srgbClr val="F0F3F7"/>
                </a:solidFill>
                <a:latin typeface="Arial"/>
              </a:defRPr>
            </a:pPr>
            <a:r>
              <a:t>8+ hour travel 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TextBox 1"/>
          <p:cNvSpPr txBox="1"/>
          <p:nvPr/>
        </p:nvSpPr>
        <p:spPr>
          <a:xfrm>
            <a:off x="640080" y="274320"/>
            <a:ext cx="10972800" cy="548640"/>
          </a:xfrm>
          <a:prstGeom prst="rect">
            <a:avLst/>
          </a:prstGeom>
          <a:noFill/>
        </p:spPr>
        <p:txBody>
          <a:bodyPr wrap="square">
            <a:noAutofit/>
          </a:bodyPr>
          <a:lstStyle/>
          <a:p>
            <a:pPr algn="l">
              <a:spcBef>
                <a:spcPts val="0"/>
              </a:spcBef>
              <a:spcAft>
                <a:spcPts val="0"/>
              </a:spcAft>
              <a:defRPr sz="3400" b="1">
                <a:solidFill>
                  <a:srgbClr val="F0F3F7"/>
                </a:solidFill>
                <a:latin typeface="Arial"/>
              </a:defRPr>
            </a:pPr>
            <a:r>
              <a:t>Minnesota County Stories</a:t>
            </a:r>
          </a:p>
        </p:txBody>
      </p:sp>
      <p:sp>
        <p:nvSpPr>
          <p:cNvPr id="3" name="TextBox 2"/>
          <p:cNvSpPr txBox="1"/>
          <p:nvPr/>
        </p:nvSpPr>
        <p:spPr>
          <a:xfrm>
            <a:off x="640080" y="777240"/>
            <a:ext cx="10972800" cy="320040"/>
          </a:xfrm>
          <a:prstGeom prst="rect">
            <a:avLst/>
          </a:prstGeom>
          <a:noFill/>
        </p:spPr>
        <p:txBody>
          <a:bodyPr wrap="square">
            <a:noAutofit/>
          </a:bodyPr>
          <a:lstStyle/>
          <a:p>
            <a:pPr algn="l">
              <a:spcBef>
                <a:spcPts val="0"/>
              </a:spcBef>
              <a:spcAft>
                <a:spcPts val="0"/>
              </a:spcAft>
              <a:defRPr sz="2000" b="0">
                <a:solidFill>
                  <a:srgbClr val="9EADBD"/>
                </a:solidFill>
                <a:latin typeface="Arial"/>
              </a:defRPr>
            </a:pPr>
            <a:r>
              <a:t>Same state, vastly different realities</a:t>
            </a:r>
          </a:p>
        </p:txBody>
      </p:sp>
      <p:sp>
        <p:nvSpPr>
          <p:cNvPr id="4" name="Rounded Rectangle 3"/>
          <p:cNvSpPr/>
          <p:nvPr/>
        </p:nvSpPr>
        <p:spPr>
          <a:xfrm>
            <a:off x="457200" y="1371600"/>
            <a:ext cx="3566160" cy="493776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3566160" cy="548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00200"/>
            <a:ext cx="3108960" cy="274320"/>
          </a:xfrm>
          <a:prstGeom prst="rect">
            <a:avLst/>
          </a:prstGeom>
          <a:noFill/>
        </p:spPr>
        <p:txBody>
          <a:bodyPr wrap="square">
            <a:noAutofit/>
          </a:bodyPr>
          <a:lstStyle/>
          <a:p>
            <a:pPr algn="l">
              <a:spcBef>
                <a:spcPts val="0"/>
              </a:spcBef>
              <a:spcAft>
                <a:spcPts val="0"/>
              </a:spcAft>
              <a:defRPr sz="1500" b="1">
                <a:solidFill>
                  <a:srgbClr val="009E73"/>
                </a:solidFill>
                <a:latin typeface="Arial"/>
              </a:defRPr>
            </a:pPr>
            <a:r>
              <a:t>Best Access</a:t>
            </a:r>
          </a:p>
        </p:txBody>
      </p:sp>
      <p:sp>
        <p:nvSpPr>
          <p:cNvPr id="7" name="TextBox 6"/>
          <p:cNvSpPr txBox="1"/>
          <p:nvPr/>
        </p:nvSpPr>
        <p:spPr>
          <a:xfrm>
            <a:off x="685800" y="1920240"/>
            <a:ext cx="3108960" cy="411480"/>
          </a:xfrm>
          <a:prstGeom prst="rect">
            <a:avLst/>
          </a:prstGeom>
          <a:noFill/>
        </p:spPr>
        <p:txBody>
          <a:bodyPr wrap="square">
            <a:noAutofit/>
          </a:bodyPr>
          <a:lstStyle/>
          <a:p>
            <a:pPr algn="l">
              <a:spcBef>
                <a:spcPts val="0"/>
              </a:spcBef>
              <a:spcAft>
                <a:spcPts val="0"/>
              </a:spcAft>
              <a:defRPr sz="2200" b="1">
                <a:solidFill>
                  <a:srgbClr val="F0F3F7"/>
                </a:solidFill>
                <a:latin typeface="Arial"/>
              </a:defRPr>
            </a:pPr>
            <a:r>
              <a:t>Hennepin County</a:t>
            </a:r>
          </a:p>
        </p:txBody>
      </p:sp>
      <p:sp>
        <p:nvSpPr>
          <p:cNvPr id="8" name="TextBox 7"/>
          <p:cNvSpPr txBox="1"/>
          <p:nvPr/>
        </p:nvSpPr>
        <p:spPr>
          <a:xfrm>
            <a:off x="685800" y="2331720"/>
            <a:ext cx="3108960" cy="274320"/>
          </a:xfrm>
          <a:prstGeom prst="rect">
            <a:avLst/>
          </a:prstGeom>
          <a:noFill/>
        </p:spPr>
        <p:txBody>
          <a:bodyPr wrap="square">
            <a:noAutofit/>
          </a:bodyPr>
          <a:lstStyle/>
          <a:p>
            <a:pPr algn="l">
              <a:spcBef>
                <a:spcPts val="0"/>
              </a:spcBef>
              <a:spcAft>
                <a:spcPts val="0"/>
              </a:spcAft>
              <a:defRPr sz="1700" b="0">
                <a:solidFill>
                  <a:srgbClr val="9EADBD"/>
                </a:solidFill>
                <a:latin typeface="Arial"/>
              </a:defRPr>
            </a:pPr>
            <a:r>
              <a:t>Minneapolis</a:t>
            </a:r>
          </a:p>
        </p:txBody>
      </p:sp>
      <p:sp>
        <p:nvSpPr>
          <p:cNvPr id="9" name="TextBox 8"/>
          <p:cNvSpPr txBox="1"/>
          <p:nvPr/>
        </p:nvSpPr>
        <p:spPr>
          <a:xfrm>
            <a:off x="685800" y="2743200"/>
            <a:ext cx="3108960" cy="457200"/>
          </a:xfrm>
          <a:prstGeom prst="rect">
            <a:avLst/>
          </a:prstGeom>
          <a:noFill/>
        </p:spPr>
        <p:txBody>
          <a:bodyPr wrap="square">
            <a:noAutofit/>
          </a:bodyPr>
          <a:lstStyle/>
          <a:p>
            <a:pPr algn="l">
              <a:spcBef>
                <a:spcPts val="0"/>
              </a:spcBef>
              <a:spcAft>
                <a:spcPts val="0"/>
              </a:spcAft>
              <a:defRPr sz="2600" b="1">
                <a:solidFill>
                  <a:srgbClr val="009E73"/>
                </a:solidFill>
                <a:latin typeface="Arial"/>
              </a:defRPr>
            </a:pPr>
            <a:r>
              <a:t>BEI: 0.0</a:t>
            </a:r>
          </a:p>
        </p:txBody>
      </p:sp>
      <p:sp>
        <p:nvSpPr>
          <p:cNvPr id="10" name="TextBox 9"/>
          <p:cNvSpPr txBox="1"/>
          <p:nvPr/>
        </p:nvSpPr>
        <p:spPr>
          <a:xfrm>
            <a:off x="685800" y="3474720"/>
            <a:ext cx="3108960" cy="2103120"/>
          </a:xfrm>
          <a:prstGeom prst="rect">
            <a:avLst/>
          </a:prstGeom>
          <a:noFill/>
        </p:spPr>
        <p:txBody>
          <a:bodyPr wrap="square">
            <a:noAutofit/>
          </a:bodyPr>
          <a:lstStyle/>
          <a:p>
            <a:pPr algn="l">
              <a:lnSpc>
                <a:spcPts val="3000"/>
              </a:lnSpc>
              <a:spcBef>
                <a:spcPts val="0"/>
              </a:spcBef>
              <a:spcAft>
                <a:spcPts val="0"/>
              </a:spcAft>
              <a:defRPr sz="1700" b="0">
                <a:solidFill>
                  <a:srgbClr val="F0F3F7"/>
                </a:solidFill>
                <a:latin typeface="Arial"/>
              </a:defRPr>
            </a:pPr>
            <a:r>
              <a:t>10.6 min to burn center</a:t>
            </a:r>
          </a:p>
          <a:p>
            <a:pPr algn="l">
              <a:lnSpc>
                <a:spcPts val="3000"/>
              </a:lnSpc>
              <a:spcBef>
                <a:spcPts val="0"/>
              </a:spcBef>
              <a:spcAft>
                <a:spcPts val="0"/>
              </a:spcAft>
              <a:defRPr sz="1700" b="0">
                <a:solidFill>
                  <a:srgbClr val="F0F3F7"/>
                </a:solidFill>
                <a:latin typeface="Arial"/>
              </a:defRPr>
            </a:pPr>
            <a:r>
              <a:t>Direct access pathway</a:t>
            </a:r>
          </a:p>
          <a:p>
            <a:pPr algn="l">
              <a:lnSpc>
                <a:spcPts val="3000"/>
              </a:lnSpc>
              <a:spcBef>
                <a:spcPts val="0"/>
              </a:spcBef>
              <a:spcAft>
                <a:spcPts val="0"/>
              </a:spcAft>
              <a:defRPr sz="1700" b="0">
                <a:solidFill>
                  <a:srgbClr val="F0F3F7"/>
                </a:solidFill>
                <a:latin typeface="Arial"/>
              </a:defRPr>
            </a:pPr>
            <a:r>
              <a:t>All 4 pillars score 0.00</a:t>
            </a:r>
          </a:p>
          <a:p>
            <a:pPr algn="l">
              <a:lnSpc>
                <a:spcPts val="3000"/>
              </a:lnSpc>
              <a:spcBef>
                <a:spcPts val="0"/>
              </a:spcBef>
              <a:spcAft>
                <a:spcPts val="0"/>
              </a:spcAft>
              <a:defRPr sz="1700" b="0">
                <a:solidFill>
                  <a:srgbClr val="F0F3F7"/>
                </a:solidFill>
                <a:latin typeface="Arial"/>
              </a:defRPr>
            </a:pPr>
            <a:r>
              <a:t>Pop: 1.27 million</a:t>
            </a:r>
          </a:p>
        </p:txBody>
      </p:sp>
      <p:sp>
        <p:nvSpPr>
          <p:cNvPr id="11" name="Rounded Rectangle 10"/>
          <p:cNvSpPr/>
          <p:nvPr/>
        </p:nvSpPr>
        <p:spPr>
          <a:xfrm>
            <a:off x="4251960" y="1371600"/>
            <a:ext cx="3566160" cy="493776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1960" y="1371600"/>
            <a:ext cx="3566160" cy="548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1600200"/>
            <a:ext cx="3108960" cy="274320"/>
          </a:xfrm>
          <a:prstGeom prst="rect">
            <a:avLst/>
          </a:prstGeom>
          <a:noFill/>
        </p:spPr>
        <p:txBody>
          <a:bodyPr wrap="square">
            <a:noAutofit/>
          </a:bodyPr>
          <a:lstStyle/>
          <a:p>
            <a:pPr algn="l">
              <a:spcBef>
                <a:spcPts val="0"/>
              </a:spcBef>
              <a:spcAft>
                <a:spcPts val="0"/>
              </a:spcAft>
              <a:defRPr sz="1500" b="1">
                <a:solidFill>
                  <a:srgbClr val="E69F00"/>
                </a:solidFill>
                <a:latin typeface="Arial"/>
              </a:defRPr>
            </a:pPr>
            <a:r>
              <a:t>Moderate Burden</a:t>
            </a:r>
          </a:p>
        </p:txBody>
      </p:sp>
      <p:sp>
        <p:nvSpPr>
          <p:cNvPr id="14" name="TextBox 13"/>
          <p:cNvSpPr txBox="1"/>
          <p:nvPr/>
        </p:nvSpPr>
        <p:spPr>
          <a:xfrm>
            <a:off x="4480560" y="1920240"/>
            <a:ext cx="3108960" cy="411480"/>
          </a:xfrm>
          <a:prstGeom prst="rect">
            <a:avLst/>
          </a:prstGeom>
          <a:noFill/>
        </p:spPr>
        <p:txBody>
          <a:bodyPr wrap="square">
            <a:noAutofit/>
          </a:bodyPr>
          <a:lstStyle/>
          <a:p>
            <a:pPr algn="l">
              <a:spcBef>
                <a:spcPts val="0"/>
              </a:spcBef>
              <a:spcAft>
                <a:spcPts val="0"/>
              </a:spcAft>
              <a:defRPr sz="2200" b="1">
                <a:solidFill>
                  <a:srgbClr val="F0F3F7"/>
                </a:solidFill>
                <a:latin typeface="Arial"/>
              </a:defRPr>
            </a:pPr>
            <a:r>
              <a:t>Blue Earth County</a:t>
            </a:r>
          </a:p>
        </p:txBody>
      </p:sp>
      <p:sp>
        <p:nvSpPr>
          <p:cNvPr id="15" name="TextBox 14"/>
          <p:cNvSpPr txBox="1"/>
          <p:nvPr/>
        </p:nvSpPr>
        <p:spPr>
          <a:xfrm>
            <a:off x="4480560" y="2331720"/>
            <a:ext cx="3108960" cy="274320"/>
          </a:xfrm>
          <a:prstGeom prst="rect">
            <a:avLst/>
          </a:prstGeom>
          <a:noFill/>
        </p:spPr>
        <p:txBody>
          <a:bodyPr wrap="square">
            <a:noAutofit/>
          </a:bodyPr>
          <a:lstStyle/>
          <a:p>
            <a:pPr algn="l">
              <a:spcBef>
                <a:spcPts val="0"/>
              </a:spcBef>
              <a:spcAft>
                <a:spcPts val="0"/>
              </a:spcAft>
              <a:defRPr sz="1700" b="0">
                <a:solidFill>
                  <a:srgbClr val="9EADBD"/>
                </a:solidFill>
                <a:latin typeface="Arial"/>
              </a:defRPr>
            </a:pPr>
            <a:r>
              <a:t>Mankato</a:t>
            </a:r>
          </a:p>
        </p:txBody>
      </p:sp>
      <p:sp>
        <p:nvSpPr>
          <p:cNvPr id="16" name="TextBox 15"/>
          <p:cNvSpPr txBox="1"/>
          <p:nvPr/>
        </p:nvSpPr>
        <p:spPr>
          <a:xfrm>
            <a:off x="4480560" y="2743200"/>
            <a:ext cx="3108960" cy="457200"/>
          </a:xfrm>
          <a:prstGeom prst="rect">
            <a:avLst/>
          </a:prstGeom>
          <a:noFill/>
        </p:spPr>
        <p:txBody>
          <a:bodyPr wrap="square">
            <a:noAutofit/>
          </a:bodyPr>
          <a:lstStyle/>
          <a:p>
            <a:pPr algn="l">
              <a:spcBef>
                <a:spcPts val="0"/>
              </a:spcBef>
              <a:spcAft>
                <a:spcPts val="0"/>
              </a:spcAft>
              <a:defRPr sz="2600" b="1">
                <a:solidFill>
                  <a:srgbClr val="E69F00"/>
                </a:solidFill>
                <a:latin typeface="Arial"/>
              </a:defRPr>
            </a:pPr>
            <a:r>
              <a:t>BEI: 58.5</a:t>
            </a:r>
          </a:p>
        </p:txBody>
      </p:sp>
      <p:sp>
        <p:nvSpPr>
          <p:cNvPr id="17" name="TextBox 16"/>
          <p:cNvSpPr txBox="1"/>
          <p:nvPr/>
        </p:nvSpPr>
        <p:spPr>
          <a:xfrm>
            <a:off x="4480560" y="3474720"/>
            <a:ext cx="3108960" cy="2103120"/>
          </a:xfrm>
          <a:prstGeom prst="rect">
            <a:avLst/>
          </a:prstGeom>
          <a:noFill/>
        </p:spPr>
        <p:txBody>
          <a:bodyPr wrap="square">
            <a:noAutofit/>
          </a:bodyPr>
          <a:lstStyle/>
          <a:p>
            <a:pPr algn="l">
              <a:lnSpc>
                <a:spcPts val="3000"/>
              </a:lnSpc>
              <a:spcBef>
                <a:spcPts val="0"/>
              </a:spcBef>
              <a:spcAft>
                <a:spcPts val="0"/>
              </a:spcAft>
              <a:defRPr sz="1700" b="0">
                <a:solidFill>
                  <a:srgbClr val="F0F3F7"/>
                </a:solidFill>
                <a:latin typeface="Arial"/>
              </a:defRPr>
            </a:pPr>
            <a:r>
              <a:t>88 min to burn center</a:t>
            </a:r>
          </a:p>
          <a:p>
            <a:pPr algn="l">
              <a:lnSpc>
                <a:spcPts val="3000"/>
              </a:lnSpc>
              <a:spcBef>
                <a:spcPts val="0"/>
              </a:spcBef>
              <a:spcAft>
                <a:spcPts val="0"/>
              </a:spcAft>
              <a:defRPr sz="1700" b="0">
                <a:solidFill>
                  <a:srgbClr val="F0F3F7"/>
                </a:solidFill>
                <a:latin typeface="Arial"/>
              </a:defRPr>
            </a:pPr>
            <a:r>
              <a:t>S: 1.00  T: 0.14  C: 1.00</a:t>
            </a:r>
          </a:p>
          <a:p>
            <a:pPr algn="l">
              <a:lnSpc>
                <a:spcPts val="3000"/>
              </a:lnSpc>
              <a:spcBef>
                <a:spcPts val="0"/>
              </a:spcBef>
              <a:spcAft>
                <a:spcPts val="0"/>
              </a:spcAft>
              <a:defRPr sz="1700" b="0">
                <a:solidFill>
                  <a:srgbClr val="F0F3F7"/>
                </a:solidFill>
                <a:latin typeface="Arial"/>
              </a:defRPr>
            </a:pPr>
            <a:r>
              <a:t>Supply &amp; capacity gaps</a:t>
            </a:r>
          </a:p>
          <a:p>
            <a:pPr algn="l">
              <a:lnSpc>
                <a:spcPts val="3000"/>
              </a:lnSpc>
              <a:spcBef>
                <a:spcPts val="0"/>
              </a:spcBef>
              <a:spcAft>
                <a:spcPts val="0"/>
              </a:spcAft>
              <a:defRPr sz="1700" b="0">
                <a:solidFill>
                  <a:srgbClr val="F0F3F7"/>
                </a:solidFill>
                <a:latin typeface="Arial"/>
              </a:defRPr>
            </a:pPr>
            <a:r>
              <a:t>Pop: 69,022</a:t>
            </a:r>
          </a:p>
        </p:txBody>
      </p:sp>
      <p:sp>
        <p:nvSpPr>
          <p:cNvPr id="18" name="Rounded Rectangle 17"/>
          <p:cNvSpPr/>
          <p:nvPr/>
        </p:nvSpPr>
        <p:spPr>
          <a:xfrm>
            <a:off x="8046720" y="1371600"/>
            <a:ext cx="3566160" cy="493776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371600"/>
            <a:ext cx="3566160" cy="548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600200"/>
            <a:ext cx="3108960" cy="274320"/>
          </a:xfrm>
          <a:prstGeom prst="rect">
            <a:avLst/>
          </a:prstGeom>
          <a:noFill/>
        </p:spPr>
        <p:txBody>
          <a:bodyPr wrap="square">
            <a:noAutofit/>
          </a:bodyPr>
          <a:lstStyle/>
          <a:p>
            <a:pPr algn="l">
              <a:spcBef>
                <a:spcPts val="0"/>
              </a:spcBef>
              <a:spcAft>
                <a:spcPts val="0"/>
              </a:spcAft>
              <a:defRPr sz="1500" b="1">
                <a:solidFill>
                  <a:srgbClr val="D55E00"/>
                </a:solidFill>
                <a:latin typeface="Arial"/>
              </a:defRPr>
            </a:pPr>
            <a:r>
              <a:t>Severe Burden</a:t>
            </a:r>
          </a:p>
        </p:txBody>
      </p:sp>
      <p:sp>
        <p:nvSpPr>
          <p:cNvPr id="21" name="TextBox 20"/>
          <p:cNvSpPr txBox="1"/>
          <p:nvPr/>
        </p:nvSpPr>
        <p:spPr>
          <a:xfrm>
            <a:off x="8275320" y="1920240"/>
            <a:ext cx="3108960" cy="411480"/>
          </a:xfrm>
          <a:prstGeom prst="rect">
            <a:avLst/>
          </a:prstGeom>
          <a:noFill/>
        </p:spPr>
        <p:txBody>
          <a:bodyPr wrap="square">
            <a:noAutofit/>
          </a:bodyPr>
          <a:lstStyle/>
          <a:p>
            <a:pPr algn="l">
              <a:spcBef>
                <a:spcPts val="0"/>
              </a:spcBef>
              <a:spcAft>
                <a:spcPts val="0"/>
              </a:spcAft>
              <a:defRPr sz="2200" b="1">
                <a:solidFill>
                  <a:srgbClr val="F0F3F7"/>
                </a:solidFill>
                <a:latin typeface="Arial"/>
              </a:defRPr>
            </a:pPr>
            <a:r>
              <a:t>Beltrami County</a:t>
            </a:r>
          </a:p>
        </p:txBody>
      </p:sp>
      <p:sp>
        <p:nvSpPr>
          <p:cNvPr id="22" name="TextBox 21"/>
          <p:cNvSpPr txBox="1"/>
          <p:nvPr/>
        </p:nvSpPr>
        <p:spPr>
          <a:xfrm>
            <a:off x="8275320" y="2331720"/>
            <a:ext cx="3108960" cy="274320"/>
          </a:xfrm>
          <a:prstGeom prst="rect">
            <a:avLst/>
          </a:prstGeom>
          <a:noFill/>
        </p:spPr>
        <p:txBody>
          <a:bodyPr wrap="square">
            <a:noAutofit/>
          </a:bodyPr>
          <a:lstStyle/>
          <a:p>
            <a:pPr algn="l">
              <a:spcBef>
                <a:spcPts val="0"/>
              </a:spcBef>
              <a:spcAft>
                <a:spcPts val="0"/>
              </a:spcAft>
              <a:defRPr sz="1700" b="0">
                <a:solidFill>
                  <a:srgbClr val="9EADBD"/>
                </a:solidFill>
                <a:latin typeface="Arial"/>
              </a:defRPr>
            </a:pPr>
            <a:r>
              <a:t>Bemidji</a:t>
            </a:r>
          </a:p>
        </p:txBody>
      </p:sp>
      <p:sp>
        <p:nvSpPr>
          <p:cNvPr id="23" name="TextBox 22"/>
          <p:cNvSpPr txBox="1"/>
          <p:nvPr/>
        </p:nvSpPr>
        <p:spPr>
          <a:xfrm>
            <a:off x="8275320" y="2743200"/>
            <a:ext cx="3108960" cy="457200"/>
          </a:xfrm>
          <a:prstGeom prst="rect">
            <a:avLst/>
          </a:prstGeom>
          <a:noFill/>
        </p:spPr>
        <p:txBody>
          <a:bodyPr wrap="square">
            <a:noAutofit/>
          </a:bodyPr>
          <a:lstStyle/>
          <a:p>
            <a:pPr algn="l">
              <a:spcBef>
                <a:spcPts val="0"/>
              </a:spcBef>
              <a:spcAft>
                <a:spcPts val="0"/>
              </a:spcAft>
              <a:defRPr sz="2600" b="1">
                <a:solidFill>
                  <a:srgbClr val="D55E00"/>
                </a:solidFill>
                <a:latin typeface="Arial"/>
              </a:defRPr>
            </a:pPr>
            <a:r>
              <a:t>BEI: 90.4</a:t>
            </a:r>
          </a:p>
        </p:txBody>
      </p:sp>
      <p:sp>
        <p:nvSpPr>
          <p:cNvPr id="24" name="TextBox 23"/>
          <p:cNvSpPr txBox="1"/>
          <p:nvPr/>
        </p:nvSpPr>
        <p:spPr>
          <a:xfrm>
            <a:off x="8275320" y="3474720"/>
            <a:ext cx="3108960" cy="2103120"/>
          </a:xfrm>
          <a:prstGeom prst="rect">
            <a:avLst/>
          </a:prstGeom>
          <a:noFill/>
        </p:spPr>
        <p:txBody>
          <a:bodyPr wrap="square">
            <a:noAutofit/>
          </a:bodyPr>
          <a:lstStyle/>
          <a:p>
            <a:pPr algn="l">
              <a:lnSpc>
                <a:spcPts val="3000"/>
              </a:lnSpc>
              <a:spcBef>
                <a:spcPts val="0"/>
              </a:spcBef>
              <a:spcAft>
                <a:spcPts val="0"/>
              </a:spcAft>
              <a:defRPr sz="1700" b="0">
                <a:solidFill>
                  <a:srgbClr val="F0F3F7"/>
                </a:solidFill>
                <a:latin typeface="Arial"/>
              </a:defRPr>
            </a:pPr>
            <a:r>
              <a:t>8+ hrs to burn center</a:t>
            </a:r>
          </a:p>
          <a:p>
            <a:pPr algn="l">
              <a:lnSpc>
                <a:spcPts val="3000"/>
              </a:lnSpc>
              <a:spcBef>
                <a:spcPts val="0"/>
              </a:spcBef>
              <a:spcAft>
                <a:spcPts val="0"/>
              </a:spcAft>
              <a:defRPr sz="1700" b="0">
                <a:solidFill>
                  <a:srgbClr val="F0F3F7"/>
                </a:solidFill>
                <a:latin typeface="Arial"/>
              </a:defRPr>
            </a:pPr>
            <a:r>
              <a:t>Transfer pathway only</a:t>
            </a:r>
          </a:p>
          <a:p>
            <a:pPr algn="l">
              <a:lnSpc>
                <a:spcPts val="3000"/>
              </a:lnSpc>
              <a:spcBef>
                <a:spcPts val="0"/>
              </a:spcBef>
              <a:spcAft>
                <a:spcPts val="0"/>
              </a:spcAft>
              <a:defRPr sz="1700" b="0">
                <a:solidFill>
                  <a:srgbClr val="F0F3F7"/>
                </a:solidFill>
                <a:latin typeface="Arial"/>
              </a:defRPr>
            </a:pPr>
            <a:r>
              <a:t>S, T, and C all maxed</a:t>
            </a:r>
          </a:p>
          <a:p>
            <a:pPr algn="l">
              <a:lnSpc>
                <a:spcPts val="3000"/>
              </a:lnSpc>
              <a:spcBef>
                <a:spcPts val="0"/>
              </a:spcBef>
              <a:spcAft>
                <a:spcPts val="0"/>
              </a:spcAft>
              <a:defRPr sz="1700" b="0">
                <a:solidFill>
                  <a:srgbClr val="F0F3F7"/>
                </a:solidFill>
                <a:latin typeface="Arial"/>
              </a:defRPr>
            </a:pPr>
            <a:r>
              <a:t>Pop: 46,274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TextBox 1"/>
          <p:cNvSpPr txBox="1"/>
          <p:nvPr/>
        </p:nvSpPr>
        <p:spPr>
          <a:xfrm>
            <a:off x="640080" y="274320"/>
            <a:ext cx="10972800" cy="548640"/>
          </a:xfrm>
          <a:prstGeom prst="rect">
            <a:avLst/>
          </a:prstGeom>
          <a:noFill/>
        </p:spPr>
        <p:txBody>
          <a:bodyPr wrap="square">
            <a:noAutofit/>
          </a:bodyPr>
          <a:lstStyle/>
          <a:p>
            <a:pPr algn="l">
              <a:spcBef>
                <a:spcPts val="0"/>
              </a:spcBef>
              <a:spcAft>
                <a:spcPts val="0"/>
              </a:spcAft>
              <a:defRPr sz="3400" b="1">
                <a:solidFill>
                  <a:srgbClr val="F0F3F7"/>
                </a:solidFill>
                <a:latin typeface="Arial"/>
              </a:defRPr>
            </a:pPr>
            <a:r>
              <a:t>The Rural–Urban Divide</a:t>
            </a:r>
          </a:p>
        </p:txBody>
      </p:sp>
      <p:sp>
        <p:nvSpPr>
          <p:cNvPr id="3" name="Rounded Rectangle 2"/>
          <p:cNvSpPr/>
          <p:nvPr/>
        </p:nvSpPr>
        <p:spPr>
          <a:xfrm>
            <a:off x="457200" y="1005840"/>
            <a:ext cx="6583680" cy="5303520"/>
          </a:xfrm>
          <a:prstGeom prst="roundRect">
            <a:avLst/>
          </a:prstGeom>
          <a:solidFill>
            <a:srgbClr val="1E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005840"/>
            <a:ext cx="6583680" cy="54864"/>
          </a:xfrm>
          <a:prstGeom prst="rect">
            <a:avLst/>
          </a:prstGeom>
          <a:solidFill>
            <a:srgbClr val="56B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200400"/>
            <a:ext cx="5669280" cy="914400"/>
          </a:xfrm>
          <a:prstGeom prst="rect">
            <a:avLst/>
          </a:prstGeom>
          <a:noFill/>
        </p:spPr>
        <p:txBody>
          <a:bodyPr wrap="square">
            <a:noAutofit/>
          </a:bodyPr>
          <a:lstStyle/>
          <a:p>
            <a:pPr algn="ctr">
              <a:spcBef>
                <a:spcPts val="0"/>
              </a:spcBef>
              <a:spcAft>
                <a:spcPts val="0"/>
              </a:spcAft>
              <a:defRPr sz="1600" b="1">
                <a:solidFill>
                  <a:srgbClr val="9EADBD"/>
                </a:solidFill>
                <a:latin typeface="Arial"/>
              </a:defRPr>
            </a:pPr>
            <a:r>
              <a:t>[ DASHBOARD SCREENSHOT ]</a:t>
            </a:r>
          </a:p>
          <a:p>
            <a:pPr algn="ctr">
              <a:spcBef>
                <a:spcPts val="0"/>
              </a:spcBef>
              <a:spcAft>
                <a:spcPts val="0"/>
              </a:spcAft>
              <a:defRPr sz="1600" b="1">
                <a:solidFill>
                  <a:srgbClr val="9EADBD"/>
                </a:solidFill>
                <a:latin typeface="Arial"/>
              </a:defRPr>
            </a:pPr>
            <a:r>
              <a:t>MN rural vs urban box plot</a:t>
            </a:r>
          </a:p>
          <a:p>
            <a:pPr algn="ctr">
              <a:spcBef>
                <a:spcPts val="0"/>
              </a:spcBef>
              <a:spcAft>
                <a:spcPts val="0"/>
              </a:spcAft>
              <a:defRPr sz="1600" b="1">
                <a:solidFill>
                  <a:srgbClr val="9EADBD"/>
                </a:solidFill>
                <a:latin typeface="Arial"/>
              </a:defRPr>
            </a:pPr>
            <a:r>
              <a:t>(mn_03_rural_urban_gap.png)</a:t>
            </a:r>
          </a:p>
        </p:txBody>
      </p:sp>
      <p:sp>
        <p:nvSpPr>
          <p:cNvPr id="6" name="Rounded Rectangle 5"/>
          <p:cNvSpPr/>
          <p:nvPr/>
        </p:nvSpPr>
        <p:spPr>
          <a:xfrm>
            <a:off x="7315200" y="1005840"/>
            <a:ext cx="4389120" cy="20116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0" y="1143000"/>
            <a:ext cx="3840480" cy="365760"/>
          </a:xfrm>
          <a:prstGeom prst="rect">
            <a:avLst/>
          </a:prstGeom>
          <a:noFill/>
        </p:spPr>
        <p:txBody>
          <a:bodyPr wrap="square">
            <a:noAutofit/>
          </a:bodyPr>
          <a:lstStyle/>
          <a:p>
            <a:pPr algn="l">
              <a:spcBef>
                <a:spcPts val="0"/>
              </a:spcBef>
              <a:spcAft>
                <a:spcPts val="0"/>
              </a:spcAft>
              <a:defRPr sz="2000" b="1">
                <a:solidFill>
                  <a:srgbClr val="F0F3F7"/>
                </a:solidFill>
                <a:latin typeface="Arial"/>
              </a:defRPr>
            </a:pPr>
            <a:r>
              <a:t>Median Travel Time</a:t>
            </a:r>
          </a:p>
        </p:txBody>
      </p:sp>
      <p:sp>
        <p:nvSpPr>
          <p:cNvPr id="8" name="TextBox 7"/>
          <p:cNvSpPr txBox="1"/>
          <p:nvPr/>
        </p:nvSpPr>
        <p:spPr>
          <a:xfrm>
            <a:off x="7589520" y="1600200"/>
            <a:ext cx="1828800" cy="365760"/>
          </a:xfrm>
          <a:prstGeom prst="rect">
            <a:avLst/>
          </a:prstGeom>
          <a:noFill/>
        </p:spPr>
        <p:txBody>
          <a:bodyPr wrap="square">
            <a:noAutofit/>
          </a:bodyPr>
          <a:lstStyle/>
          <a:p>
            <a:pPr algn="l">
              <a:spcBef>
                <a:spcPts val="0"/>
              </a:spcBef>
              <a:spcAft>
                <a:spcPts val="0"/>
              </a:spcAft>
              <a:defRPr sz="1800" b="0">
                <a:solidFill>
                  <a:srgbClr val="9EADBD"/>
                </a:solidFill>
                <a:latin typeface="Arial"/>
              </a:defRPr>
            </a:pPr>
            <a:r>
              <a:t>Urban:</a:t>
            </a:r>
          </a:p>
        </p:txBody>
      </p:sp>
      <p:sp>
        <p:nvSpPr>
          <p:cNvPr id="9" name="TextBox 8"/>
          <p:cNvSpPr txBox="1"/>
          <p:nvPr/>
        </p:nvSpPr>
        <p:spPr>
          <a:xfrm>
            <a:off x="9326880" y="1600200"/>
            <a:ext cx="2103120" cy="365760"/>
          </a:xfrm>
          <a:prstGeom prst="rect">
            <a:avLst/>
          </a:prstGeom>
          <a:noFill/>
        </p:spPr>
        <p:txBody>
          <a:bodyPr wrap="square">
            <a:noAutofit/>
          </a:bodyPr>
          <a:lstStyle/>
          <a:p>
            <a:pPr algn="l">
              <a:spcBef>
                <a:spcPts val="0"/>
              </a:spcBef>
              <a:spcAft>
                <a:spcPts val="0"/>
              </a:spcAft>
              <a:defRPr sz="2200" b="1">
                <a:solidFill>
                  <a:srgbClr val="009E73"/>
                </a:solidFill>
                <a:latin typeface="Arial"/>
              </a:defRPr>
            </a:pPr>
            <a:r>
              <a:t>19 min</a:t>
            </a:r>
          </a:p>
        </p:txBody>
      </p:sp>
      <p:sp>
        <p:nvSpPr>
          <p:cNvPr id="10" name="TextBox 9"/>
          <p:cNvSpPr txBox="1"/>
          <p:nvPr/>
        </p:nvSpPr>
        <p:spPr>
          <a:xfrm>
            <a:off x="7589520" y="2057400"/>
            <a:ext cx="1828800" cy="365760"/>
          </a:xfrm>
          <a:prstGeom prst="rect">
            <a:avLst/>
          </a:prstGeom>
          <a:noFill/>
        </p:spPr>
        <p:txBody>
          <a:bodyPr wrap="square">
            <a:noAutofit/>
          </a:bodyPr>
          <a:lstStyle/>
          <a:p>
            <a:pPr algn="l">
              <a:spcBef>
                <a:spcPts val="0"/>
              </a:spcBef>
              <a:spcAft>
                <a:spcPts val="0"/>
              </a:spcAft>
              <a:defRPr sz="1800" b="0">
                <a:solidFill>
                  <a:srgbClr val="9EADBD"/>
                </a:solidFill>
                <a:latin typeface="Arial"/>
              </a:defRPr>
            </a:pPr>
            <a:r>
              <a:t>Rural:</a:t>
            </a:r>
          </a:p>
        </p:txBody>
      </p:sp>
      <p:sp>
        <p:nvSpPr>
          <p:cNvPr id="11" name="TextBox 10"/>
          <p:cNvSpPr txBox="1"/>
          <p:nvPr/>
        </p:nvSpPr>
        <p:spPr>
          <a:xfrm>
            <a:off x="9326880" y="2057400"/>
            <a:ext cx="2103120" cy="365760"/>
          </a:xfrm>
          <a:prstGeom prst="rect">
            <a:avLst/>
          </a:prstGeom>
          <a:noFill/>
        </p:spPr>
        <p:txBody>
          <a:bodyPr wrap="square">
            <a:noAutofit/>
          </a:bodyPr>
          <a:lstStyle/>
          <a:p>
            <a:pPr algn="l">
              <a:spcBef>
                <a:spcPts val="0"/>
              </a:spcBef>
              <a:spcAft>
                <a:spcPts val="0"/>
              </a:spcAft>
              <a:defRPr sz="2200" b="1">
                <a:solidFill>
                  <a:srgbClr val="D55E00"/>
                </a:solidFill>
                <a:latin typeface="Arial"/>
              </a:defRPr>
            </a:pPr>
            <a:r>
              <a:t>124 min</a:t>
            </a:r>
          </a:p>
        </p:txBody>
      </p:sp>
      <p:sp>
        <p:nvSpPr>
          <p:cNvPr id="12" name="Rounded Rectangle 11"/>
          <p:cNvSpPr/>
          <p:nvPr/>
        </p:nvSpPr>
        <p:spPr>
          <a:xfrm>
            <a:off x="7315200" y="3291840"/>
            <a:ext cx="4389120" cy="137160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3429000"/>
            <a:ext cx="3840480" cy="457200"/>
          </a:xfrm>
          <a:prstGeom prst="rect">
            <a:avLst/>
          </a:prstGeom>
          <a:noFill/>
        </p:spPr>
        <p:txBody>
          <a:bodyPr wrap="square">
            <a:noAutofit/>
          </a:bodyPr>
          <a:lstStyle/>
          <a:p>
            <a:pPr algn="l">
              <a:spcBef>
                <a:spcPts val="0"/>
              </a:spcBef>
              <a:spcAft>
                <a:spcPts val="0"/>
              </a:spcAft>
              <a:defRPr sz="2600" b="1">
                <a:solidFill>
                  <a:srgbClr val="D55E00"/>
                </a:solidFill>
                <a:latin typeface="Arial"/>
              </a:defRPr>
            </a:pPr>
            <a:r>
              <a:t>6.5x Longer</a:t>
            </a:r>
          </a:p>
        </p:txBody>
      </p:sp>
      <p:sp>
        <p:nvSpPr>
          <p:cNvPr id="14" name="TextBox 13"/>
          <p:cNvSpPr txBox="1"/>
          <p:nvPr/>
        </p:nvSpPr>
        <p:spPr>
          <a:xfrm>
            <a:off x="7589520" y="3931920"/>
            <a:ext cx="3840480" cy="685800"/>
          </a:xfrm>
          <a:prstGeom prst="rect">
            <a:avLst/>
          </a:prstGeom>
          <a:noFill/>
        </p:spPr>
        <p:txBody>
          <a:bodyPr wrap="square">
            <a:noAutofit/>
          </a:bodyPr>
          <a:lstStyle/>
          <a:p>
            <a:pPr algn="l">
              <a:lnSpc>
                <a:spcPts val="2600"/>
              </a:lnSpc>
              <a:spcBef>
                <a:spcPts val="0"/>
              </a:spcBef>
              <a:spcAft>
                <a:spcPts val="0"/>
              </a:spcAft>
              <a:defRPr sz="1800" b="0">
                <a:solidFill>
                  <a:srgbClr val="F0F3F7"/>
                </a:solidFill>
                <a:latin typeface="Arial"/>
              </a:defRPr>
            </a:pPr>
            <a:r>
              <a:t>Rural residents travel 6.5 times</a:t>
            </a:r>
          </a:p>
          <a:p>
            <a:pPr algn="l">
              <a:lnSpc>
                <a:spcPts val="2600"/>
              </a:lnSpc>
              <a:spcBef>
                <a:spcPts val="0"/>
              </a:spcBef>
              <a:spcAft>
                <a:spcPts val="0"/>
              </a:spcAft>
              <a:defRPr sz="1800" b="0">
                <a:solidFill>
                  <a:srgbClr val="F0F3F7"/>
                </a:solidFill>
                <a:latin typeface="Arial"/>
              </a:defRPr>
            </a:pPr>
            <a:r>
              <a:t>farther to reach burn care.</a:t>
            </a:r>
          </a:p>
        </p:txBody>
      </p:sp>
      <p:sp>
        <p:nvSpPr>
          <p:cNvPr id="15" name="Rounded Rectangle 14"/>
          <p:cNvSpPr/>
          <p:nvPr/>
        </p:nvSpPr>
        <p:spPr>
          <a:xfrm>
            <a:off x="7315200" y="4846320"/>
            <a:ext cx="4389120" cy="137160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0" y="4983480"/>
            <a:ext cx="3840480" cy="1143000"/>
          </a:xfrm>
          <a:prstGeom prst="rect">
            <a:avLst/>
          </a:prstGeom>
          <a:noFill/>
        </p:spPr>
        <p:txBody>
          <a:bodyPr wrap="square">
            <a:noAutofit/>
          </a:bodyPr>
          <a:lstStyle/>
          <a:p>
            <a:pPr algn="l">
              <a:lnSpc>
                <a:spcPts val="2800"/>
              </a:lnSpc>
              <a:spcBef>
                <a:spcPts val="0"/>
              </a:spcBef>
              <a:spcAft>
                <a:spcPts val="0"/>
              </a:spcAft>
              <a:defRPr sz="1800" b="0">
                <a:solidFill>
                  <a:srgbClr val="9EADBD"/>
                </a:solidFill>
                <a:latin typeface="Arial"/>
              </a:defRPr>
            </a:pPr>
            <a:r>
              <a:t>30.5% of MN tracts are rural</a:t>
            </a:r>
          </a:p>
          <a:p>
            <a:pPr algn="l">
              <a:lnSpc>
                <a:spcPts val="2800"/>
              </a:lnSpc>
              <a:spcBef>
                <a:spcPts val="0"/>
              </a:spcBef>
              <a:spcAft>
                <a:spcPts val="0"/>
              </a:spcAft>
              <a:defRPr sz="1800" b="0">
                <a:solidFill>
                  <a:srgbClr val="9EADBD"/>
                </a:solidFill>
                <a:latin typeface="Arial"/>
              </a:defRPr>
            </a:pPr>
            <a:r>
              <a:t>Only 50.1% of Minnesotans</a:t>
            </a:r>
          </a:p>
          <a:p>
            <a:pPr algn="l">
              <a:lnSpc>
                <a:spcPts val="2800"/>
              </a:lnSpc>
              <a:spcBef>
                <a:spcPts val="0"/>
              </a:spcBef>
              <a:spcAft>
                <a:spcPts val="0"/>
              </a:spcAft>
              <a:defRPr sz="1800" b="0">
                <a:solidFill>
                  <a:srgbClr val="9EADBD"/>
                </a:solidFill>
                <a:latin typeface="Arial"/>
              </a:defRPr>
            </a:pPr>
            <a:r>
              <a:t>can reach care in 30 min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TextBox 1"/>
          <p:cNvSpPr txBox="1"/>
          <p:nvPr/>
        </p:nvSpPr>
        <p:spPr>
          <a:xfrm>
            <a:off x="640080" y="274320"/>
            <a:ext cx="10972800" cy="548640"/>
          </a:xfrm>
          <a:prstGeom prst="rect">
            <a:avLst/>
          </a:prstGeom>
          <a:noFill/>
        </p:spPr>
        <p:txBody>
          <a:bodyPr wrap="square">
            <a:noAutofit/>
          </a:bodyPr>
          <a:lstStyle/>
          <a:p>
            <a:pPr algn="l">
              <a:spcBef>
                <a:spcPts val="0"/>
              </a:spcBef>
              <a:spcAft>
                <a:spcPts val="0"/>
              </a:spcAft>
              <a:defRPr sz="3400" b="1">
                <a:solidFill>
                  <a:srgbClr val="F0F3F7"/>
                </a:solidFill>
                <a:latin typeface="Arial"/>
              </a:defRPr>
            </a:pPr>
            <a:r>
              <a:t>National: County-Level BEI Map</a:t>
            </a:r>
          </a:p>
        </p:txBody>
      </p:sp>
      <p:sp>
        <p:nvSpPr>
          <p:cNvPr id="3" name="TextBox 2"/>
          <p:cNvSpPr txBox="1"/>
          <p:nvPr/>
        </p:nvSpPr>
        <p:spPr>
          <a:xfrm>
            <a:off x="640080" y="777240"/>
            <a:ext cx="10972800" cy="320040"/>
          </a:xfrm>
          <a:prstGeom prst="rect">
            <a:avLst/>
          </a:prstGeom>
          <a:noFill/>
        </p:spPr>
        <p:txBody>
          <a:bodyPr wrap="square">
            <a:noAutofit/>
          </a:bodyPr>
          <a:lstStyle/>
          <a:p>
            <a:pPr algn="l">
              <a:spcBef>
                <a:spcPts val="0"/>
              </a:spcBef>
              <a:spcAft>
                <a:spcPts val="0"/>
              </a:spcAft>
              <a:defRPr sz="1800" b="0">
                <a:solidFill>
                  <a:srgbClr val="9EADBD"/>
                </a:solidFill>
                <a:latin typeface="Arial"/>
              </a:defRPr>
            </a:pPr>
            <a:r>
              <a:t>3,144 counties  |  331 million Americans  |  Interactive Dashboard</a:t>
            </a:r>
          </a:p>
        </p:txBody>
      </p:sp>
      <p:sp>
        <p:nvSpPr>
          <p:cNvPr id="4" name="Rounded Rectangle 3"/>
          <p:cNvSpPr/>
          <p:nvPr/>
        </p:nvSpPr>
        <p:spPr>
          <a:xfrm>
            <a:off x="457200" y="1280160"/>
            <a:ext cx="7772400" cy="5029200"/>
          </a:xfrm>
          <a:prstGeom prst="roundRect">
            <a:avLst/>
          </a:prstGeom>
          <a:solidFill>
            <a:srgbClr val="1E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280160"/>
            <a:ext cx="7772400" cy="54864"/>
          </a:xfrm>
          <a:prstGeom prst="rect">
            <a:avLst/>
          </a:prstGeom>
          <a:solidFill>
            <a:srgbClr val="56B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337560"/>
            <a:ext cx="6858000" cy="914400"/>
          </a:xfrm>
          <a:prstGeom prst="rect">
            <a:avLst/>
          </a:prstGeom>
          <a:noFill/>
        </p:spPr>
        <p:txBody>
          <a:bodyPr wrap="square">
            <a:noAutofit/>
          </a:bodyPr>
          <a:lstStyle/>
          <a:p>
            <a:pPr algn="ctr">
              <a:spcBef>
                <a:spcPts val="0"/>
              </a:spcBef>
              <a:spcAft>
                <a:spcPts val="0"/>
              </a:spcAft>
              <a:defRPr sz="1600" b="1">
                <a:solidFill>
                  <a:srgbClr val="9EADBD"/>
                </a:solidFill>
                <a:latin typeface="Arial"/>
              </a:defRPr>
            </a:pPr>
            <a:r>
              <a:t>[ DASHBOARD SCREENSHOT ]</a:t>
            </a:r>
          </a:p>
          <a:p>
            <a:pPr algn="ctr">
              <a:spcBef>
                <a:spcPts val="0"/>
              </a:spcBef>
              <a:spcAft>
                <a:spcPts val="0"/>
              </a:spcAft>
              <a:defRPr sz="1600" b="1">
                <a:solidFill>
                  <a:srgbClr val="9EADBD"/>
                </a:solidFill>
                <a:latin typeface="Arial"/>
              </a:defRPr>
            </a:pPr>
            <a:r>
              <a:t>USA County Map Page -- Full national BEI choropleth</a:t>
            </a:r>
          </a:p>
        </p:txBody>
      </p:sp>
      <p:sp>
        <p:nvSpPr>
          <p:cNvPr id="7" name="Rounded Rectangle 6"/>
          <p:cNvSpPr/>
          <p:nvPr/>
        </p:nvSpPr>
        <p:spPr>
          <a:xfrm>
            <a:off x="8503920" y="1280160"/>
            <a:ext cx="3200400" cy="15544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1371600"/>
            <a:ext cx="2834640" cy="320040"/>
          </a:xfrm>
          <a:prstGeom prst="rect">
            <a:avLst/>
          </a:prstGeom>
          <a:noFill/>
        </p:spPr>
        <p:txBody>
          <a:bodyPr wrap="square">
            <a:noAutofit/>
          </a:bodyPr>
          <a:lstStyle/>
          <a:p>
            <a:pPr algn="l">
              <a:spcBef>
                <a:spcPts val="0"/>
              </a:spcBef>
              <a:spcAft>
                <a:spcPts val="0"/>
              </a:spcAft>
              <a:defRPr sz="1700" b="1">
                <a:solidFill>
                  <a:srgbClr val="D55E00"/>
                </a:solidFill>
                <a:latin typeface="Arial"/>
              </a:defRPr>
            </a:pPr>
            <a:r>
              <a:t>Worst States (Avg BEI)</a:t>
            </a:r>
          </a:p>
        </p:txBody>
      </p:sp>
      <p:sp>
        <p:nvSpPr>
          <p:cNvPr id="9" name="TextBox 8"/>
          <p:cNvSpPr txBox="1"/>
          <p:nvPr/>
        </p:nvSpPr>
        <p:spPr>
          <a:xfrm>
            <a:off x="8686800" y="1737360"/>
            <a:ext cx="2834640" cy="914400"/>
          </a:xfrm>
          <a:prstGeom prst="rect">
            <a:avLst/>
          </a:prstGeom>
          <a:noFill/>
        </p:spPr>
        <p:txBody>
          <a:bodyPr wrap="square">
            <a:noAutofit/>
          </a:bodyPr>
          <a:lstStyle/>
          <a:p>
            <a:pPr algn="l">
              <a:lnSpc>
                <a:spcPts val="2400"/>
              </a:lnSpc>
              <a:spcBef>
                <a:spcPts val="0"/>
              </a:spcBef>
              <a:spcAft>
                <a:spcPts val="0"/>
              </a:spcAft>
              <a:defRPr sz="1600" b="0">
                <a:solidFill>
                  <a:srgbClr val="F0F3F7"/>
                </a:solidFill>
                <a:latin typeface="Arial"/>
              </a:defRPr>
            </a:pPr>
            <a:r>
              <a:t>AK: 99.7   ND: 99.0</a:t>
            </a:r>
          </a:p>
          <a:p>
            <a:pPr algn="l">
              <a:lnSpc>
                <a:spcPts val="2400"/>
              </a:lnSpc>
              <a:spcBef>
                <a:spcPts val="0"/>
              </a:spcBef>
              <a:spcAft>
                <a:spcPts val="0"/>
              </a:spcAft>
              <a:defRPr sz="1600" b="0">
                <a:solidFill>
                  <a:srgbClr val="F0F3F7"/>
                </a:solidFill>
                <a:latin typeface="Arial"/>
              </a:defRPr>
            </a:pPr>
            <a:r>
              <a:t>MT: 96.5   SD: 96.4</a:t>
            </a:r>
          </a:p>
          <a:p>
            <a:pPr algn="l">
              <a:lnSpc>
                <a:spcPts val="2400"/>
              </a:lnSpc>
              <a:spcBef>
                <a:spcPts val="0"/>
              </a:spcBef>
              <a:spcAft>
                <a:spcPts val="0"/>
              </a:spcAft>
              <a:defRPr sz="1600" b="0">
                <a:solidFill>
                  <a:srgbClr val="F0F3F7"/>
                </a:solidFill>
                <a:latin typeface="Arial"/>
              </a:defRPr>
            </a:pPr>
            <a:r>
              <a:t>WY: 83.4   NV: 83.3</a:t>
            </a:r>
          </a:p>
        </p:txBody>
      </p:sp>
      <p:sp>
        <p:nvSpPr>
          <p:cNvPr id="10" name="Rounded Rectangle 9"/>
          <p:cNvSpPr/>
          <p:nvPr/>
        </p:nvSpPr>
        <p:spPr>
          <a:xfrm>
            <a:off x="8503920" y="3017520"/>
            <a:ext cx="3200400" cy="128016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0" y="3108960"/>
            <a:ext cx="2834640" cy="320040"/>
          </a:xfrm>
          <a:prstGeom prst="rect">
            <a:avLst/>
          </a:prstGeom>
          <a:noFill/>
        </p:spPr>
        <p:txBody>
          <a:bodyPr wrap="square">
            <a:noAutofit/>
          </a:bodyPr>
          <a:lstStyle/>
          <a:p>
            <a:pPr algn="l">
              <a:spcBef>
                <a:spcPts val="0"/>
              </a:spcBef>
              <a:spcAft>
                <a:spcPts val="0"/>
              </a:spcAft>
              <a:defRPr sz="1700" b="1">
                <a:solidFill>
                  <a:srgbClr val="009E73"/>
                </a:solidFill>
                <a:latin typeface="Arial"/>
              </a:defRPr>
            </a:pPr>
            <a:r>
              <a:t>Best States (Avg BEI)</a:t>
            </a:r>
          </a:p>
        </p:txBody>
      </p:sp>
      <p:sp>
        <p:nvSpPr>
          <p:cNvPr id="12" name="TextBox 11"/>
          <p:cNvSpPr txBox="1"/>
          <p:nvPr/>
        </p:nvSpPr>
        <p:spPr>
          <a:xfrm>
            <a:off x="8686800" y="3474720"/>
            <a:ext cx="2834640" cy="640080"/>
          </a:xfrm>
          <a:prstGeom prst="rect">
            <a:avLst/>
          </a:prstGeom>
          <a:noFill/>
        </p:spPr>
        <p:txBody>
          <a:bodyPr wrap="square">
            <a:noAutofit/>
          </a:bodyPr>
          <a:lstStyle/>
          <a:p>
            <a:pPr algn="l">
              <a:lnSpc>
                <a:spcPts val="2400"/>
              </a:lnSpc>
              <a:spcBef>
                <a:spcPts val="0"/>
              </a:spcBef>
              <a:spcAft>
                <a:spcPts val="0"/>
              </a:spcAft>
              <a:defRPr sz="1600" b="0">
                <a:solidFill>
                  <a:srgbClr val="F0F3F7"/>
                </a:solidFill>
                <a:latin typeface="Arial"/>
              </a:defRPr>
            </a:pPr>
            <a:r>
              <a:t>NJ: 10.0   RI: 29.5</a:t>
            </a:r>
          </a:p>
          <a:p>
            <a:pPr algn="l">
              <a:lnSpc>
                <a:spcPts val="2400"/>
              </a:lnSpc>
              <a:spcBef>
                <a:spcPts val="0"/>
              </a:spcBef>
              <a:spcAft>
                <a:spcPts val="0"/>
              </a:spcAft>
              <a:defRPr sz="1600" b="0">
                <a:solidFill>
                  <a:srgbClr val="F0F3F7"/>
                </a:solidFill>
                <a:latin typeface="Arial"/>
              </a:defRPr>
            </a:pPr>
            <a:r>
              <a:t>MD: 29.8   MA: 31.0</a:t>
            </a:r>
          </a:p>
        </p:txBody>
      </p:sp>
      <p:sp>
        <p:nvSpPr>
          <p:cNvPr id="13" name="Rounded Rectangle 12"/>
          <p:cNvSpPr/>
          <p:nvPr/>
        </p:nvSpPr>
        <p:spPr>
          <a:xfrm>
            <a:off x="8503920" y="4480560"/>
            <a:ext cx="3200400" cy="182880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0" y="4572000"/>
            <a:ext cx="2834640" cy="548640"/>
          </a:xfrm>
          <a:prstGeom prst="rect">
            <a:avLst/>
          </a:prstGeom>
          <a:noFill/>
        </p:spPr>
        <p:txBody>
          <a:bodyPr wrap="square">
            <a:noAutofit/>
          </a:bodyPr>
          <a:lstStyle/>
          <a:p>
            <a:pPr algn="l">
              <a:lnSpc>
                <a:spcPts val="2200"/>
              </a:lnSpc>
              <a:spcBef>
                <a:spcPts val="0"/>
              </a:spcBef>
              <a:spcAft>
                <a:spcPts val="0"/>
              </a:spcAft>
              <a:defRPr sz="1700" b="1">
                <a:solidFill>
                  <a:srgbClr val="E69F00"/>
                </a:solidFill>
                <a:latin typeface="Arial"/>
              </a:defRPr>
            </a:pPr>
            <a:r>
              <a:t>8 States -- Zero Burn</a:t>
            </a:r>
          </a:p>
          <a:p>
            <a:pPr algn="l">
              <a:lnSpc>
                <a:spcPts val="2200"/>
              </a:lnSpc>
              <a:spcBef>
                <a:spcPts val="0"/>
              </a:spcBef>
              <a:spcAft>
                <a:spcPts val="0"/>
              </a:spcAft>
              <a:defRPr sz="1700" b="1">
                <a:solidFill>
                  <a:srgbClr val="E69F00"/>
                </a:solidFill>
                <a:latin typeface="Arial"/>
              </a:defRPr>
            </a:pPr>
            <a:r>
              <a:t>Centers</a:t>
            </a:r>
          </a:p>
        </p:txBody>
      </p:sp>
      <p:sp>
        <p:nvSpPr>
          <p:cNvPr id="15" name="TextBox 14"/>
          <p:cNvSpPr txBox="1"/>
          <p:nvPr/>
        </p:nvSpPr>
        <p:spPr>
          <a:xfrm>
            <a:off x="8686800" y="5166360"/>
            <a:ext cx="2834640" cy="777240"/>
          </a:xfrm>
          <a:prstGeom prst="rect">
            <a:avLst/>
          </a:prstGeom>
          <a:noFill/>
        </p:spPr>
        <p:txBody>
          <a:bodyPr wrap="square">
            <a:noAutofit/>
          </a:bodyPr>
          <a:lstStyle/>
          <a:p>
            <a:pPr algn="l">
              <a:lnSpc>
                <a:spcPts val="2400"/>
              </a:lnSpc>
              <a:spcBef>
                <a:spcPts val="0"/>
              </a:spcBef>
              <a:spcAft>
                <a:spcPts val="0"/>
              </a:spcAft>
              <a:defRPr sz="1600" b="0">
                <a:solidFill>
                  <a:srgbClr val="F0F3F7"/>
                </a:solidFill>
                <a:latin typeface="Arial"/>
              </a:defRPr>
            </a:pPr>
            <a:r>
              <a:t>AK, DE, MS, MT,</a:t>
            </a:r>
          </a:p>
          <a:p>
            <a:pPr algn="l">
              <a:lnSpc>
                <a:spcPts val="2400"/>
              </a:lnSpc>
              <a:spcBef>
                <a:spcPts val="0"/>
              </a:spcBef>
              <a:spcAft>
                <a:spcPts val="0"/>
              </a:spcAft>
              <a:defRPr sz="1600" b="0">
                <a:solidFill>
                  <a:srgbClr val="F0F3F7"/>
                </a:solidFill>
                <a:latin typeface="Arial"/>
              </a:defRPr>
            </a:pPr>
            <a:r>
              <a:t>ND, NH, SD, WY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TextBox 1"/>
          <p:cNvSpPr txBox="1"/>
          <p:nvPr/>
        </p:nvSpPr>
        <p:spPr>
          <a:xfrm>
            <a:off x="640080" y="274320"/>
            <a:ext cx="10972800" cy="548640"/>
          </a:xfrm>
          <a:prstGeom prst="rect">
            <a:avLst/>
          </a:prstGeom>
          <a:noFill/>
        </p:spPr>
        <p:txBody>
          <a:bodyPr wrap="square">
            <a:noAutofit/>
          </a:bodyPr>
          <a:lstStyle/>
          <a:p>
            <a:pPr algn="l">
              <a:spcBef>
                <a:spcPts val="0"/>
              </a:spcBef>
              <a:spcAft>
                <a:spcPts val="0"/>
              </a:spcAft>
              <a:defRPr sz="3400" b="1">
                <a:solidFill>
                  <a:srgbClr val="F0F3F7"/>
                </a:solidFill>
                <a:latin typeface="Arial"/>
              </a:defRPr>
            </a:pPr>
            <a:r>
              <a:t>State Rankings &amp; Coverage Gaps</a:t>
            </a:r>
          </a:p>
        </p:txBody>
      </p:sp>
      <p:sp>
        <p:nvSpPr>
          <p:cNvPr id="3" name="Rounded Rectangle 2"/>
          <p:cNvSpPr/>
          <p:nvPr/>
        </p:nvSpPr>
        <p:spPr>
          <a:xfrm>
            <a:off x="365760" y="1097280"/>
            <a:ext cx="5577840" cy="5212080"/>
          </a:xfrm>
          <a:prstGeom prst="roundRect">
            <a:avLst/>
          </a:prstGeom>
          <a:solidFill>
            <a:srgbClr val="1E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1097280"/>
            <a:ext cx="5577840" cy="54864"/>
          </a:xfrm>
          <a:prstGeom prst="rect">
            <a:avLst/>
          </a:prstGeom>
          <a:solidFill>
            <a:srgbClr val="56B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246120"/>
            <a:ext cx="4663440" cy="914400"/>
          </a:xfrm>
          <a:prstGeom prst="rect">
            <a:avLst/>
          </a:prstGeom>
          <a:noFill/>
        </p:spPr>
        <p:txBody>
          <a:bodyPr wrap="square">
            <a:noAutofit/>
          </a:bodyPr>
          <a:lstStyle/>
          <a:p>
            <a:pPr algn="ctr">
              <a:spcBef>
                <a:spcPts val="0"/>
              </a:spcBef>
              <a:spcAft>
                <a:spcPts val="0"/>
              </a:spcAft>
              <a:defRPr sz="1600" b="1">
                <a:solidFill>
                  <a:srgbClr val="9EADBD"/>
                </a:solidFill>
                <a:latin typeface="Arial"/>
              </a:defRPr>
            </a:pPr>
            <a:r>
              <a:t>[ DASHBOARD SCREENSHOT ]</a:t>
            </a:r>
          </a:p>
          <a:p>
            <a:pPr algn="ctr">
              <a:spcBef>
                <a:spcPts val="0"/>
              </a:spcBef>
              <a:spcAft>
                <a:spcPts val="0"/>
              </a:spcAft>
              <a:defRPr sz="1600" b="1">
                <a:solidFill>
                  <a:srgbClr val="9EADBD"/>
                </a:solidFill>
                <a:latin typeface="Arial"/>
              </a:defRPr>
            </a:pPr>
            <a:r>
              <a:t>State Rankings bar chart</a:t>
            </a:r>
          </a:p>
          <a:p>
            <a:pPr algn="ctr">
              <a:spcBef>
                <a:spcPts val="0"/>
              </a:spcBef>
              <a:spcAft>
                <a:spcPts val="0"/>
              </a:spcAft>
              <a:defRPr sz="1600" b="1">
                <a:solidFill>
                  <a:srgbClr val="9EADBD"/>
                </a:solidFill>
                <a:latin typeface="Arial"/>
              </a:defRPr>
            </a:pPr>
            <a:r>
              <a:t>(usa_02_state_rankings.png)</a:t>
            </a:r>
          </a:p>
        </p:txBody>
      </p:sp>
      <p:sp>
        <p:nvSpPr>
          <p:cNvPr id="6" name="Rounded Rectangle 5"/>
          <p:cNvSpPr/>
          <p:nvPr/>
        </p:nvSpPr>
        <p:spPr>
          <a:xfrm>
            <a:off x="6126480" y="1097280"/>
            <a:ext cx="5577840" cy="5212080"/>
          </a:xfrm>
          <a:prstGeom prst="roundRect">
            <a:avLst/>
          </a:prstGeom>
          <a:solidFill>
            <a:srgbClr val="1E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126480" y="1097280"/>
            <a:ext cx="5577840" cy="54864"/>
          </a:xfrm>
          <a:prstGeom prst="rect">
            <a:avLst/>
          </a:prstGeom>
          <a:solidFill>
            <a:srgbClr val="56B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3246120"/>
            <a:ext cx="4663440" cy="914400"/>
          </a:xfrm>
          <a:prstGeom prst="rect">
            <a:avLst/>
          </a:prstGeom>
          <a:noFill/>
        </p:spPr>
        <p:txBody>
          <a:bodyPr wrap="square">
            <a:noAutofit/>
          </a:bodyPr>
          <a:lstStyle/>
          <a:p>
            <a:pPr algn="ctr">
              <a:spcBef>
                <a:spcPts val="0"/>
              </a:spcBef>
              <a:spcAft>
                <a:spcPts val="0"/>
              </a:spcAft>
              <a:defRPr sz="1600" b="1">
                <a:solidFill>
                  <a:srgbClr val="9EADBD"/>
                </a:solidFill>
                <a:latin typeface="Arial"/>
              </a:defRPr>
            </a:pPr>
            <a:r>
              <a:t>[ DASHBOARD SCREENSHOT ]</a:t>
            </a:r>
          </a:p>
          <a:p>
            <a:pPr algn="ctr">
              <a:spcBef>
                <a:spcPts val="0"/>
              </a:spcBef>
              <a:spcAft>
                <a:spcPts val="0"/>
              </a:spcAft>
              <a:defRPr sz="1600" b="1">
                <a:solidFill>
                  <a:srgbClr val="9EADBD"/>
                </a:solidFill>
                <a:latin typeface="Arial"/>
              </a:defRPr>
            </a:pPr>
            <a:r>
              <a:t>National Coverage Gap chart</a:t>
            </a:r>
          </a:p>
          <a:p>
            <a:pPr algn="ctr">
              <a:spcBef>
                <a:spcPts val="0"/>
              </a:spcBef>
              <a:spcAft>
                <a:spcPts val="0"/>
              </a:spcAft>
              <a:defRPr sz="1600" b="1">
                <a:solidFill>
                  <a:srgbClr val="9EADBD"/>
                </a:solidFill>
                <a:latin typeface="Arial"/>
              </a:defRPr>
            </a:pPr>
            <a:r>
              <a:t>(usa_03_coverage_gap.png)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TextBox 1"/>
          <p:cNvSpPr txBox="1"/>
          <p:nvPr/>
        </p:nvSpPr>
        <p:spPr>
          <a:xfrm>
            <a:off x="640080" y="274320"/>
            <a:ext cx="10972800" cy="548640"/>
          </a:xfrm>
          <a:prstGeom prst="rect">
            <a:avLst/>
          </a:prstGeom>
          <a:noFill/>
        </p:spPr>
        <p:txBody>
          <a:bodyPr wrap="square">
            <a:noAutofit/>
          </a:bodyPr>
          <a:lstStyle/>
          <a:p>
            <a:pPr algn="l">
              <a:spcBef>
                <a:spcPts val="0"/>
              </a:spcBef>
              <a:spcAft>
                <a:spcPts val="0"/>
              </a:spcAft>
              <a:defRPr sz="3800" b="1">
                <a:solidFill>
                  <a:srgbClr val="F0F3F7"/>
                </a:solidFill>
                <a:latin typeface="Arial"/>
              </a:defRPr>
            </a:pPr>
            <a:r>
              <a:t>What Makes BEI Different</a:t>
            </a:r>
          </a:p>
        </p:txBody>
      </p:sp>
      <p:sp>
        <p:nvSpPr>
          <p:cNvPr id="3" name="Rounded Rectangle 2"/>
          <p:cNvSpPr/>
          <p:nvPr/>
        </p:nvSpPr>
        <p:spPr>
          <a:xfrm>
            <a:off x="457200" y="1097280"/>
            <a:ext cx="5486400" cy="24688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1280160"/>
            <a:ext cx="502920" cy="502920"/>
          </a:xfrm>
          <a:prstGeom prst="ellipse">
            <a:avLst/>
          </a:prstGeom>
          <a:solidFill>
            <a:srgbClr val="56B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07592"/>
            <a:ext cx="502920" cy="457200"/>
          </a:xfrm>
          <a:prstGeom prst="rect">
            <a:avLst/>
          </a:prstGeom>
          <a:noFill/>
        </p:spPr>
        <p:txBody>
          <a:bodyPr wrap="square">
            <a:noAutofit/>
          </a:bodyPr>
          <a:lstStyle/>
          <a:p>
            <a:pPr algn="ctr">
              <a:spcBef>
                <a:spcPts val="0"/>
              </a:spcBef>
              <a:spcAft>
                <a:spcPts val="0"/>
              </a:spcAft>
              <a:defRPr sz="2000" b="1">
                <a:solidFill>
                  <a:srgbClr val="121A27"/>
                </a:solidFill>
                <a:latin typeface="Arial"/>
              </a:defRPr>
            </a:pPr>
            <a:r>
              <a:t>1</a:t>
            </a:r>
          </a:p>
        </p:txBody>
      </p:sp>
      <p:sp>
        <p:nvSpPr>
          <p:cNvPr id="6" name="TextBox 5"/>
          <p:cNvSpPr txBox="1"/>
          <p:nvPr/>
        </p:nvSpPr>
        <p:spPr>
          <a:xfrm>
            <a:off x="1371600" y="1280160"/>
            <a:ext cx="4297680" cy="365760"/>
          </a:xfrm>
          <a:prstGeom prst="rect">
            <a:avLst/>
          </a:prstGeom>
          <a:noFill/>
        </p:spPr>
        <p:txBody>
          <a:bodyPr wrap="square">
            <a:noAutofit/>
          </a:bodyPr>
          <a:lstStyle/>
          <a:p>
            <a:pPr algn="l">
              <a:spcBef>
                <a:spcPts val="0"/>
              </a:spcBef>
              <a:spcAft>
                <a:spcPts val="0"/>
              </a:spcAft>
              <a:defRPr sz="2100" b="1">
                <a:solidFill>
                  <a:srgbClr val="F0F3F7"/>
                </a:solidFill>
                <a:latin typeface="Arial"/>
              </a:defRPr>
            </a:pPr>
            <a:r>
              <a:t>Tiered System Modeling</a:t>
            </a:r>
          </a:p>
        </p:txBody>
      </p:sp>
      <p:sp>
        <p:nvSpPr>
          <p:cNvPr id="7" name="TextBox 6"/>
          <p:cNvSpPr txBox="1"/>
          <p:nvPr/>
        </p:nvSpPr>
        <p:spPr>
          <a:xfrm>
            <a:off x="685800" y="1828800"/>
            <a:ext cx="5029200" cy="1371600"/>
          </a:xfrm>
          <a:prstGeom prst="rect">
            <a:avLst/>
          </a:prstGeom>
          <a:noFill/>
        </p:spPr>
        <p:txBody>
          <a:bodyPr wrap="square">
            <a:noAutofit/>
          </a:bodyPr>
          <a:lstStyle/>
          <a:p>
            <a:pPr algn="l">
              <a:lnSpc>
                <a:spcPts val="2600"/>
              </a:lnSpc>
              <a:spcBef>
                <a:spcPts val="0"/>
              </a:spcBef>
              <a:spcAft>
                <a:spcPts val="0"/>
              </a:spcAft>
              <a:defRPr sz="1700" b="0">
                <a:solidFill>
                  <a:srgbClr val="9EADBD"/>
                </a:solidFill>
                <a:latin typeface="Arial"/>
              </a:defRPr>
            </a:pPr>
            <a:r>
              <a:t>Models the real-world stabilize-then-</a:t>
            </a:r>
          </a:p>
          <a:p>
            <a:pPr algn="l">
              <a:lnSpc>
                <a:spcPts val="2600"/>
              </a:lnSpc>
              <a:spcBef>
                <a:spcPts val="0"/>
              </a:spcBef>
              <a:spcAft>
                <a:spcPts val="0"/>
              </a:spcAft>
              <a:defRPr sz="1700" b="0">
                <a:solidFill>
                  <a:srgbClr val="9EADBD"/>
                </a:solidFill>
                <a:latin typeface="Arial"/>
              </a:defRPr>
            </a:pPr>
            <a:r>
              <a:t>transfer pathway with explicit transfer</a:t>
            </a:r>
          </a:p>
          <a:p>
            <a:pPr algn="l">
              <a:lnSpc>
                <a:spcPts val="2600"/>
              </a:lnSpc>
              <a:spcBef>
                <a:spcPts val="0"/>
              </a:spcBef>
              <a:spcAft>
                <a:spcPts val="0"/>
              </a:spcAft>
              <a:defRPr sz="1700" b="0">
                <a:solidFill>
                  <a:srgbClr val="9EADBD"/>
                </a:solidFill>
                <a:latin typeface="Arial"/>
              </a:defRPr>
            </a:pPr>
            <a:r>
              <a:t>penalties and tier gap detection.</a:t>
            </a:r>
          </a:p>
        </p:txBody>
      </p:sp>
      <p:sp>
        <p:nvSpPr>
          <p:cNvPr id="8" name="Rounded Rectangle 7"/>
          <p:cNvSpPr/>
          <p:nvPr/>
        </p:nvSpPr>
        <p:spPr>
          <a:xfrm>
            <a:off x="6217920" y="1097280"/>
            <a:ext cx="5486400" cy="24688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00800" y="1280160"/>
            <a:ext cx="502920" cy="502920"/>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307592"/>
            <a:ext cx="502920" cy="457200"/>
          </a:xfrm>
          <a:prstGeom prst="rect">
            <a:avLst/>
          </a:prstGeom>
          <a:noFill/>
        </p:spPr>
        <p:txBody>
          <a:bodyPr wrap="square">
            <a:noAutofit/>
          </a:bodyPr>
          <a:lstStyle/>
          <a:p>
            <a:pPr algn="ctr">
              <a:spcBef>
                <a:spcPts val="0"/>
              </a:spcBef>
              <a:spcAft>
                <a:spcPts val="0"/>
              </a:spcAft>
              <a:defRPr sz="2000" b="1">
                <a:solidFill>
                  <a:srgbClr val="121A27"/>
                </a:solidFill>
                <a:latin typeface="Arial"/>
              </a:defRPr>
            </a:pPr>
            <a:r>
              <a:t>2</a:t>
            </a:r>
          </a:p>
        </p:txBody>
      </p:sp>
      <p:sp>
        <p:nvSpPr>
          <p:cNvPr id="11" name="TextBox 10"/>
          <p:cNvSpPr txBox="1"/>
          <p:nvPr/>
        </p:nvSpPr>
        <p:spPr>
          <a:xfrm>
            <a:off x="7132320" y="1280160"/>
            <a:ext cx="4297680" cy="365760"/>
          </a:xfrm>
          <a:prstGeom prst="rect">
            <a:avLst/>
          </a:prstGeom>
          <a:noFill/>
        </p:spPr>
        <p:txBody>
          <a:bodyPr wrap="square">
            <a:noAutofit/>
          </a:bodyPr>
          <a:lstStyle/>
          <a:p>
            <a:pPr algn="l">
              <a:spcBef>
                <a:spcPts val="0"/>
              </a:spcBef>
              <a:spcAft>
                <a:spcPts val="0"/>
              </a:spcAft>
              <a:defRPr sz="2100" b="1">
                <a:solidFill>
                  <a:srgbClr val="F0F3F7"/>
                </a:solidFill>
                <a:latin typeface="Arial"/>
              </a:defRPr>
            </a:pPr>
            <a:r>
              <a:t>Multi-Scenario Transport</a:t>
            </a:r>
          </a:p>
        </p:txBody>
      </p:sp>
      <p:sp>
        <p:nvSpPr>
          <p:cNvPr id="12" name="TextBox 11"/>
          <p:cNvSpPr txBox="1"/>
          <p:nvPr/>
        </p:nvSpPr>
        <p:spPr>
          <a:xfrm>
            <a:off x="6446520" y="1828800"/>
            <a:ext cx="5029200" cy="1371600"/>
          </a:xfrm>
          <a:prstGeom prst="rect">
            <a:avLst/>
          </a:prstGeom>
          <a:noFill/>
        </p:spPr>
        <p:txBody>
          <a:bodyPr wrap="square">
            <a:noAutofit/>
          </a:bodyPr>
          <a:lstStyle/>
          <a:p>
            <a:pPr algn="l">
              <a:lnSpc>
                <a:spcPts val="2600"/>
              </a:lnSpc>
              <a:spcBef>
                <a:spcPts val="0"/>
              </a:spcBef>
              <a:spcAft>
                <a:spcPts val="0"/>
              </a:spcAft>
              <a:defRPr sz="1700" b="0">
                <a:solidFill>
                  <a:srgbClr val="9EADBD"/>
                </a:solidFill>
                <a:latin typeface="Arial"/>
              </a:defRPr>
            </a:pPr>
            <a:r>
              <a:t>Ground-only baseline plus ground-</a:t>
            </a:r>
          </a:p>
          <a:p>
            <a:pPr algn="l">
              <a:lnSpc>
                <a:spcPts val="2600"/>
              </a:lnSpc>
              <a:spcBef>
                <a:spcPts val="0"/>
              </a:spcBef>
              <a:spcAft>
                <a:spcPts val="0"/>
              </a:spcAft>
              <a:defRPr sz="1700" b="0">
                <a:solidFill>
                  <a:srgbClr val="9EADBD"/>
                </a:solidFill>
                <a:latin typeface="Arial"/>
              </a:defRPr>
            </a:pPr>
            <a:r>
              <a:t>plus-air sensitivity using FAA data.</a:t>
            </a:r>
          </a:p>
          <a:p>
            <a:pPr algn="l">
              <a:lnSpc>
                <a:spcPts val="2600"/>
              </a:lnSpc>
              <a:spcBef>
                <a:spcPts val="0"/>
              </a:spcBef>
              <a:spcAft>
                <a:spcPts val="0"/>
              </a:spcAft>
              <a:defRPr sz="1700" b="0">
                <a:solidFill>
                  <a:srgbClr val="9EADBD"/>
                </a:solidFill>
                <a:latin typeface="Arial"/>
              </a:defRPr>
            </a:pPr>
            <a:r>
              <a:t>Published as scenario analysis.</a:t>
            </a:r>
          </a:p>
        </p:txBody>
      </p:sp>
      <p:sp>
        <p:nvSpPr>
          <p:cNvPr id="13" name="Rounded Rectangle 12"/>
          <p:cNvSpPr/>
          <p:nvPr/>
        </p:nvSpPr>
        <p:spPr>
          <a:xfrm>
            <a:off x="457200" y="3840480"/>
            <a:ext cx="5486400" cy="24688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080" y="4023360"/>
            <a:ext cx="502920" cy="502920"/>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050792"/>
            <a:ext cx="502920" cy="457200"/>
          </a:xfrm>
          <a:prstGeom prst="rect">
            <a:avLst/>
          </a:prstGeom>
          <a:noFill/>
        </p:spPr>
        <p:txBody>
          <a:bodyPr wrap="square">
            <a:noAutofit/>
          </a:bodyPr>
          <a:lstStyle/>
          <a:p>
            <a:pPr algn="ctr">
              <a:spcBef>
                <a:spcPts val="0"/>
              </a:spcBef>
              <a:spcAft>
                <a:spcPts val="0"/>
              </a:spcAft>
              <a:defRPr sz="2000" b="1">
                <a:solidFill>
                  <a:srgbClr val="121A27"/>
                </a:solidFill>
                <a:latin typeface="Arial"/>
              </a:defRPr>
            </a:pPr>
            <a:r>
              <a:t>3</a:t>
            </a:r>
          </a:p>
        </p:txBody>
      </p:sp>
      <p:sp>
        <p:nvSpPr>
          <p:cNvPr id="16" name="TextBox 15"/>
          <p:cNvSpPr txBox="1"/>
          <p:nvPr/>
        </p:nvSpPr>
        <p:spPr>
          <a:xfrm>
            <a:off x="1371600" y="4023360"/>
            <a:ext cx="4297680" cy="365760"/>
          </a:xfrm>
          <a:prstGeom prst="rect">
            <a:avLst/>
          </a:prstGeom>
          <a:noFill/>
        </p:spPr>
        <p:txBody>
          <a:bodyPr wrap="square">
            <a:noAutofit/>
          </a:bodyPr>
          <a:lstStyle/>
          <a:p>
            <a:pPr algn="l">
              <a:spcBef>
                <a:spcPts val="0"/>
              </a:spcBef>
              <a:spcAft>
                <a:spcPts val="0"/>
              </a:spcAft>
              <a:defRPr sz="2100" b="1">
                <a:solidFill>
                  <a:srgbClr val="F0F3F7"/>
                </a:solidFill>
                <a:latin typeface="Arial"/>
              </a:defRPr>
            </a:pPr>
            <a:r>
              <a:t>Four-Pillar Composite</a:t>
            </a:r>
          </a:p>
        </p:txBody>
      </p:sp>
      <p:sp>
        <p:nvSpPr>
          <p:cNvPr id="17" name="TextBox 16"/>
          <p:cNvSpPr txBox="1"/>
          <p:nvPr/>
        </p:nvSpPr>
        <p:spPr>
          <a:xfrm>
            <a:off x="685800" y="4572000"/>
            <a:ext cx="5029200" cy="1371600"/>
          </a:xfrm>
          <a:prstGeom prst="rect">
            <a:avLst/>
          </a:prstGeom>
          <a:noFill/>
        </p:spPr>
        <p:txBody>
          <a:bodyPr wrap="square">
            <a:noAutofit/>
          </a:bodyPr>
          <a:lstStyle/>
          <a:p>
            <a:pPr algn="l">
              <a:lnSpc>
                <a:spcPts val="2600"/>
              </a:lnSpc>
              <a:spcBef>
                <a:spcPts val="0"/>
              </a:spcBef>
              <a:spcAft>
                <a:spcPts val="0"/>
              </a:spcAft>
              <a:defRPr sz="1700" b="0">
                <a:solidFill>
                  <a:srgbClr val="9EADBD"/>
                </a:solidFill>
                <a:latin typeface="Arial"/>
              </a:defRPr>
            </a:pPr>
            <a:r>
              <a:t>Supply, timeliness, pediatrics, and</a:t>
            </a:r>
          </a:p>
          <a:p>
            <a:pPr algn="l">
              <a:lnSpc>
                <a:spcPts val="2600"/>
              </a:lnSpc>
              <a:spcBef>
                <a:spcPts val="0"/>
              </a:spcBef>
              <a:spcAft>
                <a:spcPts val="0"/>
              </a:spcAft>
              <a:defRPr sz="1700" b="0">
                <a:solidFill>
                  <a:srgbClr val="9EADBD"/>
                </a:solidFill>
                <a:latin typeface="Arial"/>
              </a:defRPr>
            </a:pPr>
            <a:r>
              <a:t>capacity each address a distinct</a:t>
            </a:r>
          </a:p>
          <a:p>
            <a:pPr algn="l">
              <a:lnSpc>
                <a:spcPts val="2600"/>
              </a:lnSpc>
              <a:spcBef>
                <a:spcPts val="0"/>
              </a:spcBef>
              <a:spcAft>
                <a:spcPts val="0"/>
              </a:spcAft>
              <a:defRPr sz="1700" b="0">
                <a:solidFill>
                  <a:srgbClr val="9EADBD"/>
                </a:solidFill>
                <a:latin typeface="Arial"/>
              </a:defRPr>
            </a:pPr>
            <a:r>
              <a:t>clinical dimension. Fully transparent.</a:t>
            </a:r>
          </a:p>
        </p:txBody>
      </p:sp>
      <p:sp>
        <p:nvSpPr>
          <p:cNvPr id="18" name="Rounded Rectangle 17"/>
          <p:cNvSpPr/>
          <p:nvPr/>
        </p:nvSpPr>
        <p:spPr>
          <a:xfrm>
            <a:off x="6217920" y="3840480"/>
            <a:ext cx="5486400" cy="24688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00800" y="4023360"/>
            <a:ext cx="502920" cy="502920"/>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4050792"/>
            <a:ext cx="502920" cy="457200"/>
          </a:xfrm>
          <a:prstGeom prst="rect">
            <a:avLst/>
          </a:prstGeom>
          <a:noFill/>
        </p:spPr>
        <p:txBody>
          <a:bodyPr wrap="square">
            <a:noAutofit/>
          </a:bodyPr>
          <a:lstStyle/>
          <a:p>
            <a:pPr algn="ctr">
              <a:spcBef>
                <a:spcPts val="0"/>
              </a:spcBef>
              <a:spcAft>
                <a:spcPts val="0"/>
              </a:spcAft>
              <a:defRPr sz="2000" b="1">
                <a:solidFill>
                  <a:srgbClr val="121A27"/>
                </a:solidFill>
                <a:latin typeface="Arial"/>
              </a:defRPr>
            </a:pPr>
            <a:r>
              <a:t>4</a:t>
            </a:r>
          </a:p>
        </p:txBody>
      </p:sp>
      <p:sp>
        <p:nvSpPr>
          <p:cNvPr id="21" name="TextBox 20"/>
          <p:cNvSpPr txBox="1"/>
          <p:nvPr/>
        </p:nvSpPr>
        <p:spPr>
          <a:xfrm>
            <a:off x="7132320" y="4023360"/>
            <a:ext cx="4297680" cy="365760"/>
          </a:xfrm>
          <a:prstGeom prst="rect">
            <a:avLst/>
          </a:prstGeom>
          <a:noFill/>
        </p:spPr>
        <p:txBody>
          <a:bodyPr wrap="square">
            <a:noAutofit/>
          </a:bodyPr>
          <a:lstStyle/>
          <a:p>
            <a:pPr algn="l">
              <a:spcBef>
                <a:spcPts val="0"/>
              </a:spcBef>
              <a:spcAft>
                <a:spcPts val="0"/>
              </a:spcAft>
              <a:defRPr sz="2100" b="1">
                <a:solidFill>
                  <a:srgbClr val="F0F3F7"/>
                </a:solidFill>
                <a:latin typeface="Arial"/>
              </a:defRPr>
            </a:pPr>
            <a:r>
              <a:t>Interactive Dashboard</a:t>
            </a:r>
          </a:p>
        </p:txBody>
      </p:sp>
      <p:sp>
        <p:nvSpPr>
          <p:cNvPr id="22" name="TextBox 21"/>
          <p:cNvSpPr txBox="1"/>
          <p:nvPr/>
        </p:nvSpPr>
        <p:spPr>
          <a:xfrm>
            <a:off x="6446520" y="4572000"/>
            <a:ext cx="5029200" cy="1371600"/>
          </a:xfrm>
          <a:prstGeom prst="rect">
            <a:avLst/>
          </a:prstGeom>
          <a:noFill/>
        </p:spPr>
        <p:txBody>
          <a:bodyPr wrap="square">
            <a:noAutofit/>
          </a:bodyPr>
          <a:lstStyle/>
          <a:p>
            <a:pPr algn="l">
              <a:lnSpc>
                <a:spcPts val="2600"/>
              </a:lnSpc>
              <a:spcBef>
                <a:spcPts val="0"/>
              </a:spcBef>
              <a:spcAft>
                <a:spcPts val="0"/>
              </a:spcAft>
              <a:defRPr sz="1700" b="0">
                <a:solidFill>
                  <a:srgbClr val="9EADBD"/>
                </a:solidFill>
                <a:latin typeface="Arial"/>
              </a:defRPr>
            </a:pPr>
            <a:r>
              <a:t>Any stakeholder can explore access</a:t>
            </a:r>
          </a:p>
          <a:p>
            <a:pPr algn="l">
              <a:lnSpc>
                <a:spcPts val="2600"/>
              </a:lnSpc>
              <a:spcBef>
                <a:spcPts val="0"/>
              </a:spcBef>
              <a:spcAft>
                <a:spcPts val="0"/>
              </a:spcAft>
              <a:defRPr sz="1700" b="0">
                <a:solidFill>
                  <a:srgbClr val="9EADBD"/>
                </a:solidFill>
                <a:latin typeface="Arial"/>
              </a:defRPr>
            </a:pPr>
            <a:r>
              <a:t>patterns from national overview down</a:t>
            </a:r>
          </a:p>
          <a:p>
            <a:pPr algn="l">
              <a:lnSpc>
                <a:spcPts val="2600"/>
              </a:lnSpc>
              <a:spcBef>
                <a:spcPts val="0"/>
              </a:spcBef>
              <a:spcAft>
                <a:spcPts val="0"/>
              </a:spcAft>
              <a:defRPr sz="1700" b="0">
                <a:solidFill>
                  <a:srgbClr val="9EADBD"/>
                </a:solidFill>
                <a:latin typeface="Arial"/>
              </a:defRPr>
            </a:pPr>
            <a:r>
              <a:t>to individual tracts. No coding needed.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TextBox 1"/>
          <p:cNvSpPr txBox="1"/>
          <p:nvPr/>
        </p:nvSpPr>
        <p:spPr>
          <a:xfrm>
            <a:off x="640080" y="274320"/>
            <a:ext cx="10972800" cy="548640"/>
          </a:xfrm>
          <a:prstGeom prst="rect">
            <a:avLst/>
          </a:prstGeom>
          <a:noFill/>
        </p:spPr>
        <p:txBody>
          <a:bodyPr wrap="square">
            <a:noAutofit/>
          </a:bodyPr>
          <a:lstStyle/>
          <a:p>
            <a:pPr algn="l">
              <a:spcBef>
                <a:spcPts val="0"/>
              </a:spcBef>
              <a:spcAft>
                <a:spcPts val="0"/>
              </a:spcAft>
              <a:defRPr sz="3800" b="1">
                <a:solidFill>
                  <a:srgbClr val="F0F3F7"/>
                </a:solidFill>
                <a:latin typeface="Arial"/>
              </a:defRPr>
            </a:pPr>
            <a:r>
              <a:t>Impact &amp; Recommendations</a:t>
            </a:r>
          </a:p>
        </p:txBody>
      </p:sp>
      <p:sp>
        <p:nvSpPr>
          <p:cNvPr id="3" name="TextBox 2"/>
          <p:cNvSpPr txBox="1"/>
          <p:nvPr/>
        </p:nvSpPr>
        <p:spPr>
          <a:xfrm>
            <a:off x="640080" y="822960"/>
            <a:ext cx="10972800" cy="320040"/>
          </a:xfrm>
          <a:prstGeom prst="rect">
            <a:avLst/>
          </a:prstGeom>
          <a:noFill/>
        </p:spPr>
        <p:txBody>
          <a:bodyPr wrap="square">
            <a:noAutofit/>
          </a:bodyPr>
          <a:lstStyle/>
          <a:p>
            <a:pPr algn="l">
              <a:spcBef>
                <a:spcPts val="0"/>
              </a:spcBef>
              <a:spcAft>
                <a:spcPts val="0"/>
              </a:spcAft>
              <a:defRPr sz="2000" b="0">
                <a:solidFill>
                  <a:srgbClr val="9EADBD"/>
                </a:solidFill>
                <a:latin typeface="Arial"/>
              </a:defRPr>
            </a:pPr>
            <a:r>
              <a:t>From data to decisions</a:t>
            </a:r>
          </a:p>
        </p:txBody>
      </p:sp>
      <p:sp>
        <p:nvSpPr>
          <p:cNvPr id="4" name="Rounded Rectangle 3"/>
          <p:cNvSpPr/>
          <p:nvPr/>
        </p:nvSpPr>
        <p:spPr>
          <a:xfrm>
            <a:off x="457200" y="1371600"/>
            <a:ext cx="5486400" cy="228600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508760"/>
            <a:ext cx="3474720" cy="640080"/>
          </a:xfrm>
          <a:prstGeom prst="rect">
            <a:avLst/>
          </a:prstGeom>
          <a:noFill/>
        </p:spPr>
        <p:txBody>
          <a:bodyPr wrap="square">
            <a:noAutofit/>
          </a:bodyPr>
          <a:lstStyle/>
          <a:p>
            <a:pPr algn="l">
              <a:lnSpc>
                <a:spcPts val="2400"/>
              </a:lnSpc>
              <a:spcBef>
                <a:spcPts val="0"/>
              </a:spcBef>
              <a:spcAft>
                <a:spcPts val="0"/>
              </a:spcAft>
              <a:defRPr sz="2000" b="1">
                <a:solidFill>
                  <a:srgbClr val="F0F3F7"/>
                </a:solidFill>
                <a:latin typeface="Arial"/>
              </a:defRPr>
            </a:pPr>
            <a:r>
              <a:t>Telemedicine Triage</a:t>
            </a:r>
          </a:p>
        </p:txBody>
      </p:sp>
      <p:sp>
        <p:nvSpPr>
          <p:cNvPr id="6" name="TextBox 5"/>
          <p:cNvSpPr txBox="1"/>
          <p:nvPr/>
        </p:nvSpPr>
        <p:spPr>
          <a:xfrm>
            <a:off x="4297680" y="1508760"/>
            <a:ext cx="1371600" cy="320040"/>
          </a:xfrm>
          <a:prstGeom prst="rect">
            <a:avLst/>
          </a:prstGeom>
          <a:noFill/>
        </p:spPr>
        <p:txBody>
          <a:bodyPr wrap="square">
            <a:noAutofit/>
          </a:bodyPr>
          <a:lstStyle/>
          <a:p>
            <a:pPr algn="r">
              <a:spcBef>
                <a:spcPts val="0"/>
              </a:spcBef>
              <a:spcAft>
                <a:spcPts val="0"/>
              </a:spcAft>
              <a:defRPr sz="1300" b="1">
                <a:solidFill>
                  <a:srgbClr val="56B4E9"/>
                </a:solidFill>
                <a:latin typeface="Arial"/>
              </a:defRPr>
            </a:pPr>
            <a:r>
              <a:t>Referral</a:t>
            </a:r>
          </a:p>
        </p:txBody>
      </p:sp>
      <p:sp>
        <p:nvSpPr>
          <p:cNvPr id="7" name="TextBox 6"/>
          <p:cNvSpPr txBox="1"/>
          <p:nvPr/>
        </p:nvSpPr>
        <p:spPr>
          <a:xfrm>
            <a:off x="685800" y="2148840"/>
            <a:ext cx="5029200" cy="1280160"/>
          </a:xfrm>
          <a:prstGeom prst="rect">
            <a:avLst/>
          </a:prstGeom>
          <a:noFill/>
        </p:spPr>
        <p:txBody>
          <a:bodyPr wrap="square">
            <a:noAutofit/>
          </a:bodyPr>
          <a:lstStyle/>
          <a:p>
            <a:pPr algn="l">
              <a:lnSpc>
                <a:spcPts val="2400"/>
              </a:lnSpc>
              <a:spcBef>
                <a:spcPts val="0"/>
              </a:spcBef>
              <a:spcAft>
                <a:spcPts val="0"/>
              </a:spcAft>
              <a:defRPr sz="1600" b="0">
                <a:solidFill>
                  <a:srgbClr val="9EADBD"/>
                </a:solidFill>
                <a:latin typeface="Arial"/>
              </a:defRPr>
            </a:pPr>
            <a:r>
              <a:t>Deploy tele-burn consultation in</a:t>
            </a:r>
          </a:p>
          <a:p>
            <a:pPr algn="l">
              <a:lnSpc>
                <a:spcPts val="2400"/>
              </a:lnSpc>
              <a:spcBef>
                <a:spcPts val="0"/>
              </a:spcBef>
              <a:spcAft>
                <a:spcPts val="0"/>
              </a:spcAft>
              <a:defRPr sz="1600" b="0">
                <a:solidFill>
                  <a:srgbClr val="9EADBD"/>
                </a:solidFill>
                <a:latin typeface="Arial"/>
              </a:defRPr>
            </a:pPr>
            <a:r>
              <a:t>high-BEI regions. Research shows</a:t>
            </a:r>
          </a:p>
          <a:p>
            <a:pPr algn="l">
              <a:lnSpc>
                <a:spcPts val="2400"/>
              </a:lnSpc>
              <a:spcBef>
                <a:spcPts val="0"/>
              </a:spcBef>
              <a:spcAft>
                <a:spcPts val="0"/>
              </a:spcAft>
              <a:defRPr sz="1600" b="0">
                <a:solidFill>
                  <a:srgbClr val="9EADBD"/>
                </a:solidFill>
                <a:latin typeface="Arial"/>
              </a:defRPr>
            </a:pPr>
            <a:r>
              <a:t>94% accuracy in remote surgical</a:t>
            </a:r>
          </a:p>
          <a:p>
            <a:pPr algn="l">
              <a:lnSpc>
                <a:spcPts val="2400"/>
              </a:lnSpc>
              <a:spcBef>
                <a:spcPts val="0"/>
              </a:spcBef>
              <a:spcAft>
                <a:spcPts val="0"/>
              </a:spcAft>
              <a:defRPr sz="1600" b="0">
                <a:solidFill>
                  <a:srgbClr val="9EADBD"/>
                </a:solidFill>
                <a:latin typeface="Arial"/>
              </a:defRPr>
            </a:pPr>
            <a:r>
              <a:t>determination.</a:t>
            </a:r>
          </a:p>
        </p:txBody>
      </p:sp>
      <p:sp>
        <p:nvSpPr>
          <p:cNvPr id="8" name="Rounded Rectangle 7"/>
          <p:cNvSpPr/>
          <p:nvPr/>
        </p:nvSpPr>
        <p:spPr>
          <a:xfrm>
            <a:off x="6217920" y="1371600"/>
            <a:ext cx="5486400" cy="228600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508760"/>
            <a:ext cx="3474720" cy="640080"/>
          </a:xfrm>
          <a:prstGeom prst="rect">
            <a:avLst/>
          </a:prstGeom>
          <a:noFill/>
        </p:spPr>
        <p:txBody>
          <a:bodyPr wrap="square">
            <a:noAutofit/>
          </a:bodyPr>
          <a:lstStyle/>
          <a:p>
            <a:pPr algn="l">
              <a:lnSpc>
                <a:spcPts val="2400"/>
              </a:lnSpc>
              <a:spcBef>
                <a:spcPts val="0"/>
              </a:spcBef>
              <a:spcAft>
                <a:spcPts val="0"/>
              </a:spcAft>
              <a:defRPr sz="2000" b="1">
                <a:solidFill>
                  <a:srgbClr val="F0F3F7"/>
                </a:solidFill>
                <a:latin typeface="Arial"/>
              </a:defRPr>
            </a:pPr>
            <a:r>
              <a:t>Strategic Facility</a:t>
            </a:r>
          </a:p>
          <a:p>
            <a:pPr algn="l">
              <a:lnSpc>
                <a:spcPts val="2400"/>
              </a:lnSpc>
              <a:spcBef>
                <a:spcPts val="0"/>
              </a:spcBef>
              <a:spcAft>
                <a:spcPts val="0"/>
              </a:spcAft>
              <a:defRPr sz="2000" b="1">
                <a:solidFill>
                  <a:srgbClr val="F0F3F7"/>
                </a:solidFill>
                <a:latin typeface="Arial"/>
              </a:defRPr>
            </a:pPr>
            <a:r>
              <a:t>Placement</a:t>
            </a:r>
          </a:p>
        </p:txBody>
      </p:sp>
      <p:sp>
        <p:nvSpPr>
          <p:cNvPr id="10" name="TextBox 9"/>
          <p:cNvSpPr txBox="1"/>
          <p:nvPr/>
        </p:nvSpPr>
        <p:spPr>
          <a:xfrm>
            <a:off x="10058400" y="1508760"/>
            <a:ext cx="1371600" cy="320040"/>
          </a:xfrm>
          <a:prstGeom prst="rect">
            <a:avLst/>
          </a:prstGeom>
          <a:noFill/>
        </p:spPr>
        <p:txBody>
          <a:bodyPr wrap="square">
            <a:noAutofit/>
          </a:bodyPr>
          <a:lstStyle/>
          <a:p>
            <a:pPr algn="r">
              <a:spcBef>
                <a:spcPts val="0"/>
              </a:spcBef>
              <a:spcAft>
                <a:spcPts val="0"/>
              </a:spcAft>
              <a:defRPr sz="1300" b="1">
                <a:solidFill>
                  <a:srgbClr val="E69F00"/>
                </a:solidFill>
                <a:latin typeface="Arial"/>
              </a:defRPr>
            </a:pPr>
            <a:r>
              <a:t>Equitable Access</a:t>
            </a:r>
          </a:p>
        </p:txBody>
      </p:sp>
      <p:sp>
        <p:nvSpPr>
          <p:cNvPr id="11" name="TextBox 10"/>
          <p:cNvSpPr txBox="1"/>
          <p:nvPr/>
        </p:nvSpPr>
        <p:spPr>
          <a:xfrm>
            <a:off x="6446520" y="2148840"/>
            <a:ext cx="5029200" cy="1280160"/>
          </a:xfrm>
          <a:prstGeom prst="rect">
            <a:avLst/>
          </a:prstGeom>
          <a:noFill/>
        </p:spPr>
        <p:txBody>
          <a:bodyPr wrap="square">
            <a:noAutofit/>
          </a:bodyPr>
          <a:lstStyle/>
          <a:p>
            <a:pPr algn="l">
              <a:lnSpc>
                <a:spcPts val="2400"/>
              </a:lnSpc>
              <a:spcBef>
                <a:spcPts val="0"/>
              </a:spcBef>
              <a:spcAft>
                <a:spcPts val="0"/>
              </a:spcAft>
              <a:defRPr sz="1600" b="0">
                <a:solidFill>
                  <a:srgbClr val="9EADBD"/>
                </a:solidFill>
                <a:latin typeface="Arial"/>
              </a:defRPr>
            </a:pPr>
            <a:r>
              <a:t>Use hotspot clusters to identify</a:t>
            </a:r>
          </a:p>
          <a:p>
            <a:pPr algn="l">
              <a:lnSpc>
                <a:spcPts val="2400"/>
              </a:lnSpc>
              <a:spcBef>
                <a:spcPts val="0"/>
              </a:spcBef>
              <a:spcAft>
                <a:spcPts val="0"/>
              </a:spcAft>
              <a:defRPr sz="1600" b="0">
                <a:solidFill>
                  <a:srgbClr val="9EADBD"/>
                </a:solidFill>
                <a:latin typeface="Arial"/>
              </a:defRPr>
            </a:pPr>
            <a:r>
              <a:t>where new burn-capable facilities</a:t>
            </a:r>
          </a:p>
          <a:p>
            <a:pPr algn="l">
              <a:lnSpc>
                <a:spcPts val="2400"/>
              </a:lnSpc>
              <a:spcBef>
                <a:spcPts val="0"/>
              </a:spcBef>
              <a:spcAft>
                <a:spcPts val="0"/>
              </a:spcAft>
              <a:defRPr sz="1600" b="0">
                <a:solidFill>
                  <a:srgbClr val="9EADBD"/>
                </a:solidFill>
                <a:latin typeface="Arial"/>
              </a:defRPr>
            </a:pPr>
            <a:r>
              <a:t>would have the greatest impact.</a:t>
            </a:r>
          </a:p>
          <a:p>
            <a:pPr algn="l">
              <a:lnSpc>
                <a:spcPts val="2400"/>
              </a:lnSpc>
              <a:spcBef>
                <a:spcPts val="0"/>
              </a:spcBef>
              <a:spcAft>
                <a:spcPts val="0"/>
              </a:spcAft>
              <a:defRPr sz="1600" b="0">
                <a:solidFill>
                  <a:srgbClr val="9EADBD"/>
                </a:solidFill>
                <a:latin typeface="Arial"/>
              </a:defRPr>
            </a:pPr>
            <a:r>
              <a:t>NW Minnesota is a clear candidate.</a:t>
            </a:r>
          </a:p>
        </p:txBody>
      </p:sp>
      <p:sp>
        <p:nvSpPr>
          <p:cNvPr id="12" name="Rounded Rectangle 11"/>
          <p:cNvSpPr/>
          <p:nvPr/>
        </p:nvSpPr>
        <p:spPr>
          <a:xfrm>
            <a:off x="457200" y="3931920"/>
            <a:ext cx="5486400" cy="228600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069080"/>
            <a:ext cx="3474720" cy="640080"/>
          </a:xfrm>
          <a:prstGeom prst="rect">
            <a:avLst/>
          </a:prstGeom>
          <a:noFill/>
        </p:spPr>
        <p:txBody>
          <a:bodyPr wrap="square">
            <a:noAutofit/>
          </a:bodyPr>
          <a:lstStyle/>
          <a:p>
            <a:pPr algn="l">
              <a:lnSpc>
                <a:spcPts val="2400"/>
              </a:lnSpc>
              <a:spcBef>
                <a:spcPts val="0"/>
              </a:spcBef>
              <a:spcAft>
                <a:spcPts val="0"/>
              </a:spcAft>
              <a:defRPr sz="2000" b="1">
                <a:solidFill>
                  <a:srgbClr val="F0F3F7"/>
                </a:solidFill>
                <a:latin typeface="Arial"/>
              </a:defRPr>
            </a:pPr>
            <a:r>
              <a:t>Air Transport</a:t>
            </a:r>
          </a:p>
          <a:p>
            <a:pPr algn="l">
              <a:lnSpc>
                <a:spcPts val="2400"/>
              </a:lnSpc>
              <a:spcBef>
                <a:spcPts val="0"/>
              </a:spcBef>
              <a:spcAft>
                <a:spcPts val="0"/>
              </a:spcAft>
              <a:defRPr sz="2000" b="1">
                <a:solidFill>
                  <a:srgbClr val="F0F3F7"/>
                </a:solidFill>
                <a:latin typeface="Arial"/>
              </a:defRPr>
            </a:pPr>
            <a:r>
              <a:t>Investment</a:t>
            </a:r>
          </a:p>
        </p:txBody>
      </p:sp>
      <p:sp>
        <p:nvSpPr>
          <p:cNvPr id="14" name="TextBox 13"/>
          <p:cNvSpPr txBox="1"/>
          <p:nvPr/>
        </p:nvSpPr>
        <p:spPr>
          <a:xfrm>
            <a:off x="4297680" y="4069080"/>
            <a:ext cx="1371600" cy="320040"/>
          </a:xfrm>
          <a:prstGeom prst="rect">
            <a:avLst/>
          </a:prstGeom>
          <a:noFill/>
        </p:spPr>
        <p:txBody>
          <a:bodyPr wrap="square">
            <a:noAutofit/>
          </a:bodyPr>
          <a:lstStyle/>
          <a:p>
            <a:pPr algn="r">
              <a:spcBef>
                <a:spcPts val="0"/>
              </a:spcBef>
              <a:spcAft>
                <a:spcPts val="0"/>
              </a:spcAft>
              <a:defRPr sz="1300" b="1">
                <a:solidFill>
                  <a:srgbClr val="009E73"/>
                </a:solidFill>
                <a:latin typeface="Arial"/>
              </a:defRPr>
            </a:pPr>
            <a:r>
              <a:t>Referral</a:t>
            </a:r>
          </a:p>
        </p:txBody>
      </p:sp>
      <p:sp>
        <p:nvSpPr>
          <p:cNvPr id="15" name="TextBox 14"/>
          <p:cNvSpPr txBox="1"/>
          <p:nvPr/>
        </p:nvSpPr>
        <p:spPr>
          <a:xfrm>
            <a:off x="685800" y="4709160"/>
            <a:ext cx="5029200" cy="1280160"/>
          </a:xfrm>
          <a:prstGeom prst="rect">
            <a:avLst/>
          </a:prstGeom>
          <a:noFill/>
        </p:spPr>
        <p:txBody>
          <a:bodyPr wrap="square">
            <a:noAutofit/>
          </a:bodyPr>
          <a:lstStyle/>
          <a:p>
            <a:pPr algn="l">
              <a:lnSpc>
                <a:spcPts val="2400"/>
              </a:lnSpc>
              <a:spcBef>
                <a:spcPts val="0"/>
              </a:spcBef>
              <a:spcAft>
                <a:spcPts val="0"/>
              </a:spcAft>
              <a:defRPr sz="1600" b="0">
                <a:solidFill>
                  <a:srgbClr val="9EADBD"/>
                </a:solidFill>
                <a:latin typeface="Arial"/>
              </a:defRPr>
            </a:pPr>
            <a:r>
              <a:t>Target air-ambulance resources</a:t>
            </a:r>
          </a:p>
          <a:p>
            <a:pPr algn="l">
              <a:lnSpc>
                <a:spcPts val="2400"/>
              </a:lnSpc>
              <a:spcBef>
                <a:spcPts val="0"/>
              </a:spcBef>
              <a:spcAft>
                <a:spcPts val="0"/>
              </a:spcAft>
              <a:defRPr sz="1600" b="0">
                <a:solidFill>
                  <a:srgbClr val="9EADBD"/>
                </a:solidFill>
                <a:latin typeface="Arial"/>
              </a:defRPr>
            </a:pPr>
            <a:r>
              <a:t>where ground BEI exceeds 80 but</a:t>
            </a:r>
          </a:p>
          <a:p>
            <a:pPr algn="l">
              <a:lnSpc>
                <a:spcPts val="2400"/>
              </a:lnSpc>
              <a:spcBef>
                <a:spcPts val="0"/>
              </a:spcBef>
              <a:spcAft>
                <a:spcPts val="0"/>
              </a:spcAft>
              <a:defRPr sz="1600" b="0">
                <a:solidFill>
                  <a:srgbClr val="9EADBD"/>
                </a:solidFill>
                <a:latin typeface="Arial"/>
              </a:defRPr>
            </a:pPr>
            <a:r>
              <a:t>air scenario shows 5+ point gain.</a:t>
            </a:r>
          </a:p>
          <a:p>
            <a:pPr algn="l">
              <a:lnSpc>
                <a:spcPts val="2400"/>
              </a:lnSpc>
              <a:spcBef>
                <a:spcPts val="0"/>
              </a:spcBef>
              <a:spcAft>
                <a:spcPts val="0"/>
              </a:spcAft>
              <a:defRPr sz="1600" b="0">
                <a:solidFill>
                  <a:srgbClr val="9EADBD"/>
                </a:solidFill>
                <a:latin typeface="Arial"/>
              </a:defRPr>
            </a:pPr>
            <a:r>
              <a:t>Existing heliports are underused.</a:t>
            </a:r>
          </a:p>
        </p:txBody>
      </p:sp>
      <p:sp>
        <p:nvSpPr>
          <p:cNvPr id="16" name="Rounded Rectangle 15"/>
          <p:cNvSpPr/>
          <p:nvPr/>
        </p:nvSpPr>
        <p:spPr>
          <a:xfrm>
            <a:off x="6217920" y="3931920"/>
            <a:ext cx="5486400" cy="228600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4069080"/>
            <a:ext cx="3474720" cy="640080"/>
          </a:xfrm>
          <a:prstGeom prst="rect">
            <a:avLst/>
          </a:prstGeom>
          <a:noFill/>
        </p:spPr>
        <p:txBody>
          <a:bodyPr wrap="square">
            <a:noAutofit/>
          </a:bodyPr>
          <a:lstStyle/>
          <a:p>
            <a:pPr algn="l">
              <a:lnSpc>
                <a:spcPts val="2400"/>
              </a:lnSpc>
              <a:spcBef>
                <a:spcPts val="0"/>
              </a:spcBef>
              <a:spcAft>
                <a:spcPts val="0"/>
              </a:spcAft>
              <a:defRPr sz="2000" b="1">
                <a:solidFill>
                  <a:srgbClr val="F0F3F7"/>
                </a:solidFill>
                <a:latin typeface="Arial"/>
              </a:defRPr>
            </a:pPr>
            <a:r>
              <a:t>Policy Planning Tool</a:t>
            </a:r>
          </a:p>
        </p:txBody>
      </p:sp>
      <p:sp>
        <p:nvSpPr>
          <p:cNvPr id="18" name="TextBox 17"/>
          <p:cNvSpPr txBox="1"/>
          <p:nvPr/>
        </p:nvSpPr>
        <p:spPr>
          <a:xfrm>
            <a:off x="10058400" y="4069080"/>
            <a:ext cx="1371600" cy="320040"/>
          </a:xfrm>
          <a:prstGeom prst="rect">
            <a:avLst/>
          </a:prstGeom>
          <a:noFill/>
        </p:spPr>
        <p:txBody>
          <a:bodyPr wrap="square">
            <a:noAutofit/>
          </a:bodyPr>
          <a:lstStyle/>
          <a:p>
            <a:pPr algn="r">
              <a:spcBef>
                <a:spcPts val="0"/>
              </a:spcBef>
              <a:spcAft>
                <a:spcPts val="0"/>
              </a:spcAft>
              <a:defRPr sz="1300" b="1">
                <a:solidFill>
                  <a:srgbClr val="D55E00"/>
                </a:solidFill>
                <a:latin typeface="Arial"/>
              </a:defRPr>
            </a:pPr>
            <a:r>
              <a:t>Equitable Access</a:t>
            </a:r>
          </a:p>
        </p:txBody>
      </p:sp>
      <p:sp>
        <p:nvSpPr>
          <p:cNvPr id="19" name="TextBox 18"/>
          <p:cNvSpPr txBox="1"/>
          <p:nvPr/>
        </p:nvSpPr>
        <p:spPr>
          <a:xfrm>
            <a:off x="6446520" y="4709160"/>
            <a:ext cx="5029200" cy="1280160"/>
          </a:xfrm>
          <a:prstGeom prst="rect">
            <a:avLst/>
          </a:prstGeom>
          <a:noFill/>
        </p:spPr>
        <p:txBody>
          <a:bodyPr wrap="square">
            <a:noAutofit/>
          </a:bodyPr>
          <a:lstStyle/>
          <a:p>
            <a:pPr algn="l">
              <a:lnSpc>
                <a:spcPts val="2400"/>
              </a:lnSpc>
              <a:spcBef>
                <a:spcPts val="0"/>
              </a:spcBef>
              <a:spcAft>
                <a:spcPts val="0"/>
              </a:spcAft>
              <a:defRPr sz="1600" b="0">
                <a:solidFill>
                  <a:srgbClr val="9EADBD"/>
                </a:solidFill>
                <a:latin typeface="Arial"/>
              </a:defRPr>
            </a:pPr>
            <a:r>
              <a:t>Integrate BEI into state health</a:t>
            </a:r>
          </a:p>
          <a:p>
            <a:pPr algn="l">
              <a:lnSpc>
                <a:spcPts val="2400"/>
              </a:lnSpc>
              <a:spcBef>
                <a:spcPts val="0"/>
              </a:spcBef>
              <a:spcAft>
                <a:spcPts val="0"/>
              </a:spcAft>
              <a:defRPr sz="1600" b="0">
                <a:solidFill>
                  <a:srgbClr val="9EADBD"/>
                </a:solidFill>
                <a:latin typeface="Arial"/>
              </a:defRPr>
            </a:pPr>
            <a:r>
              <a:t>department planning and ABA</a:t>
            </a:r>
          </a:p>
          <a:p>
            <a:pPr algn="l">
              <a:lnSpc>
                <a:spcPts val="2400"/>
              </a:lnSpc>
              <a:spcBef>
                <a:spcPts val="0"/>
              </a:spcBef>
              <a:spcAft>
                <a:spcPts val="0"/>
              </a:spcAft>
              <a:defRPr sz="1600" b="0">
                <a:solidFill>
                  <a:srgbClr val="9EADBD"/>
                </a:solidFill>
                <a:latin typeface="Arial"/>
              </a:defRPr>
            </a:pPr>
            <a:r>
              <a:t>verification processes. Open-source</a:t>
            </a:r>
          </a:p>
          <a:p>
            <a:pPr algn="l">
              <a:lnSpc>
                <a:spcPts val="2400"/>
              </a:lnSpc>
              <a:spcBef>
                <a:spcPts val="0"/>
              </a:spcBef>
              <a:spcAft>
                <a:spcPts val="0"/>
              </a:spcAft>
              <a:defRPr sz="1600" b="0">
                <a:solidFill>
                  <a:srgbClr val="9EADBD"/>
                </a:solidFill>
                <a:latin typeface="Arial"/>
              </a:defRPr>
            </a:pPr>
            <a:r>
              <a:t>and fully reproducible.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TextBox 1"/>
          <p:cNvSpPr txBox="1"/>
          <p:nvPr/>
        </p:nvSpPr>
        <p:spPr>
          <a:xfrm>
            <a:off x="640080" y="274320"/>
            <a:ext cx="10972800" cy="548640"/>
          </a:xfrm>
          <a:prstGeom prst="rect">
            <a:avLst/>
          </a:prstGeom>
          <a:noFill/>
        </p:spPr>
        <p:txBody>
          <a:bodyPr wrap="square">
            <a:noAutofit/>
          </a:bodyPr>
          <a:lstStyle/>
          <a:p>
            <a:pPr algn="l">
              <a:spcBef>
                <a:spcPts val="0"/>
              </a:spcBef>
              <a:spcAft>
                <a:spcPts val="0"/>
              </a:spcAft>
              <a:defRPr sz="3400" b="1">
                <a:solidFill>
                  <a:srgbClr val="F0F3F7"/>
                </a:solidFill>
                <a:latin typeface="Arial"/>
              </a:defRPr>
            </a:pPr>
            <a:r>
              <a:t>Limitations &amp; Future Directions</a:t>
            </a:r>
          </a:p>
        </p:txBody>
      </p:sp>
      <p:sp>
        <p:nvSpPr>
          <p:cNvPr id="3" name="Rounded Rectangle 2"/>
          <p:cNvSpPr/>
          <p:nvPr/>
        </p:nvSpPr>
        <p:spPr>
          <a:xfrm>
            <a:off x="457200" y="1097280"/>
            <a:ext cx="11247120" cy="10972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4572000" cy="320040"/>
          </a:xfrm>
          <a:prstGeom prst="rect">
            <a:avLst/>
          </a:prstGeom>
          <a:noFill/>
        </p:spPr>
        <p:txBody>
          <a:bodyPr wrap="square">
            <a:noAutofit/>
          </a:bodyPr>
          <a:lstStyle/>
          <a:p>
            <a:pPr algn="l">
              <a:spcBef>
                <a:spcPts val="0"/>
              </a:spcBef>
              <a:spcAft>
                <a:spcPts val="0"/>
              </a:spcAft>
              <a:defRPr sz="1900" b="1">
                <a:solidFill>
                  <a:srgbClr val="E69F00"/>
                </a:solidFill>
                <a:latin typeface="Arial"/>
              </a:defRPr>
            </a:pPr>
            <a:r>
              <a:t>National routing at county level</a:t>
            </a:r>
          </a:p>
        </p:txBody>
      </p:sp>
      <p:sp>
        <p:nvSpPr>
          <p:cNvPr id="5" name="TextBox 4"/>
          <p:cNvSpPr txBox="1"/>
          <p:nvPr/>
        </p:nvSpPr>
        <p:spPr>
          <a:xfrm>
            <a:off x="731520" y="1554480"/>
            <a:ext cx="10515600" cy="502920"/>
          </a:xfrm>
          <a:prstGeom prst="rect">
            <a:avLst/>
          </a:prstGeom>
          <a:noFill/>
        </p:spPr>
        <p:txBody>
          <a:bodyPr wrap="square">
            <a:noAutofit/>
          </a:bodyPr>
          <a:lstStyle/>
          <a:p>
            <a:pPr algn="l">
              <a:spcBef>
                <a:spcPts val="0"/>
              </a:spcBef>
              <a:spcAft>
                <a:spcPts val="0"/>
              </a:spcAft>
              <a:defRPr sz="1700" b="0">
                <a:solidFill>
                  <a:srgbClr val="F0F3F7"/>
                </a:solidFill>
                <a:latin typeface="Arial"/>
              </a:defRPr>
            </a:pPr>
            <a:r>
              <a:t>Masks variation within large rural counties. MN uses ideal tract-level routing. Full US tract-level needs a high-memory server.</a:t>
            </a:r>
          </a:p>
        </p:txBody>
      </p:sp>
      <p:sp>
        <p:nvSpPr>
          <p:cNvPr id="6" name="Rounded Rectangle 5"/>
          <p:cNvSpPr/>
          <p:nvPr/>
        </p:nvSpPr>
        <p:spPr>
          <a:xfrm>
            <a:off x="457200" y="2377440"/>
            <a:ext cx="11247120" cy="10972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68880"/>
            <a:ext cx="4572000" cy="320040"/>
          </a:xfrm>
          <a:prstGeom prst="rect">
            <a:avLst/>
          </a:prstGeom>
          <a:noFill/>
        </p:spPr>
        <p:txBody>
          <a:bodyPr wrap="square">
            <a:noAutofit/>
          </a:bodyPr>
          <a:lstStyle/>
          <a:p>
            <a:pPr algn="l">
              <a:spcBef>
                <a:spcPts val="0"/>
              </a:spcBef>
              <a:spcAft>
                <a:spcPts val="0"/>
              </a:spcAft>
              <a:defRPr sz="1900" b="1">
                <a:solidFill>
                  <a:srgbClr val="E69F00"/>
                </a:solidFill>
                <a:latin typeface="Arial"/>
              </a:defRPr>
            </a:pPr>
            <a:r>
              <a:t>Florida data gap</a:t>
            </a:r>
          </a:p>
        </p:txBody>
      </p:sp>
      <p:sp>
        <p:nvSpPr>
          <p:cNvPr id="8" name="TextBox 7"/>
          <p:cNvSpPr txBox="1"/>
          <p:nvPr/>
        </p:nvSpPr>
        <p:spPr>
          <a:xfrm>
            <a:off x="731520" y="2834640"/>
            <a:ext cx="10515600" cy="502920"/>
          </a:xfrm>
          <a:prstGeom prst="rect">
            <a:avLst/>
          </a:prstGeom>
          <a:noFill/>
        </p:spPr>
        <p:txBody>
          <a:bodyPr wrap="square">
            <a:noAutofit/>
          </a:bodyPr>
          <a:lstStyle/>
          <a:p>
            <a:pPr algn="l">
              <a:spcBef>
                <a:spcPts val="0"/>
              </a:spcBef>
              <a:spcAft>
                <a:spcPts val="0"/>
              </a:spcAft>
              <a:defRPr sz="1700" b="0">
                <a:solidFill>
                  <a:srgbClr val="F0F3F7"/>
                </a:solidFill>
                <a:latin typeface="Arial"/>
              </a:defRPr>
            </a:pPr>
            <a:r>
              <a:t>67 FL counties absent due to a routing batch error. Pipeline issue, not methodological -- the formula applies identically.</a:t>
            </a:r>
          </a:p>
        </p:txBody>
      </p:sp>
      <p:sp>
        <p:nvSpPr>
          <p:cNvPr id="9" name="Rounded Rectangle 8"/>
          <p:cNvSpPr/>
          <p:nvPr/>
        </p:nvSpPr>
        <p:spPr>
          <a:xfrm>
            <a:off x="457200" y="3657600"/>
            <a:ext cx="11247120" cy="10972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749040"/>
            <a:ext cx="4572000" cy="320040"/>
          </a:xfrm>
          <a:prstGeom prst="rect">
            <a:avLst/>
          </a:prstGeom>
          <a:noFill/>
        </p:spPr>
        <p:txBody>
          <a:bodyPr wrap="square">
            <a:noAutofit/>
          </a:bodyPr>
          <a:lstStyle/>
          <a:p>
            <a:pPr algn="l">
              <a:spcBef>
                <a:spcPts val="0"/>
              </a:spcBef>
              <a:spcAft>
                <a:spcPts val="0"/>
              </a:spcAft>
              <a:defRPr sz="1900" b="1">
                <a:solidFill>
                  <a:srgbClr val="E69F00"/>
                </a:solidFill>
                <a:latin typeface="Arial"/>
              </a:defRPr>
            </a:pPr>
            <a:r>
              <a:t>Air scenario is structural</a:t>
            </a:r>
          </a:p>
        </p:txBody>
      </p:sp>
      <p:sp>
        <p:nvSpPr>
          <p:cNvPr id="11" name="TextBox 10"/>
          <p:cNvSpPr txBox="1"/>
          <p:nvPr/>
        </p:nvSpPr>
        <p:spPr>
          <a:xfrm>
            <a:off x="731520" y="4114800"/>
            <a:ext cx="10515600" cy="502920"/>
          </a:xfrm>
          <a:prstGeom prst="rect">
            <a:avLst/>
          </a:prstGeom>
          <a:noFill/>
        </p:spPr>
        <p:txBody>
          <a:bodyPr wrap="square">
            <a:noAutofit/>
          </a:bodyPr>
          <a:lstStyle/>
          <a:p>
            <a:pPr algn="l">
              <a:spcBef>
                <a:spcPts val="0"/>
              </a:spcBef>
              <a:spcAft>
                <a:spcPts val="0"/>
              </a:spcAft>
              <a:defRPr sz="1700" b="0">
                <a:solidFill>
                  <a:srgbClr val="F0F3F7"/>
                </a:solidFill>
                <a:latin typeface="Arial"/>
              </a:defRPr>
            </a:pPr>
            <a:r>
              <a:t>An accessibility estimate, not an operational prediction. Real-time weather and dispatch are out of scope.</a:t>
            </a:r>
          </a:p>
        </p:txBody>
      </p:sp>
      <p:sp>
        <p:nvSpPr>
          <p:cNvPr id="12" name="Rounded Rectangle 11"/>
          <p:cNvSpPr/>
          <p:nvPr/>
        </p:nvSpPr>
        <p:spPr>
          <a:xfrm>
            <a:off x="457200" y="4937760"/>
            <a:ext cx="11247120" cy="10972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029200"/>
            <a:ext cx="4572000" cy="320040"/>
          </a:xfrm>
          <a:prstGeom prst="rect">
            <a:avLst/>
          </a:prstGeom>
          <a:noFill/>
        </p:spPr>
        <p:txBody>
          <a:bodyPr wrap="square">
            <a:noAutofit/>
          </a:bodyPr>
          <a:lstStyle/>
          <a:p>
            <a:pPr algn="l">
              <a:spcBef>
                <a:spcPts val="0"/>
              </a:spcBef>
              <a:spcAft>
                <a:spcPts val="0"/>
              </a:spcAft>
              <a:defRPr sz="1900" b="1">
                <a:solidFill>
                  <a:srgbClr val="E69F00"/>
                </a:solidFill>
                <a:latin typeface="Arial"/>
              </a:defRPr>
            </a:pPr>
            <a:r>
              <a:t>Static capacity model</a:t>
            </a:r>
          </a:p>
        </p:txBody>
      </p:sp>
      <p:sp>
        <p:nvSpPr>
          <p:cNvPr id="14" name="TextBox 13"/>
          <p:cNvSpPr txBox="1"/>
          <p:nvPr/>
        </p:nvSpPr>
        <p:spPr>
          <a:xfrm>
            <a:off x="731520" y="5394960"/>
            <a:ext cx="10515600" cy="502920"/>
          </a:xfrm>
          <a:prstGeom prst="rect">
            <a:avLst/>
          </a:prstGeom>
          <a:noFill/>
        </p:spPr>
        <p:txBody>
          <a:bodyPr wrap="square">
            <a:noAutofit/>
          </a:bodyPr>
          <a:lstStyle/>
          <a:p>
            <a:pPr algn="l">
              <a:spcBef>
                <a:spcPts val="0"/>
              </a:spcBef>
              <a:spcAft>
                <a:spcPts val="0"/>
              </a:spcAft>
              <a:defRPr sz="1700" b="0">
                <a:solidFill>
                  <a:srgbClr val="F0F3F7"/>
                </a:solidFill>
                <a:latin typeface="Arial"/>
              </a:defRPr>
            </a:pPr>
            <a:r>
              <a:t>Uses structural bed counts, not real-time occupancy. Live bed-census integration is a clear next step.</a:t>
            </a:r>
          </a:p>
        </p:txBody>
      </p:sp>
      <p:sp>
        <p:nvSpPr>
          <p:cNvPr id="15" name="TextBox 14"/>
          <p:cNvSpPr txBox="1"/>
          <p:nvPr/>
        </p:nvSpPr>
        <p:spPr>
          <a:xfrm>
            <a:off x="640080" y="6309360"/>
            <a:ext cx="10972800" cy="274320"/>
          </a:xfrm>
          <a:prstGeom prst="rect">
            <a:avLst/>
          </a:prstGeom>
          <a:noFill/>
        </p:spPr>
        <p:txBody>
          <a:bodyPr wrap="square">
            <a:noAutofit/>
          </a:bodyPr>
          <a:lstStyle/>
          <a:p>
            <a:pPr algn="ctr">
              <a:spcBef>
                <a:spcPts val="0"/>
              </a:spcBef>
              <a:spcAft>
                <a:spcPts val="0"/>
              </a:spcAft>
              <a:defRPr sz="1600" b="0">
                <a:solidFill>
                  <a:srgbClr val="9EADBD"/>
                </a:solidFill>
                <a:latin typeface="Arial"/>
              </a:defRPr>
            </a:pPr>
            <a:r>
              <a:t>Next:  Tract-level national routing  |  Real-time bed feeds  |  Temporal BEI  |  State health planning integration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TextBox 1"/>
          <p:cNvSpPr txBox="1"/>
          <p:nvPr/>
        </p:nvSpPr>
        <p:spPr>
          <a:xfrm>
            <a:off x="1371600" y="1097280"/>
            <a:ext cx="9418320" cy="731520"/>
          </a:xfrm>
          <a:prstGeom prst="rect">
            <a:avLst/>
          </a:prstGeom>
          <a:noFill/>
        </p:spPr>
        <p:txBody>
          <a:bodyPr wrap="square">
            <a:noAutofit/>
          </a:bodyPr>
          <a:lstStyle/>
          <a:p>
            <a:pPr algn="ctr">
              <a:spcBef>
                <a:spcPts val="0"/>
              </a:spcBef>
              <a:spcAft>
                <a:spcPts val="0"/>
              </a:spcAft>
              <a:defRPr sz="4600" b="1">
                <a:solidFill>
                  <a:srgbClr val="F0F3F7"/>
                </a:solidFill>
                <a:latin typeface="Arial"/>
              </a:defRPr>
            </a:pPr>
            <a:r>
              <a:t>Every Minute Matters</a:t>
            </a:r>
          </a:p>
        </p:txBody>
      </p:sp>
      <p:sp>
        <p:nvSpPr>
          <p:cNvPr id="3" name="TextBox 2"/>
          <p:cNvSpPr txBox="1"/>
          <p:nvPr/>
        </p:nvSpPr>
        <p:spPr>
          <a:xfrm>
            <a:off x="1371600" y="2103120"/>
            <a:ext cx="9418320" cy="1828800"/>
          </a:xfrm>
          <a:prstGeom prst="rect">
            <a:avLst/>
          </a:prstGeom>
          <a:noFill/>
        </p:spPr>
        <p:txBody>
          <a:bodyPr wrap="square">
            <a:noAutofit/>
          </a:bodyPr>
          <a:lstStyle/>
          <a:p>
            <a:pPr algn="ctr">
              <a:lnSpc>
                <a:spcPts val="4000"/>
              </a:lnSpc>
              <a:spcBef>
                <a:spcPts val="0"/>
              </a:spcBef>
              <a:spcAft>
                <a:spcPts val="0"/>
              </a:spcAft>
              <a:defRPr sz="2600" b="0">
                <a:solidFill>
                  <a:srgbClr val="9EADBD"/>
                </a:solidFill>
                <a:latin typeface="Arial"/>
              </a:defRPr>
            </a:pPr>
            <a:r>
              <a:t>The Burn Equity Index gives us a shared language</a:t>
            </a:r>
          </a:p>
          <a:p>
            <a:pPr algn="ctr">
              <a:lnSpc>
                <a:spcPts val="4000"/>
              </a:lnSpc>
              <a:spcBef>
                <a:spcPts val="0"/>
              </a:spcBef>
              <a:spcAft>
                <a:spcPts val="0"/>
              </a:spcAft>
              <a:defRPr sz="2600" b="0">
                <a:solidFill>
                  <a:srgbClr val="9EADBD"/>
                </a:solidFill>
                <a:latin typeface="Arial"/>
              </a:defRPr>
            </a:pPr>
            <a:r>
              <a:t>to see, measure, and act on the structural gaps</a:t>
            </a:r>
          </a:p>
          <a:p>
            <a:pPr algn="ctr">
              <a:lnSpc>
                <a:spcPts val="4000"/>
              </a:lnSpc>
              <a:spcBef>
                <a:spcPts val="0"/>
              </a:spcBef>
              <a:spcAft>
                <a:spcPts val="0"/>
              </a:spcAft>
              <a:defRPr sz="2600" b="0">
                <a:solidFill>
                  <a:srgbClr val="9EADBD"/>
                </a:solidFill>
                <a:latin typeface="Arial"/>
              </a:defRPr>
            </a:pPr>
            <a:r>
              <a:t>that separate 10 minutes from 10 hours.</a:t>
            </a:r>
          </a:p>
        </p:txBody>
      </p:sp>
      <p:sp>
        <p:nvSpPr>
          <p:cNvPr id="4" name="Rounded Rectangle 3"/>
          <p:cNvSpPr/>
          <p:nvPr/>
        </p:nvSpPr>
        <p:spPr>
          <a:xfrm>
            <a:off x="1371600" y="4297680"/>
            <a:ext cx="2606040" cy="150876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407408"/>
            <a:ext cx="2331720" cy="594360"/>
          </a:xfrm>
          <a:prstGeom prst="rect">
            <a:avLst/>
          </a:prstGeom>
          <a:noFill/>
        </p:spPr>
        <p:txBody>
          <a:bodyPr wrap="square">
            <a:noAutofit/>
          </a:bodyPr>
          <a:lstStyle/>
          <a:p>
            <a:pPr algn="l">
              <a:spcBef>
                <a:spcPts val="0"/>
              </a:spcBef>
              <a:spcAft>
                <a:spcPts val="0"/>
              </a:spcAft>
              <a:defRPr sz="1500" b="1">
                <a:solidFill>
                  <a:srgbClr val="9EADBD"/>
                </a:solidFill>
                <a:latin typeface="Arial"/>
              </a:defRPr>
            </a:pPr>
            <a:r>
              <a:t>Hennepin County</a:t>
            </a:r>
          </a:p>
        </p:txBody>
      </p:sp>
      <p:sp>
        <p:nvSpPr>
          <p:cNvPr id="6" name="TextBox 5"/>
          <p:cNvSpPr txBox="1"/>
          <p:nvPr/>
        </p:nvSpPr>
        <p:spPr>
          <a:xfrm>
            <a:off x="1508760" y="5029200"/>
            <a:ext cx="2331720" cy="594360"/>
          </a:xfrm>
          <a:prstGeom prst="rect">
            <a:avLst/>
          </a:prstGeom>
          <a:noFill/>
        </p:spPr>
        <p:txBody>
          <a:bodyPr wrap="square">
            <a:noAutofit/>
          </a:bodyPr>
          <a:lstStyle/>
          <a:p>
            <a:pPr algn="l">
              <a:spcBef>
                <a:spcPts val="0"/>
              </a:spcBef>
              <a:spcAft>
                <a:spcPts val="0"/>
              </a:spcAft>
              <a:defRPr sz="3000" b="1">
                <a:solidFill>
                  <a:srgbClr val="009E73"/>
                </a:solidFill>
                <a:latin typeface="Arial"/>
              </a:defRPr>
            </a:pPr>
            <a:r>
              <a:t>BEI: 0</a:t>
            </a:r>
          </a:p>
        </p:txBody>
      </p:sp>
      <p:sp>
        <p:nvSpPr>
          <p:cNvPr id="7" name="Rounded Rectangle 6"/>
          <p:cNvSpPr/>
          <p:nvPr/>
        </p:nvSpPr>
        <p:spPr>
          <a:xfrm>
            <a:off x="4754880" y="4297680"/>
            <a:ext cx="2606040" cy="150876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92040" y="4407408"/>
            <a:ext cx="2331720" cy="594360"/>
          </a:xfrm>
          <a:prstGeom prst="rect">
            <a:avLst/>
          </a:prstGeom>
          <a:noFill/>
        </p:spPr>
        <p:txBody>
          <a:bodyPr wrap="square">
            <a:noAutofit/>
          </a:bodyPr>
          <a:lstStyle/>
          <a:p>
            <a:pPr algn="l">
              <a:spcBef>
                <a:spcPts val="0"/>
              </a:spcBef>
              <a:spcAft>
                <a:spcPts val="0"/>
              </a:spcAft>
              <a:defRPr sz="1500" b="1">
                <a:solidFill>
                  <a:srgbClr val="9EADBD"/>
                </a:solidFill>
                <a:latin typeface="Arial"/>
              </a:defRPr>
            </a:pPr>
            <a:r>
              <a:t>Same State</a:t>
            </a:r>
          </a:p>
        </p:txBody>
      </p:sp>
      <p:sp>
        <p:nvSpPr>
          <p:cNvPr id="9" name="TextBox 8"/>
          <p:cNvSpPr txBox="1"/>
          <p:nvPr/>
        </p:nvSpPr>
        <p:spPr>
          <a:xfrm>
            <a:off x="4892040" y="5029200"/>
            <a:ext cx="2331720" cy="594360"/>
          </a:xfrm>
          <a:prstGeom prst="rect">
            <a:avLst/>
          </a:prstGeom>
          <a:noFill/>
        </p:spPr>
        <p:txBody>
          <a:bodyPr wrap="square">
            <a:noAutofit/>
          </a:bodyPr>
          <a:lstStyle/>
          <a:p>
            <a:pPr algn="l">
              <a:spcBef>
                <a:spcPts val="0"/>
              </a:spcBef>
              <a:spcAft>
                <a:spcPts val="0"/>
              </a:spcAft>
              <a:defRPr sz="3000" b="1">
                <a:solidFill>
                  <a:srgbClr val="E69F00"/>
                </a:solidFill>
                <a:latin typeface="Arial"/>
              </a:defRPr>
            </a:pPr>
            <a:r>
              <a:t>10m vs 8h</a:t>
            </a:r>
          </a:p>
        </p:txBody>
      </p:sp>
      <p:sp>
        <p:nvSpPr>
          <p:cNvPr id="10" name="Rounded Rectangle 9"/>
          <p:cNvSpPr/>
          <p:nvPr/>
        </p:nvSpPr>
        <p:spPr>
          <a:xfrm>
            <a:off x="8138160" y="4297680"/>
            <a:ext cx="2606040" cy="150876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20" y="4407408"/>
            <a:ext cx="2331720" cy="594360"/>
          </a:xfrm>
          <a:prstGeom prst="rect">
            <a:avLst/>
          </a:prstGeom>
          <a:noFill/>
        </p:spPr>
        <p:txBody>
          <a:bodyPr wrap="square">
            <a:noAutofit/>
          </a:bodyPr>
          <a:lstStyle/>
          <a:p>
            <a:pPr algn="l">
              <a:spcBef>
                <a:spcPts val="0"/>
              </a:spcBef>
              <a:spcAft>
                <a:spcPts val="0"/>
              </a:spcAft>
              <a:defRPr sz="1500" b="1">
                <a:solidFill>
                  <a:srgbClr val="9EADBD"/>
                </a:solidFill>
                <a:latin typeface="Arial"/>
              </a:defRPr>
            </a:pPr>
            <a:r>
              <a:t>Kittson County</a:t>
            </a:r>
          </a:p>
        </p:txBody>
      </p:sp>
      <p:sp>
        <p:nvSpPr>
          <p:cNvPr id="12" name="TextBox 11"/>
          <p:cNvSpPr txBox="1"/>
          <p:nvPr/>
        </p:nvSpPr>
        <p:spPr>
          <a:xfrm>
            <a:off x="8275320" y="5029200"/>
            <a:ext cx="2331720" cy="594360"/>
          </a:xfrm>
          <a:prstGeom prst="rect">
            <a:avLst/>
          </a:prstGeom>
          <a:noFill/>
        </p:spPr>
        <p:txBody>
          <a:bodyPr wrap="square">
            <a:noAutofit/>
          </a:bodyPr>
          <a:lstStyle/>
          <a:p>
            <a:pPr algn="l">
              <a:spcBef>
                <a:spcPts val="0"/>
              </a:spcBef>
              <a:spcAft>
                <a:spcPts val="0"/>
              </a:spcAft>
              <a:defRPr sz="3000" b="1">
                <a:solidFill>
                  <a:srgbClr val="D55E00"/>
                </a:solidFill>
                <a:latin typeface="Arial"/>
              </a:defRPr>
            </a:pPr>
            <a:r>
              <a:t>BEI: 99.6</a:t>
            </a:r>
          </a:p>
        </p:txBody>
      </p:sp>
      <p:sp>
        <p:nvSpPr>
          <p:cNvPr id="13" name="TextBox 12"/>
          <p:cNvSpPr txBox="1"/>
          <p:nvPr/>
        </p:nvSpPr>
        <p:spPr>
          <a:xfrm>
            <a:off x="1371600" y="5943600"/>
            <a:ext cx="9418320" cy="365760"/>
          </a:xfrm>
          <a:prstGeom prst="rect">
            <a:avLst/>
          </a:prstGeom>
          <a:noFill/>
        </p:spPr>
        <p:txBody>
          <a:bodyPr wrap="square">
            <a:noAutofit/>
          </a:bodyPr>
          <a:lstStyle/>
          <a:p>
            <a:pPr algn="ctr">
              <a:spcBef>
                <a:spcPts val="0"/>
              </a:spcBef>
              <a:spcAft>
                <a:spcPts val="0"/>
              </a:spcAft>
              <a:defRPr sz="2100" b="1">
                <a:solidFill>
                  <a:srgbClr val="56B4E9"/>
                </a:solidFill>
                <a:latin typeface="Arial"/>
              </a:defRPr>
            </a:pPr>
            <a:r>
              <a:t>The gap is structural. What's structural can be changed. Change starts with data.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6B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731520"/>
            <a:ext cx="9418320" cy="640080"/>
          </a:xfrm>
          <a:prstGeom prst="rect">
            <a:avLst/>
          </a:prstGeom>
          <a:noFill/>
        </p:spPr>
        <p:txBody>
          <a:bodyPr wrap="square">
            <a:noAutofit/>
          </a:bodyPr>
          <a:lstStyle/>
          <a:p>
            <a:pPr algn="ctr">
              <a:spcBef>
                <a:spcPts val="0"/>
              </a:spcBef>
              <a:spcAft>
                <a:spcPts val="0"/>
              </a:spcAft>
              <a:defRPr sz="4600" b="1">
                <a:solidFill>
                  <a:srgbClr val="F0F3F7"/>
                </a:solidFill>
                <a:latin typeface="Arial"/>
              </a:defRPr>
            </a:pPr>
            <a:r>
              <a:t>Thank You</a:t>
            </a:r>
          </a:p>
        </p:txBody>
      </p:sp>
      <p:sp>
        <p:nvSpPr>
          <p:cNvPr id="4" name="TextBox 3"/>
          <p:cNvSpPr txBox="1"/>
          <p:nvPr/>
        </p:nvSpPr>
        <p:spPr>
          <a:xfrm>
            <a:off x="1371600" y="1463040"/>
            <a:ext cx="9418320" cy="365760"/>
          </a:xfrm>
          <a:prstGeom prst="rect">
            <a:avLst/>
          </a:prstGeom>
          <a:noFill/>
        </p:spPr>
        <p:txBody>
          <a:bodyPr wrap="square">
            <a:noAutofit/>
          </a:bodyPr>
          <a:lstStyle/>
          <a:p>
            <a:pPr algn="ctr">
              <a:spcBef>
                <a:spcPts val="0"/>
              </a:spcBef>
              <a:spcAft>
                <a:spcPts val="0"/>
              </a:spcAft>
              <a:defRPr sz="2000" b="0">
                <a:solidFill>
                  <a:srgbClr val="9EADBD"/>
                </a:solidFill>
                <a:latin typeface="Arial"/>
              </a:defRPr>
            </a:pPr>
            <a:r>
              <a:t>Team 15  —  Burn Equity Index  —  Challenge Area 3</a:t>
            </a:r>
          </a:p>
        </p:txBody>
      </p:sp>
      <p:sp>
        <p:nvSpPr>
          <p:cNvPr id="5" name="Rounded Rectangle 4"/>
          <p:cNvSpPr/>
          <p:nvPr/>
        </p:nvSpPr>
        <p:spPr>
          <a:xfrm>
            <a:off x="731520" y="2194560"/>
            <a:ext cx="2560320" cy="210312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600200" y="2377440"/>
            <a:ext cx="731520" cy="731520"/>
          </a:xfrm>
          <a:prstGeom prst="ellipse">
            <a:avLst/>
          </a:prstGeom>
          <a:solidFill>
            <a:srgbClr val="56B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00200" y="2441448"/>
            <a:ext cx="731520" cy="594360"/>
          </a:xfrm>
          <a:prstGeom prst="rect">
            <a:avLst/>
          </a:prstGeom>
          <a:noFill/>
        </p:spPr>
        <p:txBody>
          <a:bodyPr wrap="square">
            <a:noAutofit/>
          </a:bodyPr>
          <a:lstStyle/>
          <a:p>
            <a:pPr algn="ctr">
              <a:spcBef>
                <a:spcPts val="0"/>
              </a:spcBef>
              <a:spcAft>
                <a:spcPts val="0"/>
              </a:spcAft>
              <a:defRPr sz="2200" b="1">
                <a:solidFill>
                  <a:srgbClr val="121A27"/>
                </a:solidFill>
                <a:latin typeface="Arial"/>
              </a:defRPr>
            </a:pPr>
            <a:r>
              <a:t>JT</a:t>
            </a:r>
          </a:p>
        </p:txBody>
      </p:sp>
      <p:sp>
        <p:nvSpPr>
          <p:cNvPr id="8" name="TextBox 7"/>
          <p:cNvSpPr txBox="1"/>
          <p:nvPr/>
        </p:nvSpPr>
        <p:spPr>
          <a:xfrm>
            <a:off x="822960" y="3246120"/>
            <a:ext cx="2377440" cy="320040"/>
          </a:xfrm>
          <a:prstGeom prst="rect">
            <a:avLst/>
          </a:prstGeom>
          <a:noFill/>
        </p:spPr>
        <p:txBody>
          <a:bodyPr wrap="square">
            <a:noAutofit/>
          </a:bodyPr>
          <a:lstStyle/>
          <a:p>
            <a:pPr algn="ctr">
              <a:spcBef>
                <a:spcPts val="0"/>
              </a:spcBef>
              <a:spcAft>
                <a:spcPts val="0"/>
              </a:spcAft>
              <a:defRPr sz="1700" b="1">
                <a:solidFill>
                  <a:srgbClr val="F0F3F7"/>
                </a:solidFill>
                <a:latin typeface="Arial"/>
              </a:defRPr>
            </a:pPr>
            <a:r>
              <a:t>Jacob Tang</a:t>
            </a:r>
          </a:p>
        </p:txBody>
      </p:sp>
      <p:sp>
        <p:nvSpPr>
          <p:cNvPr id="9" name="TextBox 8"/>
          <p:cNvSpPr txBox="1"/>
          <p:nvPr/>
        </p:nvSpPr>
        <p:spPr>
          <a:xfrm>
            <a:off x="822960" y="3566160"/>
            <a:ext cx="2377440" cy="502920"/>
          </a:xfrm>
          <a:prstGeom prst="rect">
            <a:avLst/>
          </a:prstGeom>
          <a:noFill/>
        </p:spPr>
        <p:txBody>
          <a:bodyPr wrap="square">
            <a:noAutofit/>
          </a:bodyPr>
          <a:lstStyle/>
          <a:p>
            <a:pPr algn="ctr">
              <a:lnSpc>
                <a:spcPts val="1800"/>
              </a:lnSpc>
              <a:spcBef>
                <a:spcPts val="0"/>
              </a:spcBef>
              <a:spcAft>
                <a:spcPts val="0"/>
              </a:spcAft>
              <a:defRPr sz="1300" b="0">
                <a:solidFill>
                  <a:srgbClr val="9EADBD"/>
                </a:solidFill>
                <a:latin typeface="Arial"/>
              </a:defRPr>
            </a:pPr>
            <a:r>
              <a:t>Technical Lead</a:t>
            </a:r>
          </a:p>
          <a:p>
            <a:pPr algn="ctr">
              <a:lnSpc>
                <a:spcPts val="1800"/>
              </a:lnSpc>
              <a:spcBef>
                <a:spcPts val="0"/>
              </a:spcBef>
              <a:spcAft>
                <a:spcPts val="0"/>
              </a:spcAft>
              <a:defRPr sz="1300" b="0">
                <a:solidFill>
                  <a:srgbClr val="9EADBD"/>
                </a:solidFill>
                <a:latin typeface="Arial"/>
              </a:defRPr>
            </a:pPr>
            <a:r>
              <a:t>Pipeline &amp; Methodology</a:t>
            </a:r>
          </a:p>
        </p:txBody>
      </p:sp>
      <p:sp>
        <p:nvSpPr>
          <p:cNvPr id="10" name="Rounded Rectangle 9"/>
          <p:cNvSpPr/>
          <p:nvPr/>
        </p:nvSpPr>
        <p:spPr>
          <a:xfrm>
            <a:off x="3566160" y="2194560"/>
            <a:ext cx="2560320" cy="210312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434840" y="2377440"/>
            <a:ext cx="731520" cy="731520"/>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2441448"/>
            <a:ext cx="731520" cy="594360"/>
          </a:xfrm>
          <a:prstGeom prst="rect">
            <a:avLst/>
          </a:prstGeom>
          <a:noFill/>
        </p:spPr>
        <p:txBody>
          <a:bodyPr wrap="square">
            <a:noAutofit/>
          </a:bodyPr>
          <a:lstStyle/>
          <a:p>
            <a:pPr algn="ctr">
              <a:spcBef>
                <a:spcPts val="0"/>
              </a:spcBef>
              <a:spcAft>
                <a:spcPts val="0"/>
              </a:spcAft>
              <a:defRPr sz="2200" b="1">
                <a:solidFill>
                  <a:srgbClr val="121A27"/>
                </a:solidFill>
                <a:latin typeface="Arial"/>
              </a:defRPr>
            </a:pPr>
            <a:r>
              <a:t>MR</a:t>
            </a:r>
          </a:p>
        </p:txBody>
      </p:sp>
      <p:sp>
        <p:nvSpPr>
          <p:cNvPr id="13" name="TextBox 12"/>
          <p:cNvSpPr txBox="1"/>
          <p:nvPr/>
        </p:nvSpPr>
        <p:spPr>
          <a:xfrm>
            <a:off x="3657600" y="3246120"/>
            <a:ext cx="2377440" cy="320040"/>
          </a:xfrm>
          <a:prstGeom prst="rect">
            <a:avLst/>
          </a:prstGeom>
          <a:noFill/>
        </p:spPr>
        <p:txBody>
          <a:bodyPr wrap="square">
            <a:noAutofit/>
          </a:bodyPr>
          <a:lstStyle/>
          <a:p>
            <a:pPr algn="ctr">
              <a:spcBef>
                <a:spcPts val="0"/>
              </a:spcBef>
              <a:spcAft>
                <a:spcPts val="0"/>
              </a:spcAft>
              <a:defRPr sz="1700" b="1">
                <a:solidFill>
                  <a:srgbClr val="F0F3F7"/>
                </a:solidFill>
                <a:latin typeface="Arial"/>
              </a:defRPr>
            </a:pPr>
            <a:r>
              <a:t>Madeline Rose Johnson</a:t>
            </a:r>
          </a:p>
        </p:txBody>
      </p:sp>
      <p:sp>
        <p:nvSpPr>
          <p:cNvPr id="14" name="TextBox 13"/>
          <p:cNvSpPr txBox="1"/>
          <p:nvPr/>
        </p:nvSpPr>
        <p:spPr>
          <a:xfrm>
            <a:off x="3657600" y="3566160"/>
            <a:ext cx="2377440" cy="502920"/>
          </a:xfrm>
          <a:prstGeom prst="rect">
            <a:avLst/>
          </a:prstGeom>
          <a:noFill/>
        </p:spPr>
        <p:txBody>
          <a:bodyPr wrap="square">
            <a:noAutofit/>
          </a:bodyPr>
          <a:lstStyle/>
          <a:p>
            <a:pPr algn="ctr">
              <a:lnSpc>
                <a:spcPts val="1800"/>
              </a:lnSpc>
              <a:spcBef>
                <a:spcPts val="0"/>
              </a:spcBef>
              <a:spcAft>
                <a:spcPts val="0"/>
              </a:spcAft>
              <a:defRPr sz="1300" b="0">
                <a:solidFill>
                  <a:srgbClr val="9EADBD"/>
                </a:solidFill>
                <a:latin typeface="Arial"/>
              </a:defRPr>
            </a:pPr>
            <a:r>
              <a:t>Analytics &amp; Presentation</a:t>
            </a:r>
          </a:p>
          <a:p>
            <a:pPr algn="ctr">
              <a:lnSpc>
                <a:spcPts val="1800"/>
              </a:lnSpc>
              <a:spcBef>
                <a:spcPts val="0"/>
              </a:spcBef>
              <a:spcAft>
                <a:spcPts val="0"/>
              </a:spcAft>
              <a:defRPr sz="1300" b="0">
                <a:solidFill>
                  <a:srgbClr val="9EADBD"/>
                </a:solidFill>
                <a:latin typeface="Arial"/>
              </a:defRPr>
            </a:pPr>
            <a:r>
              <a:t>MS Data Science</a:t>
            </a:r>
          </a:p>
        </p:txBody>
      </p:sp>
      <p:sp>
        <p:nvSpPr>
          <p:cNvPr id="15" name="Rounded Rectangle 14"/>
          <p:cNvSpPr/>
          <p:nvPr/>
        </p:nvSpPr>
        <p:spPr>
          <a:xfrm>
            <a:off x="6400800" y="2194560"/>
            <a:ext cx="2560320" cy="210312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69480" y="2377440"/>
            <a:ext cx="731520" cy="731520"/>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69480" y="2441448"/>
            <a:ext cx="731520" cy="594360"/>
          </a:xfrm>
          <a:prstGeom prst="rect">
            <a:avLst/>
          </a:prstGeom>
          <a:noFill/>
        </p:spPr>
        <p:txBody>
          <a:bodyPr wrap="square">
            <a:noAutofit/>
          </a:bodyPr>
          <a:lstStyle/>
          <a:p>
            <a:pPr algn="ctr">
              <a:spcBef>
                <a:spcPts val="0"/>
              </a:spcBef>
              <a:spcAft>
                <a:spcPts val="0"/>
              </a:spcAft>
              <a:defRPr sz="2200" b="1">
                <a:solidFill>
                  <a:srgbClr val="121A27"/>
                </a:solidFill>
                <a:latin typeface="Arial"/>
              </a:defRPr>
            </a:pPr>
            <a:r>
              <a:t>YY</a:t>
            </a:r>
          </a:p>
        </p:txBody>
      </p:sp>
      <p:sp>
        <p:nvSpPr>
          <p:cNvPr id="18" name="TextBox 17"/>
          <p:cNvSpPr txBox="1"/>
          <p:nvPr/>
        </p:nvSpPr>
        <p:spPr>
          <a:xfrm>
            <a:off x="6492240" y="3246120"/>
            <a:ext cx="2377440" cy="320040"/>
          </a:xfrm>
          <a:prstGeom prst="rect">
            <a:avLst/>
          </a:prstGeom>
          <a:noFill/>
        </p:spPr>
        <p:txBody>
          <a:bodyPr wrap="square">
            <a:noAutofit/>
          </a:bodyPr>
          <a:lstStyle/>
          <a:p>
            <a:pPr algn="ctr">
              <a:spcBef>
                <a:spcPts val="0"/>
              </a:spcBef>
              <a:spcAft>
                <a:spcPts val="0"/>
              </a:spcAft>
              <a:defRPr sz="1700" b="1">
                <a:solidFill>
                  <a:srgbClr val="F0F3F7"/>
                </a:solidFill>
                <a:latin typeface="Arial"/>
              </a:defRPr>
            </a:pPr>
            <a:r>
              <a:t>Yisihaq Yemiru</a:t>
            </a:r>
          </a:p>
        </p:txBody>
      </p:sp>
      <p:sp>
        <p:nvSpPr>
          <p:cNvPr id="19" name="TextBox 18"/>
          <p:cNvSpPr txBox="1"/>
          <p:nvPr/>
        </p:nvSpPr>
        <p:spPr>
          <a:xfrm>
            <a:off x="6492240" y="3566160"/>
            <a:ext cx="2377440" cy="502920"/>
          </a:xfrm>
          <a:prstGeom prst="rect">
            <a:avLst/>
          </a:prstGeom>
          <a:noFill/>
        </p:spPr>
        <p:txBody>
          <a:bodyPr wrap="square">
            <a:noAutofit/>
          </a:bodyPr>
          <a:lstStyle/>
          <a:p>
            <a:pPr algn="ctr">
              <a:lnSpc>
                <a:spcPts val="1800"/>
              </a:lnSpc>
              <a:spcBef>
                <a:spcPts val="0"/>
              </a:spcBef>
              <a:spcAft>
                <a:spcPts val="0"/>
              </a:spcAft>
              <a:defRPr sz="1300" b="0">
                <a:solidFill>
                  <a:srgbClr val="9EADBD"/>
                </a:solidFill>
                <a:latin typeface="Arial"/>
              </a:defRPr>
            </a:pPr>
            <a:r>
              <a:t>Research &amp;</a:t>
            </a:r>
          </a:p>
          <a:p>
            <a:pPr algn="ctr">
              <a:lnSpc>
                <a:spcPts val="1800"/>
              </a:lnSpc>
              <a:spcBef>
                <a:spcPts val="0"/>
              </a:spcBef>
              <a:spcAft>
                <a:spcPts val="0"/>
              </a:spcAft>
              <a:defRPr sz="1300" b="0">
                <a:solidFill>
                  <a:srgbClr val="9EADBD"/>
                </a:solidFill>
                <a:latin typeface="Arial"/>
              </a:defRPr>
            </a:pPr>
            <a:r>
              <a:t>Data Integration</a:t>
            </a:r>
          </a:p>
        </p:txBody>
      </p:sp>
      <p:sp>
        <p:nvSpPr>
          <p:cNvPr id="20" name="Rounded Rectangle 19"/>
          <p:cNvSpPr/>
          <p:nvPr/>
        </p:nvSpPr>
        <p:spPr>
          <a:xfrm>
            <a:off x="9235440" y="2194560"/>
            <a:ext cx="2560320" cy="210312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104120" y="2377440"/>
            <a:ext cx="731520" cy="731520"/>
          </a:xfrm>
          <a:prstGeom prst="ellipse">
            <a:avLst/>
          </a:prstGeom>
          <a:solidFill>
            <a:srgbClr val="CC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04120" y="2441448"/>
            <a:ext cx="731520" cy="594360"/>
          </a:xfrm>
          <a:prstGeom prst="rect">
            <a:avLst/>
          </a:prstGeom>
          <a:noFill/>
        </p:spPr>
        <p:txBody>
          <a:bodyPr wrap="square">
            <a:noAutofit/>
          </a:bodyPr>
          <a:lstStyle/>
          <a:p>
            <a:pPr algn="ctr">
              <a:spcBef>
                <a:spcPts val="0"/>
              </a:spcBef>
              <a:spcAft>
                <a:spcPts val="0"/>
              </a:spcAft>
              <a:defRPr sz="2200" b="1">
                <a:solidFill>
                  <a:srgbClr val="121A27"/>
                </a:solidFill>
                <a:latin typeface="Arial"/>
              </a:defRPr>
            </a:pPr>
            <a:r>
              <a:t>M</a:t>
            </a:r>
          </a:p>
        </p:txBody>
      </p:sp>
      <p:sp>
        <p:nvSpPr>
          <p:cNvPr id="23" name="TextBox 22"/>
          <p:cNvSpPr txBox="1"/>
          <p:nvPr/>
        </p:nvSpPr>
        <p:spPr>
          <a:xfrm>
            <a:off x="9326880" y="3246120"/>
            <a:ext cx="2377440" cy="320040"/>
          </a:xfrm>
          <a:prstGeom prst="rect">
            <a:avLst/>
          </a:prstGeom>
          <a:noFill/>
        </p:spPr>
        <p:txBody>
          <a:bodyPr wrap="square">
            <a:noAutofit/>
          </a:bodyPr>
          <a:lstStyle/>
          <a:p>
            <a:pPr algn="ctr">
              <a:spcBef>
                <a:spcPts val="0"/>
              </a:spcBef>
              <a:spcAft>
                <a:spcPts val="0"/>
              </a:spcAft>
              <a:defRPr sz="1700" b="1">
                <a:solidFill>
                  <a:srgbClr val="F0F3F7"/>
                </a:solidFill>
                <a:latin typeface="Arial"/>
              </a:defRPr>
            </a:pPr>
            <a:r>
              <a:t>Mashfika</a:t>
            </a:r>
          </a:p>
        </p:txBody>
      </p:sp>
      <p:sp>
        <p:nvSpPr>
          <p:cNvPr id="24" name="TextBox 23"/>
          <p:cNvSpPr txBox="1"/>
          <p:nvPr/>
        </p:nvSpPr>
        <p:spPr>
          <a:xfrm>
            <a:off x="9326880" y="3566160"/>
            <a:ext cx="2377440" cy="502920"/>
          </a:xfrm>
          <a:prstGeom prst="rect">
            <a:avLst/>
          </a:prstGeom>
          <a:noFill/>
        </p:spPr>
        <p:txBody>
          <a:bodyPr wrap="square">
            <a:noAutofit/>
          </a:bodyPr>
          <a:lstStyle/>
          <a:p>
            <a:pPr algn="ctr">
              <a:lnSpc>
                <a:spcPts val="1800"/>
              </a:lnSpc>
              <a:spcBef>
                <a:spcPts val="0"/>
              </a:spcBef>
              <a:spcAft>
                <a:spcPts val="0"/>
              </a:spcAft>
              <a:defRPr sz="1300" b="0">
                <a:solidFill>
                  <a:srgbClr val="9EADBD"/>
                </a:solidFill>
                <a:latin typeface="Arial"/>
              </a:defRPr>
            </a:pPr>
            <a:r>
              <a:t>Analysis &amp;</a:t>
            </a:r>
          </a:p>
          <a:p>
            <a:pPr algn="ctr">
              <a:lnSpc>
                <a:spcPts val="1800"/>
              </a:lnSpc>
              <a:spcBef>
                <a:spcPts val="0"/>
              </a:spcBef>
              <a:spcAft>
                <a:spcPts val="0"/>
              </a:spcAft>
              <a:defRPr sz="1300" b="0">
                <a:solidFill>
                  <a:srgbClr val="9EADBD"/>
                </a:solidFill>
                <a:latin typeface="Arial"/>
              </a:defRPr>
            </a:pPr>
            <a:r>
              <a:t>Visualization</a:t>
            </a:r>
          </a:p>
        </p:txBody>
      </p:sp>
      <p:sp>
        <p:nvSpPr>
          <p:cNvPr id="25" name="TextBox 24"/>
          <p:cNvSpPr txBox="1"/>
          <p:nvPr/>
        </p:nvSpPr>
        <p:spPr>
          <a:xfrm>
            <a:off x="1371600" y="4572000"/>
            <a:ext cx="9418320" cy="320040"/>
          </a:xfrm>
          <a:prstGeom prst="rect">
            <a:avLst/>
          </a:prstGeom>
          <a:noFill/>
        </p:spPr>
        <p:txBody>
          <a:bodyPr wrap="square">
            <a:noAutofit/>
          </a:bodyPr>
          <a:lstStyle/>
          <a:p>
            <a:pPr algn="ctr">
              <a:spcBef>
                <a:spcPts val="0"/>
              </a:spcBef>
              <a:spcAft>
                <a:spcPts val="0"/>
              </a:spcAft>
              <a:defRPr sz="1500" b="0">
                <a:solidFill>
                  <a:srgbClr val="9EADBD"/>
                </a:solidFill>
                <a:latin typeface="Arial"/>
              </a:defRPr>
            </a:pPr>
            <a:r>
              <a:t>American Burn Association  ·  BData  ·  HealthcareMN  ·  MinneAnalytics  ·  University of Minnesota</a:t>
            </a:r>
          </a:p>
        </p:txBody>
      </p:sp>
      <p:sp>
        <p:nvSpPr>
          <p:cNvPr id="26" name="TextBox 25"/>
          <p:cNvSpPr txBox="1"/>
          <p:nvPr/>
        </p:nvSpPr>
        <p:spPr>
          <a:xfrm>
            <a:off x="1371600" y="5029200"/>
            <a:ext cx="9418320" cy="320040"/>
          </a:xfrm>
          <a:prstGeom prst="rect">
            <a:avLst/>
          </a:prstGeom>
          <a:noFill/>
        </p:spPr>
        <p:txBody>
          <a:bodyPr wrap="square">
            <a:noAutofit/>
          </a:bodyPr>
          <a:lstStyle/>
          <a:p>
            <a:pPr algn="ctr">
              <a:spcBef>
                <a:spcPts val="0"/>
              </a:spcBef>
              <a:spcAft>
                <a:spcPts val="0"/>
              </a:spcAft>
              <a:defRPr sz="1500" b="0">
                <a:solidFill>
                  <a:srgbClr val="9EADBD"/>
                </a:solidFill>
                <a:latin typeface="Arial"/>
              </a:defRPr>
            </a:pPr>
            <a:r>
              <a:t>Data: NIRD  ·  US Census  ·  OpenStreetMap  ·  Valhalla  ·  RUCA  ·  CDC SVI  ·  FAA</a:t>
            </a:r>
          </a:p>
        </p:txBody>
      </p:sp>
      <p:sp>
        <p:nvSpPr>
          <p:cNvPr id="27" name="Rounded Rectangle 26"/>
          <p:cNvSpPr/>
          <p:nvPr/>
        </p:nvSpPr>
        <p:spPr>
          <a:xfrm>
            <a:off x="3200400" y="5577840"/>
            <a:ext cx="5760720" cy="54864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00400" y="5623560"/>
            <a:ext cx="5760720" cy="457200"/>
          </a:xfrm>
          <a:prstGeom prst="rect">
            <a:avLst/>
          </a:prstGeom>
          <a:noFill/>
        </p:spPr>
        <p:txBody>
          <a:bodyPr wrap="square">
            <a:noAutofit/>
          </a:bodyPr>
          <a:lstStyle/>
          <a:p>
            <a:pPr algn="ctr">
              <a:spcBef>
                <a:spcPts val="0"/>
              </a:spcBef>
              <a:spcAft>
                <a:spcPts val="0"/>
              </a:spcAft>
              <a:defRPr sz="1900" b="1">
                <a:solidFill>
                  <a:srgbClr val="56B4E9"/>
                </a:solidFill>
                <a:latin typeface="Arial"/>
              </a:defRPr>
            </a:pPr>
            <a:r>
              <a:t>Interactive Dashboard Available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