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5"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083" autoAdjust="0"/>
  </p:normalViewPr>
  <p:slideViewPr>
    <p:cSldViewPr snapToGrid="0" snapToObjects="1">
      <p:cViewPr varScale="1">
        <p:scale>
          <a:sx n="90" d="100"/>
          <a:sy n="90" d="100"/>
        </p:scale>
        <p:origin x="2976" y="96"/>
      </p:cViewPr>
      <p:guideLst>
        <p:guide orient="horz" pos="216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630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[0:00 - 0:25] 25s</a:t>
            </a:r>
          </a:p>
          <a:p>
            <a:endParaRPr dirty="0"/>
          </a:p>
          <a:p>
            <a:r>
              <a:rPr dirty="0"/>
              <a:t>Good morning everyone. Picture this -- a child reaches for a pot on the stove. In that split second, everything changes. The question that matters most is: how quickly can that child reach specialized burn care? Today we'll show you that the answer depends almost entirely on where you live. I'm Madeline, and together with Jacob, we're presenting the Burn Equity Index.</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[0:25 - 1:10] 45s</a:t>
            </a:r>
          </a:p>
          <a:p>
            <a:endParaRPr dirty="0"/>
          </a:p>
          <a:p>
            <a:r>
              <a:rPr dirty="0"/>
              <a:t>There are only 136 verified burn centers and about 2,000 burn beds for 331 million Americans. Eight states have no burn center at all.</a:t>
            </a:r>
          </a:p>
          <a:p>
            <a:endParaRPr dirty="0"/>
          </a:p>
          <a:p>
            <a:r>
              <a:rPr dirty="0"/>
              <a:t>But the numbers only tell part of the story. In Hennepin </a:t>
            </a:r>
            <a:r>
              <a:rPr lang="en-US" dirty="0"/>
              <a:t>county in Minneapolis,</a:t>
            </a:r>
            <a:r>
              <a:rPr dirty="0"/>
              <a:t> a burn patient reaches world-class care in 10 minutes. BEI score: zero. Perfect access. Now jump to Kittson County in the far northwest corner of the same state. But </a:t>
            </a:r>
            <a:r>
              <a:rPr lang="en-US" dirty="0"/>
              <a:t>there</a:t>
            </a:r>
            <a:r>
              <a:rPr dirty="0"/>
              <a:t>, a burn patient faces an 8-hour journey, and the BEI is 99.6 -- nearly the worst score possible. That's the gap we set out to measure. Jacob, take us through how we did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[1:10 - 1:45] 35s</a:t>
            </a:r>
          </a:p>
          <a:p>
            <a:endParaRPr dirty="0"/>
          </a:p>
          <a:p>
            <a:r>
              <a:rPr dirty="0"/>
              <a:t>Thanks, Madeline. I'm Jacob, </a:t>
            </a:r>
            <a:r>
              <a:rPr lang="en-US" dirty="0"/>
              <a:t>and I led the technical build</a:t>
            </a:r>
            <a:r>
              <a:rPr dirty="0"/>
              <a:t>. Our primary use case is Equitable Access -- we're not predicting who gets burned or rating hospital quality. We're </a:t>
            </a:r>
            <a:r>
              <a:rPr lang="en-US" dirty="0"/>
              <a:t>attempting to </a:t>
            </a:r>
            <a:r>
              <a:rPr dirty="0"/>
              <a:t>map structural inequity.</a:t>
            </a:r>
          </a:p>
          <a:p>
            <a:endParaRPr dirty="0"/>
          </a:p>
          <a:p>
            <a:r>
              <a:rPr dirty="0"/>
              <a:t>Three goals. First, quantify access with a </a:t>
            </a:r>
            <a:r>
              <a:rPr lang="en-US" dirty="0"/>
              <a:t>burn index</a:t>
            </a:r>
            <a:r>
              <a:rPr dirty="0"/>
              <a:t> at census-tract resolution. Second, visualize it through an interactive dashboard anyone can use. Third, turn those findings into specific, actionable recommendations. Let me show you how the index works.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[1:45 - 2:25] 40s</a:t>
            </a:r>
          </a:p>
          <a:p>
            <a:endParaRPr dirty="0"/>
          </a:p>
          <a:p>
            <a:r>
              <a:rPr dirty="0"/>
              <a:t>The BEI scores every census tract in the country from zero to a hundred. Zero means excellent structural access; a hundred means severe barriers.</a:t>
            </a:r>
          </a:p>
          <a:p>
            <a:endParaRPr dirty="0"/>
          </a:p>
          <a:p>
            <a:r>
              <a:rPr dirty="0"/>
              <a:t>It blends four pillars. S captures how scarce specialized supply is near a community. T -- our heaviest weight at 30 percent -- measures how long it takes to reach definitive care, including transfer pathways. P isolates pediatric access, because children need different facilities. And C looks at whether there are enough burn beds for the surrounding population. Each one is a distinct lens on the same system. Let me walk through the key ones.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[2:25 - 2:55] 30s</a:t>
            </a:r>
          </a:p>
          <a:p>
            <a:endParaRPr dirty="0"/>
          </a:p>
          <a:p>
            <a:r>
              <a:rPr dirty="0"/>
              <a:t>Supply uses a two-step floating catchment area method. It's a well-established spatial accessibility framework, and here's how it works in plain terms.</a:t>
            </a:r>
          </a:p>
          <a:p>
            <a:endParaRPr dirty="0"/>
          </a:p>
          <a:p>
            <a:r>
              <a:rPr dirty="0"/>
              <a:t>Each facility gets a capability weight -- a verified burn center is 1.0, a trauma-only site is 0.20. We then look at how many people live within driving range, using a step-decay function: full weight within 30 minutes, partial out to 90, and zero beyond. For each tract, we add up the ratios of all hospitals it can reach. Then we normalize and flip, so a high score means scarce supply.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[2:55 - 3:45] 50s</a:t>
            </a:r>
          </a:p>
          <a:p>
            <a:endParaRPr dirty="0"/>
          </a:p>
          <a:p>
            <a:r>
              <a:rPr dirty="0"/>
              <a:t>This is our heaviest-weighted pillar, because in burn care, minutes matter. And what sets our approach apart is that we model how the system</a:t>
            </a:r>
            <a:r>
              <a:rPr lang="en-US" dirty="0"/>
              <a:t> time</a:t>
            </a:r>
            <a:r>
              <a:rPr dirty="0"/>
              <a:t>  works.</a:t>
            </a:r>
          </a:p>
          <a:p>
            <a:endParaRPr dirty="0"/>
          </a:p>
          <a:p>
            <a:r>
              <a:rPr lang="en-US" dirty="0"/>
              <a:t>First </a:t>
            </a:r>
            <a:r>
              <a:rPr dirty="0"/>
              <a:t>We compute three pathways. Path A is direct -- just the drive time to the nearest burn center. Path B is the transfer route -- go to the nearest stabilization hospital, add a 45-minute structural transfer penalty, then continue to a definitive center. Path C picks whichever is faster.</a:t>
            </a:r>
          </a:p>
          <a:p>
            <a:endParaRPr dirty="0"/>
          </a:p>
          <a:p>
            <a:r>
              <a:rPr dirty="0"/>
              <a:t>On top of that, we add a tier penalty. If even your nearest emergency room is more than 30 minutes away, </a:t>
            </a:r>
            <a:r>
              <a:rPr lang="en-US" dirty="0"/>
              <a:t>which</a:t>
            </a:r>
            <a:r>
              <a:rPr dirty="0"/>
              <a:t> compounds the problem. So the final score blends 75 percent system travel time with 25 percent tier penalty -- capturing both the journey and the safety net.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[3:45 - 4:20] 35s</a:t>
            </a:r>
          </a:p>
          <a:p>
            <a:endParaRPr dirty="0"/>
          </a:p>
          <a:p>
            <a:r>
              <a:rPr dirty="0"/>
              <a:t>The Pediatric pillar uses the same framework but calibrated for children -- weighting facilities by pediatric burn capability </a:t>
            </a:r>
            <a:r>
              <a:rPr lang="en-US" dirty="0"/>
              <a:t>divided by the </a:t>
            </a:r>
            <a:r>
              <a:rPr dirty="0"/>
              <a:t>child population. We gave it its own pillar because a community might have decent adult access but nothing for kids.</a:t>
            </a:r>
          </a:p>
          <a:p>
            <a:endParaRPr dirty="0"/>
          </a:p>
          <a:p>
            <a:r>
              <a:rPr dirty="0"/>
              <a:t>Across the whole US, there are just 2,080 burn beds</a:t>
            </a:r>
            <a:r>
              <a:rPr lang="en-US" dirty="0"/>
              <a:t> of which </a:t>
            </a:r>
            <a:r>
              <a:rPr lang="en-US"/>
              <a:t>only 1,400 are </a:t>
            </a:r>
            <a:r>
              <a:rPr lang="en-US" sz="1200" b="0" i="0" kern="1200">
                <a:solidFill>
                  <a:schemeClr val="tx1"/>
                </a:solidFill>
                <a:effectLst/>
                <a:latin typeface="+mn-lt"/>
                <a:ea typeface="+mn-ea"/>
                <a:cs typeface="+mn-cs"/>
              </a:rPr>
              <a:t>pediatric-capable</a:t>
            </a:r>
            <a:r>
              <a:t>. </a:t>
            </a:r>
            <a:r>
              <a:rPr dirty="0"/>
              <a:t>And those beds cluster in urban centers, so rural communities are doubly disadvantaged: they're both far away and under-bedded.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[4:20 - 4:45] 25s</a:t>
            </a:r>
          </a:p>
          <a:p>
            <a:endParaRPr dirty="0"/>
          </a:p>
          <a:p>
            <a:r>
              <a:rPr dirty="0"/>
              <a:t>Every data source is either provided by the challenge or freely available. NIRD gives us 635 hospitals. Census provides tract-level population. We compute actual drive times using OpenStreetMap and a local Valhalla routing engine </a:t>
            </a:r>
            <a:r>
              <a:rPr lang="en-US" dirty="0"/>
              <a:t>server,</a:t>
            </a:r>
            <a:r>
              <a:rPr dirty="0"/>
              <a:t> these are real road-network times, not straight-line guesses. We also layer in rural-urban classifications, social vulnerability data, and FAA airport records for our air-transport scenario. </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[4:45 - 5:05] 20s</a:t>
            </a:r>
          </a:p>
          <a:p>
            <a:endParaRPr dirty="0"/>
          </a:p>
          <a:p>
            <a:r>
              <a:rPr dirty="0"/>
              <a:t>Now let me bring those numbers to life. We analyzed 1,505 tracts in Minnesota at full resolution and 3,144 counties across the entire US. Minnesota's median BEI is 23, which sounds pretty good -- but 155 tracts score above 80. Those are communities with serious structural barriers. Let's look at what that means on the map.</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[5:05 - 5:40] 35s</a:t>
            </a:r>
          </a:p>
          <a:p>
            <a:endParaRPr dirty="0"/>
          </a:p>
          <a:p>
            <a:r>
              <a:rPr dirty="0"/>
              <a:t>Here's Minnesota, colored by BEI. The Twin Cities metro is </a:t>
            </a:r>
            <a:r>
              <a:rPr lang="en-US" dirty="0"/>
              <a:t>green,</a:t>
            </a:r>
            <a:r>
              <a:rPr dirty="0"/>
              <a:t> near-zero scores, with half the state's population within minutes of a burn center. But look at the northwest corner. Deep </a:t>
            </a:r>
            <a:r>
              <a:rPr lang="en-US" dirty="0"/>
              <a:t>Red</a:t>
            </a:r>
            <a:r>
              <a:rPr dirty="0"/>
              <a:t>. Scores above 90. Communities like Kittson, Roseau, and Marshall counties. No burn center for hundreds of miles. </a:t>
            </a:r>
            <a:r>
              <a:rPr lang="en-US" dirty="0"/>
              <a:t>The </a:t>
            </a:r>
            <a:r>
              <a:rPr dirty="0"/>
              <a:t>transition isn't gradual</a:t>
            </a:r>
            <a:r>
              <a:rPr lang="en-US" dirty="0"/>
              <a:t>,</a:t>
            </a:r>
            <a:r>
              <a:rPr dirty="0"/>
              <a:t> it drops off like a cliff.</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[5:40 - 6:25] 45s</a:t>
            </a:r>
          </a:p>
          <a:p>
            <a:endParaRPr dirty="0"/>
          </a:p>
          <a:p>
            <a:r>
              <a:rPr lang="en-US" dirty="0"/>
              <a:t>Here are t</a:t>
            </a:r>
            <a:r>
              <a:rPr dirty="0"/>
              <a:t>hree counties</a:t>
            </a:r>
            <a:r>
              <a:rPr lang="en-US" dirty="0"/>
              <a:t> in </a:t>
            </a:r>
            <a:r>
              <a:rPr lang="en-US" dirty="0" err="1"/>
              <a:t>minnesota</a:t>
            </a:r>
            <a:endParaRPr dirty="0"/>
          </a:p>
          <a:p>
            <a:endParaRPr dirty="0"/>
          </a:p>
          <a:p>
            <a:r>
              <a:rPr dirty="0"/>
              <a:t>Hennepin -- Minneapolis. BEI: zero. You're 10 minutes from definitive care. Every pillar scores zero. That's what good access looks like.</a:t>
            </a:r>
          </a:p>
          <a:p>
            <a:endParaRPr dirty="0"/>
          </a:p>
          <a:p>
            <a:r>
              <a:rPr dirty="0"/>
              <a:t>Blue Earth -- Mankato. A university town, about 6</a:t>
            </a:r>
            <a:r>
              <a:rPr lang="en-US" dirty="0"/>
              <a:t>0</a:t>
            </a:r>
            <a:r>
              <a:rPr dirty="0"/>
              <a:t>,000 people. BEI: 58.5. You're an hour and a half from a burn center by road. The supply and capacity pillars are both maxed out -- there's simply nothing nearby. But the timely-access score is low because the drive is still feasible. A community like this can look fine on a map but is structurally underserved.</a:t>
            </a:r>
          </a:p>
          <a:p>
            <a:endParaRPr dirty="0"/>
          </a:p>
          <a:p>
            <a:r>
              <a:rPr dirty="0"/>
              <a:t>Beltrami -- Bemidji. BEI: 90.4. Eight hours to a burn center. Transfer pathway only. Supply, time, and capacity all maxed out. That is structural isolation.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[6:25 - 6:55] 30s</a:t>
            </a:r>
          </a:p>
          <a:p>
            <a:endParaRPr dirty="0"/>
          </a:p>
          <a:p>
            <a:r>
              <a:rPr dirty="0"/>
              <a:t>This </a:t>
            </a:r>
            <a:r>
              <a:rPr lang="en-US" dirty="0"/>
              <a:t>chart shows the rural-urban divide</a:t>
            </a:r>
            <a:r>
              <a:rPr dirty="0"/>
              <a:t>. Urban Minnesotans: 19-minute median. Rural Minnesotans: 124 minutes -- over two hours, so half face even longer trips. A 6.5x gap within one state. And nearly a third of the state's tracts are classified as rural. For burns, where that first hour can determine whether a patient needs grafts or makes a full recovery, two </a:t>
            </a:r>
            <a:r>
              <a:rPr lang="en-US" dirty="0"/>
              <a:t>hours</a:t>
            </a:r>
            <a:r>
              <a:rPr dirty="0"/>
              <a:t> changes outcomes.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[6:55 - 7:30] 35s</a:t>
            </a:r>
          </a:p>
          <a:p>
            <a:endParaRPr dirty="0"/>
          </a:p>
          <a:p>
            <a:r>
              <a:rPr dirty="0"/>
              <a:t>Now the full country. The coasts light up </a:t>
            </a:r>
            <a:r>
              <a:rPr lang="en-US" dirty="0"/>
              <a:t>green</a:t>
            </a:r>
            <a:r>
              <a:rPr dirty="0"/>
              <a:t> -- New Jersey, Maryland, Massachusetts all average below 31. The interior tells a different story. The Great Plains, the Mountain West, rural Deep South -- all high-burden. Alaska and North Dakota average above 99. Eight states have no burn center at all. If you're burned in Montana, the system requires you to leave the state. And these aren't empty places</a:t>
            </a:r>
            <a:r>
              <a:rPr lang="en-US" dirty="0"/>
              <a:t>, </a:t>
            </a:r>
            <a:r>
              <a:rPr dirty="0"/>
              <a:t> Flathead County, Montana has 106,000 residents and a perfect hundred on BEI.</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745D-7889-D009-0E88-8FE01FCFB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94BFD-F4F1-62D0-8722-4648FAAA189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A6B52EDA-10DE-951F-A7A6-952D18477436}"/>
              </a:ext>
            </a:extLst>
          </p:cNvPr>
          <p:cNvSpPr>
            <a:spLocks noGrp="1"/>
          </p:cNvSpPr>
          <p:nvPr>
            <p:ph type="body" sz="quarter" idx="3"/>
          </p:nvPr>
        </p:nvSpPr>
        <p:spPr/>
        <p:txBody>
          <a:bodyPr/>
          <a:lstStyle/>
          <a:p>
            <a:r>
              <a:rPr dirty="0"/>
              <a:t>[</a:t>
            </a:r>
            <a:r>
              <a:rPr lang="en-US" dirty="0"/>
              <a:t>MADELINE</a:t>
            </a:r>
            <a:r>
              <a:rPr dirty="0"/>
              <a:t>] [7:30 </a:t>
            </a:r>
            <a:r>
              <a:rPr lang="en-US" dirty="0"/>
              <a:t>–</a:t>
            </a:r>
            <a:r>
              <a:rPr dirty="0"/>
              <a:t> </a:t>
            </a:r>
            <a:r>
              <a:rPr lang="en-US" dirty="0"/>
              <a:t>8:00</a:t>
            </a:r>
            <a:r>
              <a:rPr dirty="0"/>
              <a:t>] </a:t>
            </a:r>
            <a:r>
              <a:rPr lang="en-US" dirty="0"/>
              <a:t>3</a:t>
            </a:r>
            <a:r>
              <a:rPr dirty="0"/>
              <a:t>0s</a:t>
            </a:r>
          </a:p>
          <a:p>
            <a:endParaRPr lang="en-US" dirty="0"/>
          </a:p>
          <a:p>
            <a:r>
              <a:rPr dirty="0"/>
              <a:t>The coverage gap chart on shows </a:t>
            </a:r>
            <a:r>
              <a:rPr lang="en-US" dirty="0"/>
              <a:t>30%</a:t>
            </a:r>
            <a:r>
              <a:rPr dirty="0"/>
              <a:t> of Americans disproportionately in rural and tribal communities living more than 60 minutes from verified care. That matters clinically. The ABA's own referral guidelines stress timely transfer for major burns.</a:t>
            </a:r>
          </a:p>
        </p:txBody>
      </p:sp>
      <p:sp>
        <p:nvSpPr>
          <p:cNvPr id="4" name="Slide Number Placeholder 3">
            <a:extLst>
              <a:ext uri="{FF2B5EF4-FFF2-40B4-BE49-F238E27FC236}">
                <a16:creationId xmlns:a16="http://schemas.microsoft.com/office/drawing/2014/main" id="{FDF48F08-F14C-E4BE-5141-54C24FF7CDB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627567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[8:00 - 8:35] 35s</a:t>
            </a:r>
          </a:p>
          <a:p>
            <a:endParaRPr dirty="0"/>
          </a:p>
          <a:p>
            <a:r>
              <a:rPr dirty="0"/>
              <a:t>Four things set the BEI apart. First, we model the real tiered care system</a:t>
            </a:r>
            <a:r>
              <a:rPr lang="en-US" dirty="0"/>
              <a:t> -</a:t>
            </a:r>
            <a:r>
              <a:rPr dirty="0"/>
              <a:t> not just nearest-facility distance, but the full stabilize-and-transfer pathway with explicit penalties.</a:t>
            </a:r>
          </a:p>
          <a:p>
            <a:endParaRPr dirty="0"/>
          </a:p>
          <a:p>
            <a:r>
              <a:rPr dirty="0"/>
              <a:t>Second, we run multi-scenario transport. Ground-only as the reproducible baseline, plus a ground-plus-air sensitivity scenario built on real FAA infrastructure data.</a:t>
            </a:r>
          </a:p>
          <a:p>
            <a:endParaRPr dirty="0"/>
          </a:p>
          <a:p>
            <a:r>
              <a:rPr dirty="0"/>
              <a:t>Third, four pillars that each address a different clinical dimension. </a:t>
            </a:r>
            <a:br>
              <a:rPr lang="en-US" dirty="0"/>
            </a:br>
            <a:br>
              <a:rPr lang="en-US" dirty="0"/>
            </a:br>
            <a:r>
              <a:rPr dirty="0"/>
              <a:t>And fourth, an interactive dashboard that makes all of this accessible to anyone -- clinicians, planners, or the public.</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a:t>
            </a:r>
            <a:r>
              <a:rPr lang="en-US"/>
              <a:t>JACOB</a:t>
            </a:r>
            <a:r>
              <a:t>] </a:t>
            </a:r>
            <a:r>
              <a:rPr dirty="0"/>
              <a:t>[8:35 - 9:20] 45s</a:t>
            </a:r>
          </a:p>
          <a:p>
            <a:endParaRPr dirty="0"/>
          </a:p>
          <a:p>
            <a:r>
              <a:rPr dirty="0"/>
              <a:t>So what do we do about it? Four recommendations.</a:t>
            </a:r>
          </a:p>
          <a:p>
            <a:endParaRPr dirty="0"/>
          </a:p>
          <a:p>
            <a:r>
              <a:rPr dirty="0"/>
              <a:t>First, telemedicine. For places like Beltrami County, a tele-burn consult can guide treatment remotely while the patient is in transit. Research already shows 94 percent accuracy in remote surgical assessment.</a:t>
            </a:r>
          </a:p>
          <a:p>
            <a:endParaRPr dirty="0"/>
          </a:p>
          <a:p>
            <a:r>
              <a:rPr dirty="0"/>
              <a:t>Second, facility placement. Our hotspot analysis pinpoints where a new burn-capable facility would close the biggest gaps. Northwest Minnesota stands out.</a:t>
            </a:r>
          </a:p>
          <a:p>
            <a:endParaRPr dirty="0"/>
          </a:p>
          <a:p>
            <a:r>
              <a:rPr dirty="0"/>
              <a:t>Third, air transport. Our sensitivity analysis identifies corridors where air access meaningfully improves BEI. Existing heliport infrastructure in those areas is underutilized.</a:t>
            </a:r>
          </a:p>
          <a:p>
            <a:endParaRPr dirty="0"/>
          </a:p>
          <a:p>
            <a:r>
              <a:rPr dirty="0"/>
              <a:t>And fourth, the BEI itself is a planning tool. It's open-source, reproducible, and ready for integration into state health departments and ABA frameworks. It can be updated as the landscape changes.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[JACOB] [9:20 - 9:50] 30s</a:t>
            </a:r>
          </a:p>
          <a:p>
            <a:endParaRPr dirty="0"/>
          </a:p>
          <a:p>
            <a:r>
              <a:rPr dirty="0"/>
              <a:t>We want to be upfront about limitations. National analysis is at county lev</a:t>
            </a:r>
            <a:r>
              <a:rPr lang="en-US" dirty="0"/>
              <a:t>el and </a:t>
            </a:r>
            <a:r>
              <a:rPr dirty="0"/>
              <a:t>Minnesota uses full tract-level routing. Our air scenario </a:t>
            </a:r>
            <a:r>
              <a:rPr lang="en-US" dirty="0"/>
              <a:t>and bed capacity </a:t>
            </a:r>
            <a:r>
              <a:rPr dirty="0"/>
              <a:t>is a structural estimate, not an operational forecast</a:t>
            </a:r>
            <a:r>
              <a:rPr lang="en-US" dirty="0"/>
              <a:t> nor </a:t>
            </a:r>
            <a:r>
              <a:rPr dirty="0"/>
              <a:t>real-time.</a:t>
            </a:r>
          </a:p>
          <a:p>
            <a:endParaRPr dirty="0"/>
          </a:p>
          <a:p>
            <a:r>
              <a:rPr dirty="0"/>
              <a:t>Going forward: tract-level national routing, live bed census feeds, temporal BEI that captures seasonal patterns, and direct integration with state planning systems.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[MADELINE] [9:50 - 10:45] 55s</a:t>
            </a:r>
          </a:p>
          <a:p>
            <a:endParaRPr dirty="0"/>
          </a:p>
          <a:p>
            <a:r>
              <a:rPr dirty="0"/>
              <a:t>Let me bring it home. Think back to that child at the stove. In Hennepin County, they're in a burn unit inside 10 minutes. In Kittson County -- same state -- it's an 8-hour journey.</a:t>
            </a:r>
          </a:p>
          <a:p>
            <a:endParaRPr dirty="0"/>
          </a:p>
          <a:p>
            <a:r>
              <a:rPr dirty="0"/>
              <a:t>We've measured every county in America, every census tract in Minnesota, and built an interactive tool anyone can use to explore it. The Burn Equity Index gives clinicians, planners, and policymakers a shared language for a problem that has been hard to see from any single vantage point.</a:t>
            </a:r>
          </a:p>
          <a:p>
            <a:endParaRPr dirty="0"/>
          </a:p>
          <a:p>
            <a:r>
              <a:rPr dirty="0"/>
              <a:t>The gap is structural</a:t>
            </a:r>
            <a:r>
              <a:rPr lang="en-US" dirty="0"/>
              <a:t> and </a:t>
            </a:r>
            <a:r>
              <a:rPr dirty="0"/>
              <a:t>structure can be changed. A new facility, a telemedicine link, an air corridor -- each of those shifts the score, and each score represents real </a:t>
            </a:r>
            <a:r>
              <a:rPr lang="en-US" dirty="0"/>
              <a:t>impact.</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[BOTH] [10:45 - 10:59] 14s</a:t>
            </a:r>
          </a:p>
          <a:p>
            <a:endParaRPr dirty="0"/>
          </a:p>
          <a:p>
            <a:r>
              <a:rPr dirty="0"/>
              <a:t>MADELINE: Thank you for your time. </a:t>
            </a:r>
          </a:p>
          <a:p>
            <a:r>
              <a:rPr dirty="0"/>
              <a:t>JACOB: Thank you.</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463040"/>
            <a:ext cx="9418320" cy="914400"/>
          </a:xfrm>
          <a:prstGeom prst="rect">
            <a:avLst/>
          </a:prstGeom>
          <a:noFill/>
        </p:spPr>
        <p:txBody>
          <a:bodyPr wrap="square">
            <a:spAutoFit/>
          </a:bodyPr>
          <a:lstStyle/>
          <a:p>
            <a:pPr algn="ctr">
              <a:defRPr sz="5400" b="1">
                <a:solidFill>
                  <a:srgbClr val="56B4E9"/>
                </a:solidFill>
                <a:latin typeface="Arial"/>
              </a:defRPr>
            </a:pPr>
            <a:r>
              <a:t>Burn Equity Index</a:t>
            </a:r>
          </a:p>
        </p:txBody>
      </p:sp>
      <p:sp>
        <p:nvSpPr>
          <p:cNvPr id="4" name="TextBox 3"/>
          <p:cNvSpPr txBox="1"/>
          <p:nvPr/>
        </p:nvSpPr>
        <p:spPr>
          <a:xfrm>
            <a:off x="1371600" y="2560320"/>
            <a:ext cx="9418320" cy="640080"/>
          </a:xfrm>
          <a:prstGeom prst="rect">
            <a:avLst/>
          </a:prstGeom>
          <a:noFill/>
        </p:spPr>
        <p:txBody>
          <a:bodyPr wrap="square">
            <a:spAutoFit/>
          </a:bodyPr>
          <a:lstStyle/>
          <a:p>
            <a:pPr algn="ctr">
              <a:defRPr sz="2600" b="0">
                <a:solidFill>
                  <a:srgbClr val="F0F3F7"/>
                </a:solidFill>
                <a:latin typeface="Arial"/>
              </a:defRPr>
            </a:pPr>
            <a:r>
              <a:t>Measuring Structural Burn-Care Access Inequity Across America</a:t>
            </a:r>
          </a:p>
        </p:txBody>
      </p:sp>
      <p:sp>
        <p:nvSpPr>
          <p:cNvPr id="5" name="TextBox 4"/>
          <p:cNvSpPr txBox="1"/>
          <p:nvPr/>
        </p:nvSpPr>
        <p:spPr>
          <a:xfrm>
            <a:off x="1371600" y="3474720"/>
            <a:ext cx="9418320" cy="457200"/>
          </a:xfrm>
          <a:prstGeom prst="rect">
            <a:avLst/>
          </a:prstGeom>
          <a:noFill/>
        </p:spPr>
        <p:txBody>
          <a:bodyPr wrap="square">
            <a:spAutoFit/>
          </a:bodyPr>
          <a:lstStyle/>
          <a:p>
            <a:pPr algn="ctr">
              <a:defRPr sz="2200" b="1">
                <a:solidFill>
                  <a:srgbClr val="E69F00"/>
                </a:solidFill>
                <a:latin typeface="Arial"/>
              </a:defRPr>
            </a:pPr>
            <a:r>
              <a:t>Challenge Area 3: Equitable Access</a:t>
            </a:r>
          </a:p>
        </p:txBody>
      </p:sp>
      <p:sp>
        <p:nvSpPr>
          <p:cNvPr id="6" name="TextBox 5"/>
          <p:cNvSpPr txBox="1"/>
          <p:nvPr/>
        </p:nvSpPr>
        <p:spPr>
          <a:xfrm>
            <a:off x="1371600" y="4389120"/>
            <a:ext cx="9418320" cy="457200"/>
          </a:xfrm>
          <a:prstGeom prst="rect">
            <a:avLst/>
          </a:prstGeom>
          <a:noFill/>
        </p:spPr>
        <p:txBody>
          <a:bodyPr wrap="square">
            <a:spAutoFit/>
          </a:bodyPr>
          <a:lstStyle/>
          <a:p>
            <a:pPr algn="ctr">
              <a:defRPr sz="1800" b="0">
                <a:solidFill>
                  <a:srgbClr val="9EADBD"/>
                </a:solidFill>
                <a:latin typeface="Arial"/>
              </a:defRPr>
            </a:pPr>
            <a:r>
              <a:t>Team 15  |  Jacob Tang  ·  Madeline Rose Johnson  ·  Yisihaq Yemiru  ·  Mashfika</a:t>
            </a:r>
          </a:p>
        </p:txBody>
      </p:sp>
      <p:sp>
        <p:nvSpPr>
          <p:cNvPr id="7" name="TextBox 6"/>
          <p:cNvSpPr txBox="1"/>
          <p:nvPr/>
        </p:nvSpPr>
        <p:spPr>
          <a:xfrm>
            <a:off x="1371600" y="5029200"/>
            <a:ext cx="9418320" cy="365760"/>
          </a:xfrm>
          <a:prstGeom prst="rect">
            <a:avLst/>
          </a:prstGeom>
          <a:noFill/>
        </p:spPr>
        <p:txBody>
          <a:bodyPr wrap="square">
            <a:spAutoFit/>
          </a:bodyPr>
          <a:lstStyle/>
          <a:p>
            <a:pPr algn="ctr">
              <a:defRPr sz="1600" b="0">
                <a:solidFill>
                  <a:srgbClr val="9EADBD"/>
                </a:solidFill>
                <a:latin typeface="Arial"/>
              </a:defRPr>
            </a:pPr>
            <a:r>
              <a:t>HeatMap Hackathon  |  American Burn Association  ·  BData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The Problem: Access Is Not Equal</a:t>
            </a:r>
          </a:p>
        </p:txBody>
      </p:sp>
      <p:sp>
        <p:nvSpPr>
          <p:cNvPr id="3" name="TextBox 2"/>
          <p:cNvSpPr txBox="1"/>
          <p:nvPr/>
        </p:nvSpPr>
        <p:spPr>
          <a:xfrm>
            <a:off x="640080" y="822960"/>
            <a:ext cx="10972800" cy="365760"/>
          </a:xfrm>
          <a:prstGeom prst="rect">
            <a:avLst/>
          </a:prstGeom>
          <a:noFill/>
        </p:spPr>
        <p:txBody>
          <a:bodyPr wrap="square">
            <a:spAutoFit/>
          </a:bodyPr>
          <a:lstStyle/>
          <a:p>
            <a:pPr algn="l">
              <a:defRPr sz="2000" b="0">
                <a:solidFill>
                  <a:srgbClr val="9EADBD"/>
                </a:solidFill>
                <a:latin typeface="Arial"/>
              </a:defRPr>
            </a:pPr>
            <a:r>
              <a:t>Burn care is one of the most regionalized specialties in medicine</a:t>
            </a:r>
          </a:p>
        </p:txBody>
      </p:sp>
      <p:sp>
        <p:nvSpPr>
          <p:cNvPr id="4" name="Rounded Rectangle 3"/>
          <p:cNvSpPr/>
          <p:nvPr/>
        </p:nvSpPr>
        <p:spPr>
          <a:xfrm>
            <a:off x="640080" y="146304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72768"/>
            <a:ext cx="2331720" cy="457200"/>
          </a:xfrm>
          <a:prstGeom prst="rect">
            <a:avLst/>
          </a:prstGeom>
          <a:noFill/>
        </p:spPr>
        <p:txBody>
          <a:bodyPr wrap="square">
            <a:spAutoFit/>
          </a:bodyPr>
          <a:lstStyle/>
          <a:p>
            <a:pPr algn="l">
              <a:defRPr sz="1500" b="1">
                <a:solidFill>
                  <a:srgbClr val="9EADBD"/>
                </a:solidFill>
                <a:latin typeface="Arial"/>
              </a:defRPr>
            </a:pPr>
            <a:r>
              <a:t>Burn Centers (US)</a:t>
            </a:r>
          </a:p>
        </p:txBody>
      </p:sp>
      <p:sp>
        <p:nvSpPr>
          <p:cNvPr id="6" name="TextBox 5"/>
          <p:cNvSpPr txBox="1"/>
          <p:nvPr/>
        </p:nvSpPr>
        <p:spPr>
          <a:xfrm>
            <a:off x="777240" y="2057400"/>
            <a:ext cx="2331720" cy="594360"/>
          </a:xfrm>
          <a:prstGeom prst="rect">
            <a:avLst/>
          </a:prstGeom>
          <a:noFill/>
        </p:spPr>
        <p:txBody>
          <a:bodyPr wrap="square">
            <a:spAutoFit/>
          </a:bodyPr>
          <a:lstStyle/>
          <a:p>
            <a:pPr algn="l">
              <a:defRPr sz="3000" b="1">
                <a:solidFill>
                  <a:srgbClr val="56B4E9"/>
                </a:solidFill>
                <a:latin typeface="Arial"/>
              </a:defRPr>
            </a:pPr>
            <a:r>
              <a:t>136</a:t>
            </a:r>
          </a:p>
        </p:txBody>
      </p:sp>
      <p:sp>
        <p:nvSpPr>
          <p:cNvPr id="7" name="Rounded Rectangle 6"/>
          <p:cNvSpPr/>
          <p:nvPr/>
        </p:nvSpPr>
        <p:spPr>
          <a:xfrm>
            <a:off x="3474720" y="146304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572768"/>
            <a:ext cx="2331720" cy="457200"/>
          </a:xfrm>
          <a:prstGeom prst="rect">
            <a:avLst/>
          </a:prstGeom>
          <a:noFill/>
        </p:spPr>
        <p:txBody>
          <a:bodyPr wrap="square">
            <a:spAutoFit/>
          </a:bodyPr>
          <a:lstStyle/>
          <a:p>
            <a:pPr algn="l">
              <a:defRPr sz="1500" b="1">
                <a:solidFill>
                  <a:srgbClr val="9EADBD"/>
                </a:solidFill>
                <a:latin typeface="Arial"/>
              </a:defRPr>
            </a:pPr>
            <a:r>
              <a:t>Total Burn Beds</a:t>
            </a:r>
          </a:p>
        </p:txBody>
      </p:sp>
      <p:sp>
        <p:nvSpPr>
          <p:cNvPr id="9" name="TextBox 8"/>
          <p:cNvSpPr txBox="1"/>
          <p:nvPr/>
        </p:nvSpPr>
        <p:spPr>
          <a:xfrm>
            <a:off x="3611880" y="2057400"/>
            <a:ext cx="2331720" cy="594360"/>
          </a:xfrm>
          <a:prstGeom prst="rect">
            <a:avLst/>
          </a:prstGeom>
          <a:noFill/>
        </p:spPr>
        <p:txBody>
          <a:bodyPr wrap="square">
            <a:spAutoFit/>
          </a:bodyPr>
          <a:lstStyle/>
          <a:p>
            <a:pPr algn="l">
              <a:defRPr sz="3000" b="1">
                <a:solidFill>
                  <a:srgbClr val="56B4E9"/>
                </a:solidFill>
                <a:latin typeface="Arial"/>
              </a:defRPr>
            </a:pPr>
            <a:r>
              <a:t>2,080</a:t>
            </a:r>
          </a:p>
        </p:txBody>
      </p:sp>
      <p:sp>
        <p:nvSpPr>
          <p:cNvPr id="10" name="Rounded Rectangle 9"/>
          <p:cNvSpPr/>
          <p:nvPr/>
        </p:nvSpPr>
        <p:spPr>
          <a:xfrm>
            <a:off x="6309360" y="146304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72768"/>
            <a:ext cx="2331720" cy="457200"/>
          </a:xfrm>
          <a:prstGeom prst="rect">
            <a:avLst/>
          </a:prstGeom>
          <a:noFill/>
        </p:spPr>
        <p:txBody>
          <a:bodyPr wrap="square">
            <a:spAutoFit/>
          </a:bodyPr>
          <a:lstStyle/>
          <a:p>
            <a:pPr algn="l">
              <a:defRPr sz="1500" b="1">
                <a:solidFill>
                  <a:srgbClr val="9EADBD"/>
                </a:solidFill>
                <a:latin typeface="Arial"/>
              </a:defRPr>
            </a:pPr>
            <a:r>
              <a:t>US Population</a:t>
            </a:r>
          </a:p>
        </p:txBody>
      </p:sp>
      <p:sp>
        <p:nvSpPr>
          <p:cNvPr id="12" name="TextBox 11"/>
          <p:cNvSpPr txBox="1"/>
          <p:nvPr/>
        </p:nvSpPr>
        <p:spPr>
          <a:xfrm>
            <a:off x="6446520" y="2057400"/>
            <a:ext cx="2331720" cy="594360"/>
          </a:xfrm>
          <a:prstGeom prst="rect">
            <a:avLst/>
          </a:prstGeom>
          <a:noFill/>
        </p:spPr>
        <p:txBody>
          <a:bodyPr wrap="square">
            <a:spAutoFit/>
          </a:bodyPr>
          <a:lstStyle/>
          <a:p>
            <a:pPr algn="l">
              <a:defRPr sz="3000" b="1">
                <a:solidFill>
                  <a:srgbClr val="E69F00"/>
                </a:solidFill>
                <a:latin typeface="Arial"/>
              </a:defRPr>
            </a:pPr>
            <a:r>
              <a:t>331M</a:t>
            </a:r>
          </a:p>
        </p:txBody>
      </p:sp>
      <p:sp>
        <p:nvSpPr>
          <p:cNvPr id="13" name="Rounded Rectangle 12"/>
          <p:cNvSpPr/>
          <p:nvPr/>
        </p:nvSpPr>
        <p:spPr>
          <a:xfrm>
            <a:off x="9144000" y="146304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1572768"/>
            <a:ext cx="2331720" cy="457200"/>
          </a:xfrm>
          <a:prstGeom prst="rect">
            <a:avLst/>
          </a:prstGeom>
          <a:noFill/>
        </p:spPr>
        <p:txBody>
          <a:bodyPr wrap="square">
            <a:spAutoFit/>
          </a:bodyPr>
          <a:lstStyle/>
          <a:p>
            <a:pPr algn="l">
              <a:defRPr sz="1500" b="1">
                <a:solidFill>
                  <a:srgbClr val="9EADBD"/>
                </a:solidFill>
                <a:latin typeface="Arial"/>
              </a:defRPr>
            </a:pPr>
            <a:r>
              <a:t>States with No</a:t>
            </a:r>
            <a:br/>
            <a:r>
              <a:t>Burn Center</a:t>
            </a:r>
          </a:p>
        </p:txBody>
      </p:sp>
      <p:sp>
        <p:nvSpPr>
          <p:cNvPr id="15" name="TextBox 14"/>
          <p:cNvSpPr txBox="1"/>
          <p:nvPr/>
        </p:nvSpPr>
        <p:spPr>
          <a:xfrm>
            <a:off x="9281160" y="2057400"/>
            <a:ext cx="2331720" cy="594360"/>
          </a:xfrm>
          <a:prstGeom prst="rect">
            <a:avLst/>
          </a:prstGeom>
          <a:noFill/>
        </p:spPr>
        <p:txBody>
          <a:bodyPr wrap="square">
            <a:spAutoFit/>
          </a:bodyPr>
          <a:lstStyle/>
          <a:p>
            <a:pPr algn="l">
              <a:defRPr sz="3000" b="1">
                <a:solidFill>
                  <a:srgbClr val="D55E00"/>
                </a:solidFill>
                <a:latin typeface="Arial"/>
              </a:defRPr>
            </a:pPr>
            <a:r>
              <a:t>8</a:t>
            </a:r>
          </a:p>
        </p:txBody>
      </p:sp>
      <p:sp>
        <p:nvSpPr>
          <p:cNvPr id="16" name="Rounded Rectangle 15"/>
          <p:cNvSpPr/>
          <p:nvPr/>
        </p:nvSpPr>
        <p:spPr>
          <a:xfrm>
            <a:off x="640080" y="3108960"/>
            <a:ext cx="5303520" cy="32004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46120"/>
            <a:ext cx="4846320" cy="365760"/>
          </a:xfrm>
          <a:prstGeom prst="rect">
            <a:avLst/>
          </a:prstGeom>
          <a:noFill/>
        </p:spPr>
        <p:txBody>
          <a:bodyPr wrap="square">
            <a:spAutoFit/>
          </a:bodyPr>
          <a:lstStyle/>
          <a:p>
            <a:pPr algn="l">
              <a:defRPr sz="2400" b="1">
                <a:solidFill>
                  <a:srgbClr val="009E73"/>
                </a:solidFill>
                <a:latin typeface="Arial"/>
              </a:defRPr>
            </a:pPr>
            <a:r>
              <a:t>Hennepin County, MN</a:t>
            </a:r>
          </a:p>
        </p:txBody>
      </p:sp>
      <p:sp>
        <p:nvSpPr>
          <p:cNvPr id="18" name="TextBox 17"/>
          <p:cNvSpPr txBox="1"/>
          <p:nvPr/>
        </p:nvSpPr>
        <p:spPr>
          <a:xfrm>
            <a:off x="914400" y="3657600"/>
            <a:ext cx="4846320" cy="320040"/>
          </a:xfrm>
          <a:prstGeom prst="rect">
            <a:avLst/>
          </a:prstGeom>
          <a:noFill/>
        </p:spPr>
        <p:txBody>
          <a:bodyPr wrap="square">
            <a:spAutoFit/>
          </a:bodyPr>
          <a:lstStyle/>
          <a:p>
            <a:pPr algn="l">
              <a:defRPr sz="2000" b="0">
                <a:solidFill>
                  <a:srgbClr val="F0F3F7"/>
                </a:solidFill>
                <a:latin typeface="Arial"/>
              </a:defRPr>
            </a:pPr>
            <a:r>
              <a:t>Pop: 1.27 million  |  BEI: 0</a:t>
            </a:r>
          </a:p>
        </p:txBody>
      </p:sp>
      <p:sp>
        <p:nvSpPr>
          <p:cNvPr id="19" name="TextBox 18"/>
          <p:cNvSpPr txBox="1"/>
          <p:nvPr/>
        </p:nvSpPr>
        <p:spPr>
          <a:xfrm>
            <a:off x="914400" y="4114800"/>
            <a:ext cx="4846320" cy="1645920"/>
          </a:xfrm>
          <a:prstGeom prst="rect">
            <a:avLst/>
          </a:prstGeom>
          <a:noFill/>
        </p:spPr>
        <p:txBody>
          <a:bodyPr wrap="square">
            <a:spAutoFit/>
          </a:bodyPr>
          <a:lstStyle/>
          <a:p>
            <a:pPr algn="l">
              <a:lnSpc>
                <a:spcPts val="3200"/>
              </a:lnSpc>
              <a:defRPr sz="2000" b="0">
                <a:solidFill>
                  <a:srgbClr val="9EADBD"/>
                </a:solidFill>
                <a:latin typeface="Arial"/>
              </a:defRPr>
            </a:pPr>
            <a:r>
              <a:t>10 min to a verified burn center</a:t>
            </a:r>
            <a:br/>
            <a:r>
              <a:t>Direct access, full pediatric capability</a:t>
            </a:r>
            <a:br/>
            <a:r>
              <a:t>Multiple facilities within 30 min</a:t>
            </a:r>
          </a:p>
        </p:txBody>
      </p:sp>
      <p:sp>
        <p:nvSpPr>
          <p:cNvPr id="20" name="Rounded Rectangle 19"/>
          <p:cNvSpPr/>
          <p:nvPr/>
        </p:nvSpPr>
        <p:spPr>
          <a:xfrm>
            <a:off x="6217920" y="3108960"/>
            <a:ext cx="5303520" cy="32004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246120"/>
            <a:ext cx="4846320" cy="365760"/>
          </a:xfrm>
          <a:prstGeom prst="rect">
            <a:avLst/>
          </a:prstGeom>
          <a:noFill/>
        </p:spPr>
        <p:txBody>
          <a:bodyPr wrap="square">
            <a:spAutoFit/>
          </a:bodyPr>
          <a:lstStyle/>
          <a:p>
            <a:pPr algn="l">
              <a:defRPr sz="2400" b="1">
                <a:solidFill>
                  <a:srgbClr val="D55E00"/>
                </a:solidFill>
                <a:latin typeface="Arial"/>
              </a:defRPr>
            </a:pPr>
            <a:r>
              <a:t>Kittson County, MN</a:t>
            </a:r>
          </a:p>
        </p:txBody>
      </p:sp>
      <p:sp>
        <p:nvSpPr>
          <p:cNvPr id="22" name="TextBox 21"/>
          <p:cNvSpPr txBox="1"/>
          <p:nvPr/>
        </p:nvSpPr>
        <p:spPr>
          <a:xfrm>
            <a:off x="6492240" y="3657600"/>
            <a:ext cx="4846320" cy="320040"/>
          </a:xfrm>
          <a:prstGeom prst="rect">
            <a:avLst/>
          </a:prstGeom>
          <a:noFill/>
        </p:spPr>
        <p:txBody>
          <a:bodyPr wrap="square">
            <a:spAutoFit/>
          </a:bodyPr>
          <a:lstStyle/>
          <a:p>
            <a:pPr algn="l">
              <a:defRPr sz="2000" b="0">
                <a:solidFill>
                  <a:srgbClr val="F0F3F7"/>
                </a:solidFill>
                <a:latin typeface="Arial"/>
              </a:defRPr>
            </a:pPr>
            <a:r>
              <a:t>Pop: 4,191  |  BEI: 99.6</a:t>
            </a:r>
          </a:p>
        </p:txBody>
      </p:sp>
      <p:sp>
        <p:nvSpPr>
          <p:cNvPr id="23" name="TextBox 22"/>
          <p:cNvSpPr txBox="1"/>
          <p:nvPr/>
        </p:nvSpPr>
        <p:spPr>
          <a:xfrm>
            <a:off x="6492240" y="4114800"/>
            <a:ext cx="4846320" cy="1645920"/>
          </a:xfrm>
          <a:prstGeom prst="rect">
            <a:avLst/>
          </a:prstGeom>
          <a:noFill/>
        </p:spPr>
        <p:txBody>
          <a:bodyPr wrap="square">
            <a:spAutoFit/>
          </a:bodyPr>
          <a:lstStyle/>
          <a:p>
            <a:pPr algn="l">
              <a:lnSpc>
                <a:spcPts val="3200"/>
              </a:lnSpc>
              <a:defRPr sz="2000" b="0">
                <a:solidFill>
                  <a:srgbClr val="9EADBD"/>
                </a:solidFill>
                <a:latin typeface="Arial"/>
              </a:defRPr>
            </a:pPr>
            <a:r>
              <a:t>8+ hours to nearest burn center</a:t>
            </a:r>
            <a:br/>
            <a:r>
              <a:t>No stabilization within 30 min</a:t>
            </a:r>
            <a:br/>
            <a:r>
              <a:t>Zero pediatric burn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Our Use Case: Equitable Access</a:t>
            </a:r>
          </a:p>
        </p:txBody>
      </p:sp>
      <p:sp>
        <p:nvSpPr>
          <p:cNvPr id="3" name="TextBox 2"/>
          <p:cNvSpPr txBox="1"/>
          <p:nvPr/>
        </p:nvSpPr>
        <p:spPr>
          <a:xfrm>
            <a:off x="640080" y="914400"/>
            <a:ext cx="10515600" cy="731520"/>
          </a:xfrm>
          <a:prstGeom prst="rect">
            <a:avLst/>
          </a:prstGeom>
          <a:noFill/>
        </p:spPr>
        <p:txBody>
          <a:bodyPr wrap="square">
            <a:spAutoFit/>
          </a:bodyPr>
          <a:lstStyle/>
          <a:p>
            <a:pPr algn="l">
              <a:lnSpc>
                <a:spcPts val="3400"/>
              </a:lnSpc>
              <a:defRPr sz="2400" b="0">
                <a:solidFill>
                  <a:srgbClr val="F0F3F7"/>
                </a:solidFill>
                <a:latin typeface="Arial"/>
              </a:defRPr>
            </a:pPr>
            <a:r>
              <a:t>Given where people live and where burn-care resources sit, how equitably is the system structured?</a:t>
            </a:r>
          </a:p>
        </p:txBody>
      </p:sp>
      <p:sp>
        <p:nvSpPr>
          <p:cNvPr id="4" name="Rounded Rectangle 3"/>
          <p:cNvSpPr/>
          <p:nvPr/>
        </p:nvSpPr>
        <p:spPr>
          <a:xfrm>
            <a:off x="640080"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965960" y="2377440"/>
            <a:ext cx="731520" cy="7315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65960" y="2423160"/>
            <a:ext cx="731520" cy="640080"/>
          </a:xfrm>
          <a:prstGeom prst="rect">
            <a:avLst/>
          </a:prstGeom>
          <a:noFill/>
        </p:spPr>
        <p:txBody>
          <a:bodyPr wrap="square">
            <a:spAutoFit/>
          </a:bodyPr>
          <a:lstStyle/>
          <a:p>
            <a:pPr algn="ctr">
              <a:defRPr sz="2800" b="1">
                <a:solidFill>
                  <a:srgbClr val="121A27"/>
                </a:solidFill>
                <a:latin typeface="Arial"/>
              </a:defRPr>
            </a:pPr>
            <a:r>
              <a:t>1</a:t>
            </a:r>
          </a:p>
        </p:txBody>
      </p:sp>
      <p:sp>
        <p:nvSpPr>
          <p:cNvPr id="7" name="TextBox 6"/>
          <p:cNvSpPr txBox="1"/>
          <p:nvPr/>
        </p:nvSpPr>
        <p:spPr>
          <a:xfrm>
            <a:off x="914400" y="3291840"/>
            <a:ext cx="2926080" cy="457200"/>
          </a:xfrm>
          <a:prstGeom prst="rect">
            <a:avLst/>
          </a:prstGeom>
          <a:noFill/>
        </p:spPr>
        <p:txBody>
          <a:bodyPr wrap="square">
            <a:spAutoFit/>
          </a:bodyPr>
          <a:lstStyle/>
          <a:p>
            <a:pPr algn="ctr">
              <a:defRPr sz="2600" b="1">
                <a:solidFill>
                  <a:srgbClr val="56B4E9"/>
                </a:solidFill>
                <a:latin typeface="Arial"/>
              </a:defRPr>
            </a:pPr>
            <a:r>
              <a:t>Quantify</a:t>
            </a:r>
          </a:p>
        </p:txBody>
      </p:sp>
      <p:sp>
        <p:nvSpPr>
          <p:cNvPr id="8" name="TextBox 7"/>
          <p:cNvSpPr txBox="1"/>
          <p:nvPr/>
        </p:nvSpPr>
        <p:spPr>
          <a:xfrm>
            <a:off x="914400" y="3840480"/>
            <a:ext cx="2926080" cy="1491434"/>
          </a:xfrm>
          <a:prstGeom prst="rect">
            <a:avLst/>
          </a:prstGeom>
          <a:noFill/>
        </p:spPr>
        <p:txBody>
          <a:bodyPr wrap="square">
            <a:spAutoFit/>
          </a:bodyPr>
          <a:lstStyle/>
          <a:p>
            <a:pPr algn="ctr">
              <a:lnSpc>
                <a:spcPts val="2800"/>
              </a:lnSpc>
              <a:defRPr sz="1800" b="0">
                <a:solidFill>
                  <a:srgbClr val="9EADBD"/>
                </a:solidFill>
                <a:latin typeface="Arial"/>
              </a:defRPr>
            </a:pPr>
            <a:r>
              <a:rPr dirty="0"/>
              <a:t>Build a composite equity</a:t>
            </a:r>
            <a:r>
              <a:rPr lang="en-US" dirty="0"/>
              <a:t> </a:t>
            </a:r>
            <a:r>
              <a:rPr dirty="0"/>
              <a:t>index at</a:t>
            </a:r>
            <a:r>
              <a:rPr lang="en-US" dirty="0"/>
              <a:t> </a:t>
            </a:r>
            <a:r>
              <a:rPr dirty="0"/>
              <a:t>census-tract</a:t>
            </a:r>
            <a:r>
              <a:rPr lang="en-US" dirty="0"/>
              <a:t> </a:t>
            </a:r>
            <a:r>
              <a:rPr dirty="0"/>
              <a:t>resolution across</a:t>
            </a:r>
            <a:br>
              <a:rPr dirty="0"/>
            </a:br>
            <a:r>
              <a:rPr dirty="0"/>
              <a:t>the entire United States.</a:t>
            </a:r>
          </a:p>
        </p:txBody>
      </p:sp>
      <p:sp>
        <p:nvSpPr>
          <p:cNvPr id="9" name="Rounded Rectangle 8"/>
          <p:cNvSpPr/>
          <p:nvPr/>
        </p:nvSpPr>
        <p:spPr>
          <a:xfrm>
            <a:off x="4389119"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714999" y="2377440"/>
            <a:ext cx="731520" cy="7315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4999" y="2423160"/>
            <a:ext cx="731520" cy="640080"/>
          </a:xfrm>
          <a:prstGeom prst="rect">
            <a:avLst/>
          </a:prstGeom>
          <a:noFill/>
        </p:spPr>
        <p:txBody>
          <a:bodyPr wrap="square">
            <a:spAutoFit/>
          </a:bodyPr>
          <a:lstStyle/>
          <a:p>
            <a:pPr algn="ctr">
              <a:defRPr sz="2800" b="1">
                <a:solidFill>
                  <a:srgbClr val="121A27"/>
                </a:solidFill>
                <a:latin typeface="Arial"/>
              </a:defRPr>
            </a:pPr>
            <a:r>
              <a:t>2</a:t>
            </a:r>
          </a:p>
        </p:txBody>
      </p:sp>
      <p:sp>
        <p:nvSpPr>
          <p:cNvPr id="12" name="TextBox 11"/>
          <p:cNvSpPr txBox="1"/>
          <p:nvPr/>
        </p:nvSpPr>
        <p:spPr>
          <a:xfrm>
            <a:off x="4663439" y="3291840"/>
            <a:ext cx="2926080" cy="457200"/>
          </a:xfrm>
          <a:prstGeom prst="rect">
            <a:avLst/>
          </a:prstGeom>
          <a:noFill/>
        </p:spPr>
        <p:txBody>
          <a:bodyPr wrap="square">
            <a:spAutoFit/>
          </a:bodyPr>
          <a:lstStyle/>
          <a:p>
            <a:pPr algn="ctr">
              <a:defRPr sz="2600" b="1">
                <a:solidFill>
                  <a:srgbClr val="E69F00"/>
                </a:solidFill>
                <a:latin typeface="Arial"/>
              </a:defRPr>
            </a:pPr>
            <a:r>
              <a:t>Visualize</a:t>
            </a:r>
          </a:p>
        </p:txBody>
      </p:sp>
      <p:sp>
        <p:nvSpPr>
          <p:cNvPr id="13" name="TextBox 12"/>
          <p:cNvSpPr txBox="1"/>
          <p:nvPr/>
        </p:nvSpPr>
        <p:spPr>
          <a:xfrm>
            <a:off x="4465674" y="3840480"/>
            <a:ext cx="3306725" cy="1491434"/>
          </a:xfrm>
          <a:prstGeom prst="rect">
            <a:avLst/>
          </a:prstGeom>
          <a:noFill/>
        </p:spPr>
        <p:txBody>
          <a:bodyPr wrap="square">
            <a:spAutoFit/>
          </a:bodyPr>
          <a:lstStyle/>
          <a:p>
            <a:pPr algn="ctr">
              <a:lnSpc>
                <a:spcPts val="2800"/>
              </a:lnSpc>
              <a:defRPr sz="1800" b="0">
                <a:solidFill>
                  <a:srgbClr val="9EADBD"/>
                </a:solidFill>
                <a:latin typeface="Arial"/>
              </a:defRPr>
            </a:pPr>
            <a:r>
              <a:rPr dirty="0"/>
              <a:t>Create an interactive</a:t>
            </a:r>
            <a:r>
              <a:rPr lang="en-US" dirty="0"/>
              <a:t> </a:t>
            </a:r>
            <a:r>
              <a:rPr dirty="0"/>
              <a:t>dashboard</a:t>
            </a:r>
            <a:r>
              <a:rPr lang="en-US" dirty="0"/>
              <a:t> </a:t>
            </a:r>
            <a:r>
              <a:rPr dirty="0"/>
              <a:t>for stakeholders to explore</a:t>
            </a:r>
            <a:r>
              <a:rPr lang="en-US" dirty="0"/>
              <a:t> </a:t>
            </a:r>
            <a:r>
              <a:rPr dirty="0"/>
              <a:t>access</a:t>
            </a:r>
            <a:r>
              <a:rPr lang="en-US" dirty="0"/>
              <a:t> </a:t>
            </a:r>
            <a:r>
              <a:rPr dirty="0"/>
              <a:t>from national to</a:t>
            </a:r>
            <a:r>
              <a:rPr lang="en-US" dirty="0"/>
              <a:t> </a:t>
            </a:r>
            <a:r>
              <a:rPr dirty="0"/>
              <a:t>neighborhood level.</a:t>
            </a:r>
          </a:p>
        </p:txBody>
      </p:sp>
      <p:sp>
        <p:nvSpPr>
          <p:cNvPr id="14" name="Rounded Rectangle 13"/>
          <p:cNvSpPr/>
          <p:nvPr/>
        </p:nvSpPr>
        <p:spPr>
          <a:xfrm>
            <a:off x="8138158" y="2103120"/>
            <a:ext cx="3474720" cy="39319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464038" y="2377440"/>
            <a:ext cx="731520" cy="7315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64038" y="2423160"/>
            <a:ext cx="731520" cy="640080"/>
          </a:xfrm>
          <a:prstGeom prst="rect">
            <a:avLst/>
          </a:prstGeom>
          <a:noFill/>
        </p:spPr>
        <p:txBody>
          <a:bodyPr wrap="square">
            <a:spAutoFit/>
          </a:bodyPr>
          <a:lstStyle/>
          <a:p>
            <a:pPr algn="ctr">
              <a:defRPr sz="2800" b="1">
                <a:solidFill>
                  <a:srgbClr val="121A27"/>
                </a:solidFill>
                <a:latin typeface="Arial"/>
              </a:defRPr>
            </a:pPr>
            <a:r>
              <a:t>3</a:t>
            </a:r>
          </a:p>
        </p:txBody>
      </p:sp>
      <p:sp>
        <p:nvSpPr>
          <p:cNvPr id="17" name="TextBox 16"/>
          <p:cNvSpPr txBox="1"/>
          <p:nvPr/>
        </p:nvSpPr>
        <p:spPr>
          <a:xfrm>
            <a:off x="8412478" y="3291840"/>
            <a:ext cx="2926080" cy="457200"/>
          </a:xfrm>
          <a:prstGeom prst="rect">
            <a:avLst/>
          </a:prstGeom>
          <a:noFill/>
        </p:spPr>
        <p:txBody>
          <a:bodyPr wrap="square">
            <a:spAutoFit/>
          </a:bodyPr>
          <a:lstStyle/>
          <a:p>
            <a:pPr algn="ctr">
              <a:defRPr sz="2600" b="1">
                <a:solidFill>
                  <a:srgbClr val="009E73"/>
                </a:solidFill>
                <a:latin typeface="Arial"/>
              </a:defRPr>
            </a:pPr>
            <a:r>
              <a:t>Act</a:t>
            </a:r>
          </a:p>
        </p:txBody>
      </p:sp>
      <p:sp>
        <p:nvSpPr>
          <p:cNvPr id="18" name="TextBox 17"/>
          <p:cNvSpPr txBox="1"/>
          <p:nvPr/>
        </p:nvSpPr>
        <p:spPr>
          <a:xfrm>
            <a:off x="8412478" y="3840480"/>
            <a:ext cx="2926080" cy="1850507"/>
          </a:xfrm>
          <a:prstGeom prst="rect">
            <a:avLst/>
          </a:prstGeom>
          <a:noFill/>
        </p:spPr>
        <p:txBody>
          <a:bodyPr wrap="square">
            <a:spAutoFit/>
          </a:bodyPr>
          <a:lstStyle/>
          <a:p>
            <a:pPr algn="ctr">
              <a:lnSpc>
                <a:spcPts val="2800"/>
              </a:lnSpc>
              <a:defRPr sz="1800" b="0">
                <a:solidFill>
                  <a:srgbClr val="9EADBD"/>
                </a:solidFill>
                <a:latin typeface="Arial"/>
              </a:defRPr>
            </a:pPr>
            <a:r>
              <a:rPr dirty="0"/>
              <a:t>Identify high-burden communities</a:t>
            </a:r>
            <a:br>
              <a:rPr dirty="0"/>
            </a:br>
            <a:r>
              <a:rPr dirty="0"/>
              <a:t>and provide actionable,</a:t>
            </a:r>
            <a:r>
              <a:rPr lang="en-US" dirty="0"/>
              <a:t> </a:t>
            </a:r>
            <a:r>
              <a:rPr dirty="0"/>
              <a:t>evidence-</a:t>
            </a:r>
            <a:r>
              <a:rPr lang="en-US" dirty="0"/>
              <a:t> </a:t>
            </a:r>
            <a:r>
              <a:rPr dirty="0"/>
              <a:t>based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The Burn Equity Index</a:t>
            </a:r>
          </a:p>
        </p:txBody>
      </p:sp>
      <p:sp>
        <p:nvSpPr>
          <p:cNvPr id="3" name="TextBox 2"/>
          <p:cNvSpPr txBox="1"/>
          <p:nvPr/>
        </p:nvSpPr>
        <p:spPr>
          <a:xfrm>
            <a:off x="265105" y="1053676"/>
            <a:ext cx="11905630" cy="523220"/>
          </a:xfrm>
          <a:prstGeom prst="rect">
            <a:avLst/>
          </a:prstGeom>
          <a:noFill/>
        </p:spPr>
        <p:txBody>
          <a:bodyPr wrap="square">
            <a:spAutoFit/>
          </a:bodyPr>
          <a:lstStyle/>
          <a:p>
            <a:pPr algn="ctr">
              <a:defRPr sz="2800" b="1">
                <a:solidFill>
                  <a:srgbClr val="E69F00"/>
                </a:solidFill>
                <a:latin typeface="Consolas"/>
              </a:defRPr>
            </a:pPr>
            <a:r>
              <a:rPr dirty="0"/>
              <a:t>BEI = 100 × (0.25·S + 0.30·T + 0.20·P + 0.25·C)</a:t>
            </a:r>
          </a:p>
        </p:txBody>
      </p:sp>
      <p:sp>
        <p:nvSpPr>
          <p:cNvPr id="4" name="TextBox 3"/>
          <p:cNvSpPr txBox="1"/>
          <p:nvPr/>
        </p:nvSpPr>
        <p:spPr>
          <a:xfrm>
            <a:off x="640080" y="1828800"/>
            <a:ext cx="10972800" cy="365760"/>
          </a:xfrm>
          <a:prstGeom prst="rect">
            <a:avLst/>
          </a:prstGeom>
          <a:noFill/>
        </p:spPr>
        <p:txBody>
          <a:bodyPr wrap="square">
            <a:spAutoFit/>
          </a:bodyPr>
          <a:lstStyle/>
          <a:p>
            <a:pPr algn="ctr">
              <a:defRPr sz="2000" b="0">
                <a:solidFill>
                  <a:srgbClr val="9EADBD"/>
                </a:solidFill>
                <a:latin typeface="Arial"/>
              </a:defRPr>
            </a:pPr>
            <a:r>
              <a:t>Four pillars -- each captures a distinct dimension of structural access.</a:t>
            </a:r>
          </a:p>
        </p:txBody>
      </p:sp>
      <p:sp>
        <p:nvSpPr>
          <p:cNvPr id="5" name="Rounded Rectangle 4"/>
          <p:cNvSpPr/>
          <p:nvPr/>
        </p:nvSpPr>
        <p:spPr>
          <a:xfrm>
            <a:off x="45720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468880"/>
            <a:ext cx="2697480"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71600" y="2697480"/>
            <a:ext cx="777240" cy="77724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2761488"/>
            <a:ext cx="777240" cy="640080"/>
          </a:xfrm>
          <a:prstGeom prst="rect">
            <a:avLst/>
          </a:prstGeom>
          <a:noFill/>
        </p:spPr>
        <p:txBody>
          <a:bodyPr wrap="square">
            <a:spAutoFit/>
          </a:bodyPr>
          <a:lstStyle/>
          <a:p>
            <a:pPr algn="ctr">
              <a:defRPr sz="3000" b="1">
                <a:solidFill>
                  <a:srgbClr val="121A27"/>
                </a:solidFill>
                <a:latin typeface="Arial"/>
              </a:defRPr>
            </a:pPr>
            <a:r>
              <a:t>S</a:t>
            </a:r>
          </a:p>
        </p:txBody>
      </p:sp>
      <p:sp>
        <p:nvSpPr>
          <p:cNvPr id="9" name="TextBox 8"/>
          <p:cNvSpPr txBox="1"/>
          <p:nvPr/>
        </p:nvSpPr>
        <p:spPr>
          <a:xfrm>
            <a:off x="640080" y="3657600"/>
            <a:ext cx="2331720" cy="640080"/>
          </a:xfrm>
          <a:prstGeom prst="rect">
            <a:avLst/>
          </a:prstGeom>
          <a:noFill/>
        </p:spPr>
        <p:txBody>
          <a:bodyPr wrap="square">
            <a:spAutoFit/>
          </a:bodyPr>
          <a:lstStyle/>
          <a:p>
            <a:pPr algn="ctr">
              <a:lnSpc>
                <a:spcPts val="2800"/>
              </a:lnSpc>
              <a:defRPr sz="2200" b="1">
                <a:solidFill>
                  <a:srgbClr val="F0F3F7"/>
                </a:solidFill>
                <a:latin typeface="Arial"/>
              </a:defRPr>
            </a:pPr>
            <a:r>
              <a:t>Supply</a:t>
            </a:r>
            <a:br/>
            <a:r>
              <a:t>Scarcity</a:t>
            </a:r>
          </a:p>
        </p:txBody>
      </p:sp>
      <p:sp>
        <p:nvSpPr>
          <p:cNvPr id="10" name="TextBox 9"/>
          <p:cNvSpPr txBox="1"/>
          <p:nvPr/>
        </p:nvSpPr>
        <p:spPr>
          <a:xfrm>
            <a:off x="640080" y="4343399"/>
            <a:ext cx="2331720" cy="320040"/>
          </a:xfrm>
          <a:prstGeom prst="rect">
            <a:avLst/>
          </a:prstGeom>
          <a:noFill/>
        </p:spPr>
        <p:txBody>
          <a:bodyPr wrap="square">
            <a:spAutoFit/>
          </a:bodyPr>
          <a:lstStyle/>
          <a:p>
            <a:pPr algn="ctr">
              <a:defRPr sz="1700" b="1">
                <a:solidFill>
                  <a:srgbClr val="E69F00"/>
                </a:solidFill>
                <a:latin typeface="Arial"/>
              </a:defRPr>
            </a:pPr>
            <a:r>
              <a:t>Weight: 25%</a:t>
            </a:r>
          </a:p>
        </p:txBody>
      </p:sp>
      <p:sp>
        <p:nvSpPr>
          <p:cNvPr id="11" name="TextBox 10"/>
          <p:cNvSpPr txBox="1"/>
          <p:nvPr/>
        </p:nvSpPr>
        <p:spPr>
          <a:xfrm>
            <a:off x="411481" y="4826936"/>
            <a:ext cx="2743199" cy="725455"/>
          </a:xfrm>
          <a:prstGeom prst="rect">
            <a:avLst/>
          </a:prstGeom>
          <a:noFill/>
        </p:spPr>
        <p:txBody>
          <a:bodyPr wrap="square">
            <a:spAutoFit/>
          </a:bodyPr>
          <a:lstStyle/>
          <a:p>
            <a:pPr algn="ctr">
              <a:lnSpc>
                <a:spcPts val="2600"/>
              </a:lnSpc>
              <a:defRPr sz="1700" b="0">
                <a:solidFill>
                  <a:srgbClr val="9EADBD"/>
                </a:solidFill>
                <a:latin typeface="Arial"/>
              </a:defRPr>
            </a:pPr>
            <a:r>
              <a:rPr dirty="0"/>
              <a:t>How scarce is specialized</a:t>
            </a:r>
            <a:br>
              <a:rPr dirty="0"/>
            </a:br>
            <a:r>
              <a:rPr dirty="0"/>
              <a:t>burn-care supply nearby?</a:t>
            </a:r>
          </a:p>
        </p:txBody>
      </p:sp>
      <p:sp>
        <p:nvSpPr>
          <p:cNvPr id="12" name="Rounded Rectangle 11"/>
          <p:cNvSpPr/>
          <p:nvPr/>
        </p:nvSpPr>
        <p:spPr>
          <a:xfrm>
            <a:off x="333756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37560" y="2468880"/>
            <a:ext cx="2697480"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251960" y="2697480"/>
            <a:ext cx="777240" cy="77724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60" y="2761488"/>
            <a:ext cx="777240" cy="640080"/>
          </a:xfrm>
          <a:prstGeom prst="rect">
            <a:avLst/>
          </a:prstGeom>
          <a:noFill/>
        </p:spPr>
        <p:txBody>
          <a:bodyPr wrap="square">
            <a:spAutoFit/>
          </a:bodyPr>
          <a:lstStyle/>
          <a:p>
            <a:pPr algn="ctr">
              <a:defRPr sz="3000" b="1">
                <a:solidFill>
                  <a:srgbClr val="121A27"/>
                </a:solidFill>
                <a:latin typeface="Arial"/>
              </a:defRPr>
            </a:pPr>
            <a:r>
              <a:rPr dirty="0"/>
              <a:t>T</a:t>
            </a:r>
          </a:p>
        </p:txBody>
      </p:sp>
      <p:sp>
        <p:nvSpPr>
          <p:cNvPr id="16" name="TextBox 15"/>
          <p:cNvSpPr txBox="1"/>
          <p:nvPr/>
        </p:nvSpPr>
        <p:spPr>
          <a:xfrm>
            <a:off x="3520440" y="3657600"/>
            <a:ext cx="2331720" cy="640080"/>
          </a:xfrm>
          <a:prstGeom prst="rect">
            <a:avLst/>
          </a:prstGeom>
          <a:noFill/>
        </p:spPr>
        <p:txBody>
          <a:bodyPr wrap="square">
            <a:spAutoFit/>
          </a:bodyPr>
          <a:lstStyle/>
          <a:p>
            <a:pPr algn="ctr">
              <a:lnSpc>
                <a:spcPts val="2800"/>
              </a:lnSpc>
              <a:defRPr sz="2200" b="1">
                <a:solidFill>
                  <a:srgbClr val="F0F3F7"/>
                </a:solidFill>
                <a:latin typeface="Arial"/>
              </a:defRPr>
            </a:pPr>
            <a:r>
              <a:t>Timely</a:t>
            </a:r>
            <a:br/>
            <a:r>
              <a:t>Access</a:t>
            </a:r>
          </a:p>
        </p:txBody>
      </p:sp>
      <p:sp>
        <p:nvSpPr>
          <p:cNvPr id="17" name="TextBox 16"/>
          <p:cNvSpPr txBox="1"/>
          <p:nvPr/>
        </p:nvSpPr>
        <p:spPr>
          <a:xfrm>
            <a:off x="3520440" y="4343399"/>
            <a:ext cx="2331720" cy="353943"/>
          </a:xfrm>
          <a:prstGeom prst="rect">
            <a:avLst/>
          </a:prstGeom>
          <a:noFill/>
        </p:spPr>
        <p:txBody>
          <a:bodyPr wrap="square">
            <a:spAutoFit/>
          </a:bodyPr>
          <a:lstStyle/>
          <a:p>
            <a:pPr algn="ctr">
              <a:defRPr sz="1700" b="1">
                <a:solidFill>
                  <a:srgbClr val="D55E00"/>
                </a:solidFill>
                <a:latin typeface="Arial"/>
              </a:defRPr>
            </a:pPr>
            <a:r>
              <a:rPr dirty="0">
                <a:solidFill>
                  <a:schemeClr val="accent6">
                    <a:lumMod val="60000"/>
                    <a:lumOff val="40000"/>
                  </a:schemeClr>
                </a:solidFill>
              </a:rPr>
              <a:t>Weight: 30%</a:t>
            </a:r>
          </a:p>
        </p:txBody>
      </p:sp>
      <p:sp>
        <p:nvSpPr>
          <p:cNvPr id="18" name="TextBox 17"/>
          <p:cNvSpPr txBox="1"/>
          <p:nvPr/>
        </p:nvSpPr>
        <p:spPr>
          <a:xfrm>
            <a:off x="3520440" y="4846319"/>
            <a:ext cx="2331720" cy="914400"/>
          </a:xfrm>
          <a:prstGeom prst="rect">
            <a:avLst/>
          </a:prstGeom>
          <a:noFill/>
        </p:spPr>
        <p:txBody>
          <a:bodyPr wrap="square">
            <a:spAutoFit/>
          </a:bodyPr>
          <a:lstStyle/>
          <a:p>
            <a:pPr algn="ctr">
              <a:lnSpc>
                <a:spcPts val="2600"/>
              </a:lnSpc>
              <a:defRPr sz="1700" b="0">
                <a:solidFill>
                  <a:srgbClr val="9EADBD"/>
                </a:solidFill>
                <a:latin typeface="Arial"/>
              </a:defRPr>
            </a:pPr>
            <a:r>
              <a:rPr dirty="0"/>
              <a:t>How long to reach</a:t>
            </a:r>
            <a:br>
              <a:rPr dirty="0"/>
            </a:br>
            <a:r>
              <a:rPr dirty="0"/>
              <a:t>definitive burn care?</a:t>
            </a:r>
          </a:p>
        </p:txBody>
      </p:sp>
      <p:sp>
        <p:nvSpPr>
          <p:cNvPr id="19" name="Rounded Rectangle 18"/>
          <p:cNvSpPr/>
          <p:nvPr/>
        </p:nvSpPr>
        <p:spPr>
          <a:xfrm>
            <a:off x="621792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2468880"/>
            <a:ext cx="269748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132320" y="2697480"/>
            <a:ext cx="777240" cy="77724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0" y="2761488"/>
            <a:ext cx="777240" cy="640080"/>
          </a:xfrm>
          <a:prstGeom prst="rect">
            <a:avLst/>
          </a:prstGeom>
          <a:noFill/>
        </p:spPr>
        <p:txBody>
          <a:bodyPr wrap="square">
            <a:spAutoFit/>
          </a:bodyPr>
          <a:lstStyle/>
          <a:p>
            <a:pPr algn="ctr">
              <a:defRPr sz="3000" b="1">
                <a:solidFill>
                  <a:srgbClr val="121A27"/>
                </a:solidFill>
                <a:latin typeface="Arial"/>
              </a:defRPr>
            </a:pPr>
            <a:r>
              <a:t>P</a:t>
            </a:r>
          </a:p>
        </p:txBody>
      </p:sp>
      <p:sp>
        <p:nvSpPr>
          <p:cNvPr id="23" name="TextBox 22"/>
          <p:cNvSpPr txBox="1"/>
          <p:nvPr/>
        </p:nvSpPr>
        <p:spPr>
          <a:xfrm>
            <a:off x="6400800" y="3657600"/>
            <a:ext cx="2331720" cy="640080"/>
          </a:xfrm>
          <a:prstGeom prst="rect">
            <a:avLst/>
          </a:prstGeom>
          <a:noFill/>
        </p:spPr>
        <p:txBody>
          <a:bodyPr wrap="square">
            <a:spAutoFit/>
          </a:bodyPr>
          <a:lstStyle/>
          <a:p>
            <a:pPr algn="ctr">
              <a:lnSpc>
                <a:spcPts val="2800"/>
              </a:lnSpc>
              <a:defRPr sz="2200" b="1">
                <a:solidFill>
                  <a:srgbClr val="F0F3F7"/>
                </a:solidFill>
                <a:latin typeface="Arial"/>
              </a:defRPr>
            </a:pPr>
            <a:r>
              <a:t>Pediatric</a:t>
            </a:r>
            <a:br/>
            <a:r>
              <a:t>Access</a:t>
            </a:r>
          </a:p>
        </p:txBody>
      </p:sp>
      <p:sp>
        <p:nvSpPr>
          <p:cNvPr id="24" name="TextBox 23"/>
          <p:cNvSpPr txBox="1"/>
          <p:nvPr/>
        </p:nvSpPr>
        <p:spPr>
          <a:xfrm>
            <a:off x="6400800" y="4343399"/>
            <a:ext cx="2331720" cy="320040"/>
          </a:xfrm>
          <a:prstGeom prst="rect">
            <a:avLst/>
          </a:prstGeom>
          <a:noFill/>
        </p:spPr>
        <p:txBody>
          <a:bodyPr wrap="square">
            <a:spAutoFit/>
          </a:bodyPr>
          <a:lstStyle/>
          <a:p>
            <a:pPr algn="ctr">
              <a:defRPr sz="1700" b="1">
                <a:solidFill>
                  <a:srgbClr val="009E73"/>
                </a:solidFill>
                <a:latin typeface="Arial"/>
              </a:defRPr>
            </a:pPr>
            <a:r>
              <a:rPr dirty="0"/>
              <a:t>Weight: 20%</a:t>
            </a:r>
          </a:p>
        </p:txBody>
      </p:sp>
      <p:sp>
        <p:nvSpPr>
          <p:cNvPr id="25" name="TextBox 24"/>
          <p:cNvSpPr txBox="1"/>
          <p:nvPr/>
        </p:nvSpPr>
        <p:spPr>
          <a:xfrm>
            <a:off x="6400800" y="4870785"/>
            <a:ext cx="2331720" cy="914400"/>
          </a:xfrm>
          <a:prstGeom prst="rect">
            <a:avLst/>
          </a:prstGeom>
          <a:noFill/>
        </p:spPr>
        <p:txBody>
          <a:bodyPr wrap="square">
            <a:spAutoFit/>
          </a:bodyPr>
          <a:lstStyle/>
          <a:p>
            <a:pPr algn="ctr">
              <a:lnSpc>
                <a:spcPts val="2600"/>
              </a:lnSpc>
              <a:defRPr sz="1700" b="0">
                <a:solidFill>
                  <a:srgbClr val="9EADBD"/>
                </a:solidFill>
                <a:latin typeface="Arial"/>
              </a:defRPr>
            </a:pPr>
            <a:r>
              <a:rPr dirty="0"/>
              <a:t>Can children reach</a:t>
            </a:r>
            <a:br>
              <a:rPr dirty="0"/>
            </a:br>
            <a:r>
              <a:rPr dirty="0"/>
              <a:t>pediatric burn care?</a:t>
            </a:r>
          </a:p>
        </p:txBody>
      </p:sp>
      <p:sp>
        <p:nvSpPr>
          <p:cNvPr id="26" name="Rounded Rectangle 25"/>
          <p:cNvSpPr/>
          <p:nvPr/>
        </p:nvSpPr>
        <p:spPr>
          <a:xfrm>
            <a:off x="9098280" y="2468880"/>
            <a:ext cx="2697480" cy="3566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98280" y="2468880"/>
            <a:ext cx="269748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012680" y="2697480"/>
            <a:ext cx="777240" cy="77724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12680" y="2761488"/>
            <a:ext cx="777240" cy="640080"/>
          </a:xfrm>
          <a:prstGeom prst="rect">
            <a:avLst/>
          </a:prstGeom>
          <a:noFill/>
        </p:spPr>
        <p:txBody>
          <a:bodyPr wrap="square">
            <a:spAutoFit/>
          </a:bodyPr>
          <a:lstStyle/>
          <a:p>
            <a:pPr algn="ctr">
              <a:defRPr sz="3000" b="1">
                <a:solidFill>
                  <a:srgbClr val="121A27"/>
                </a:solidFill>
                <a:latin typeface="Arial"/>
              </a:defRPr>
            </a:pPr>
            <a:r>
              <a:t>C</a:t>
            </a:r>
          </a:p>
        </p:txBody>
      </p:sp>
      <p:sp>
        <p:nvSpPr>
          <p:cNvPr id="30" name="TextBox 29"/>
          <p:cNvSpPr txBox="1"/>
          <p:nvPr/>
        </p:nvSpPr>
        <p:spPr>
          <a:xfrm>
            <a:off x="9281160" y="3657600"/>
            <a:ext cx="2331720" cy="640080"/>
          </a:xfrm>
          <a:prstGeom prst="rect">
            <a:avLst/>
          </a:prstGeom>
          <a:noFill/>
        </p:spPr>
        <p:txBody>
          <a:bodyPr wrap="square">
            <a:spAutoFit/>
          </a:bodyPr>
          <a:lstStyle/>
          <a:p>
            <a:pPr algn="ctr">
              <a:lnSpc>
                <a:spcPts val="2800"/>
              </a:lnSpc>
              <a:defRPr sz="2200" b="1">
                <a:solidFill>
                  <a:srgbClr val="F0F3F7"/>
                </a:solidFill>
                <a:latin typeface="Arial"/>
              </a:defRPr>
            </a:pPr>
            <a:r>
              <a:t>Capacity</a:t>
            </a:r>
            <a:br/>
            <a:r>
              <a:t>Gap</a:t>
            </a:r>
          </a:p>
        </p:txBody>
      </p:sp>
      <p:sp>
        <p:nvSpPr>
          <p:cNvPr id="31" name="TextBox 30"/>
          <p:cNvSpPr txBox="1"/>
          <p:nvPr/>
        </p:nvSpPr>
        <p:spPr>
          <a:xfrm>
            <a:off x="9281160" y="4343399"/>
            <a:ext cx="2331720" cy="320040"/>
          </a:xfrm>
          <a:prstGeom prst="rect">
            <a:avLst/>
          </a:prstGeom>
          <a:noFill/>
        </p:spPr>
        <p:txBody>
          <a:bodyPr wrap="square">
            <a:spAutoFit/>
          </a:bodyPr>
          <a:lstStyle/>
          <a:p>
            <a:pPr algn="ctr">
              <a:defRPr sz="1700" b="1">
                <a:solidFill>
                  <a:srgbClr val="56B4E9"/>
                </a:solidFill>
                <a:latin typeface="Arial"/>
              </a:defRPr>
            </a:pPr>
            <a:r>
              <a:t>Weight: 25%</a:t>
            </a:r>
          </a:p>
        </p:txBody>
      </p:sp>
      <p:sp>
        <p:nvSpPr>
          <p:cNvPr id="32" name="TextBox 31"/>
          <p:cNvSpPr txBox="1"/>
          <p:nvPr/>
        </p:nvSpPr>
        <p:spPr>
          <a:xfrm>
            <a:off x="9281160" y="4889924"/>
            <a:ext cx="2331720" cy="914400"/>
          </a:xfrm>
          <a:prstGeom prst="rect">
            <a:avLst/>
          </a:prstGeom>
          <a:noFill/>
        </p:spPr>
        <p:txBody>
          <a:bodyPr wrap="square">
            <a:spAutoFit/>
          </a:bodyPr>
          <a:lstStyle/>
          <a:p>
            <a:pPr algn="ctr">
              <a:lnSpc>
                <a:spcPts val="2600"/>
              </a:lnSpc>
              <a:defRPr sz="1700" b="0">
                <a:solidFill>
                  <a:srgbClr val="9EADBD"/>
                </a:solidFill>
                <a:latin typeface="Arial"/>
              </a:defRPr>
            </a:pPr>
            <a:r>
              <a:rPr dirty="0"/>
              <a:t>Are there enough</a:t>
            </a:r>
            <a:br>
              <a:rPr dirty="0"/>
            </a:br>
            <a:r>
              <a:rPr dirty="0"/>
              <a:t>burn beds nearby?</a:t>
            </a:r>
          </a:p>
        </p:txBody>
      </p:sp>
      <p:sp>
        <p:nvSpPr>
          <p:cNvPr id="33" name="TextBox 32"/>
          <p:cNvSpPr txBox="1"/>
          <p:nvPr/>
        </p:nvSpPr>
        <p:spPr>
          <a:xfrm>
            <a:off x="1371600" y="6217920"/>
            <a:ext cx="2743200" cy="274320"/>
          </a:xfrm>
          <a:prstGeom prst="rect">
            <a:avLst/>
          </a:prstGeom>
          <a:noFill/>
        </p:spPr>
        <p:txBody>
          <a:bodyPr wrap="square">
            <a:spAutoFit/>
          </a:bodyPr>
          <a:lstStyle/>
          <a:p>
            <a:pPr algn="l">
              <a:defRPr sz="1700" b="1">
                <a:solidFill>
                  <a:srgbClr val="009E73"/>
                </a:solidFill>
                <a:latin typeface="Arial"/>
              </a:defRPr>
            </a:pPr>
            <a:r>
              <a:t>0 = Best Access</a:t>
            </a:r>
          </a:p>
        </p:txBody>
      </p:sp>
      <p:sp>
        <p:nvSpPr>
          <p:cNvPr id="34" name="TextBox 33"/>
          <p:cNvSpPr txBox="1"/>
          <p:nvPr/>
        </p:nvSpPr>
        <p:spPr>
          <a:xfrm>
            <a:off x="8686800" y="6217920"/>
            <a:ext cx="2743200" cy="274320"/>
          </a:xfrm>
          <a:prstGeom prst="rect">
            <a:avLst/>
          </a:prstGeom>
          <a:noFill/>
        </p:spPr>
        <p:txBody>
          <a:bodyPr wrap="square">
            <a:spAutoFit/>
          </a:bodyPr>
          <a:lstStyle/>
          <a:p>
            <a:pPr algn="r">
              <a:defRPr sz="1700" b="1">
                <a:solidFill>
                  <a:srgbClr val="D55E00"/>
                </a:solidFill>
                <a:latin typeface="Arial"/>
              </a:defRPr>
            </a:pPr>
            <a:r>
              <a:t>100 = Worst Access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914400" cy="548640"/>
          </a:xfrm>
          <a:prstGeom prst="rect">
            <a:avLst/>
          </a:prstGeom>
          <a:noFill/>
        </p:spPr>
        <p:txBody>
          <a:bodyPr wrap="square">
            <a:spAutoFit/>
          </a:bodyPr>
          <a:lstStyle/>
          <a:p>
            <a:pPr algn="l">
              <a:defRPr sz="3400" b="1">
                <a:solidFill>
                  <a:srgbClr val="E69F00"/>
                </a:solidFill>
                <a:latin typeface="Arial"/>
              </a:defRPr>
            </a:pPr>
            <a:r>
              <a:t>S</a:t>
            </a:r>
          </a:p>
        </p:txBody>
      </p:sp>
      <p:sp>
        <p:nvSpPr>
          <p:cNvPr id="4" name="TextBox 3"/>
          <p:cNvSpPr txBox="1"/>
          <p:nvPr/>
        </p:nvSpPr>
        <p:spPr>
          <a:xfrm>
            <a:off x="1463040" y="274320"/>
            <a:ext cx="9144000" cy="548640"/>
          </a:xfrm>
          <a:prstGeom prst="rect">
            <a:avLst/>
          </a:prstGeom>
          <a:noFill/>
        </p:spPr>
        <p:txBody>
          <a:bodyPr wrap="square">
            <a:spAutoFit/>
          </a:bodyPr>
          <a:lstStyle/>
          <a:p>
            <a:pPr algn="l">
              <a:defRPr sz="3400" b="1">
                <a:solidFill>
                  <a:srgbClr val="F0F3F7"/>
                </a:solidFill>
                <a:latin typeface="Arial"/>
              </a:defRPr>
            </a:pPr>
            <a:r>
              <a:t>Specialized Supply Scarcity  (25%)</a:t>
            </a:r>
          </a:p>
        </p:txBody>
      </p:sp>
      <p:sp>
        <p:nvSpPr>
          <p:cNvPr id="5" name="TextBox 4"/>
          <p:cNvSpPr txBox="1"/>
          <p:nvPr/>
        </p:nvSpPr>
        <p:spPr>
          <a:xfrm>
            <a:off x="640080" y="1005840"/>
            <a:ext cx="10515600" cy="430887"/>
          </a:xfrm>
          <a:prstGeom prst="rect">
            <a:avLst/>
          </a:prstGeom>
          <a:noFill/>
        </p:spPr>
        <p:txBody>
          <a:bodyPr wrap="square">
            <a:spAutoFit/>
          </a:bodyPr>
          <a:lstStyle/>
          <a:p>
            <a:pPr>
              <a:defRPr sz="2200" b="0">
                <a:solidFill>
                  <a:srgbClr val="9EADBD"/>
                </a:solidFill>
                <a:latin typeface="Arial"/>
              </a:defRPr>
            </a:pPr>
            <a:r>
              <a:rPr lang="en-US" dirty="0"/>
              <a:t>E2SFCA (Enhanced two-step floating catchment area Method)</a:t>
            </a:r>
            <a:endParaRPr dirty="0"/>
          </a:p>
        </p:txBody>
      </p:sp>
      <p:sp>
        <p:nvSpPr>
          <p:cNvPr id="6" name="TextBox 5"/>
          <p:cNvSpPr txBox="1"/>
          <p:nvPr/>
        </p:nvSpPr>
        <p:spPr>
          <a:xfrm>
            <a:off x="640080" y="1645920"/>
            <a:ext cx="5486400" cy="365760"/>
          </a:xfrm>
          <a:prstGeom prst="rect">
            <a:avLst/>
          </a:prstGeom>
          <a:noFill/>
        </p:spPr>
        <p:txBody>
          <a:bodyPr wrap="square">
            <a:spAutoFit/>
          </a:bodyPr>
          <a:lstStyle/>
          <a:p>
            <a:pPr algn="l">
              <a:defRPr sz="2200" b="1">
                <a:solidFill>
                  <a:srgbClr val="E69F00"/>
                </a:solidFill>
                <a:latin typeface="Arial"/>
              </a:defRPr>
            </a:pPr>
            <a:r>
              <a:t>Facility Capability Weights</a:t>
            </a:r>
          </a:p>
        </p:txBody>
      </p:sp>
      <p:sp>
        <p:nvSpPr>
          <p:cNvPr id="7" name="TextBox 6"/>
          <p:cNvSpPr txBox="1"/>
          <p:nvPr/>
        </p:nvSpPr>
        <p:spPr>
          <a:xfrm>
            <a:off x="914400" y="2103120"/>
            <a:ext cx="4572000" cy="365760"/>
          </a:xfrm>
          <a:prstGeom prst="rect">
            <a:avLst/>
          </a:prstGeom>
          <a:noFill/>
        </p:spPr>
        <p:txBody>
          <a:bodyPr wrap="square">
            <a:spAutoFit/>
          </a:bodyPr>
          <a:lstStyle/>
          <a:p>
            <a:pPr algn="l">
              <a:defRPr sz="1800" b="0">
                <a:solidFill>
                  <a:srgbClr val="F0F3F7"/>
                </a:solidFill>
                <a:latin typeface="Arial"/>
              </a:defRPr>
            </a:pPr>
            <a:r>
              <a:t>ABA-Verified Burn Center</a:t>
            </a:r>
          </a:p>
        </p:txBody>
      </p:sp>
      <p:sp>
        <p:nvSpPr>
          <p:cNvPr id="8" name="TextBox 7"/>
          <p:cNvSpPr txBox="1"/>
          <p:nvPr/>
        </p:nvSpPr>
        <p:spPr>
          <a:xfrm>
            <a:off x="5029200" y="2103120"/>
            <a:ext cx="1097280" cy="365760"/>
          </a:xfrm>
          <a:prstGeom prst="rect">
            <a:avLst/>
          </a:prstGeom>
          <a:noFill/>
        </p:spPr>
        <p:txBody>
          <a:bodyPr wrap="square">
            <a:spAutoFit/>
          </a:bodyPr>
          <a:lstStyle/>
          <a:p>
            <a:pPr algn="r">
              <a:defRPr sz="1800" b="1">
                <a:solidFill>
                  <a:srgbClr val="009E73"/>
                </a:solidFill>
                <a:latin typeface="Arial"/>
              </a:defRPr>
            </a:pPr>
            <a:r>
              <a:t>1.00</a:t>
            </a:r>
          </a:p>
        </p:txBody>
      </p:sp>
      <p:sp>
        <p:nvSpPr>
          <p:cNvPr id="9" name="TextBox 8"/>
          <p:cNvSpPr txBox="1"/>
          <p:nvPr/>
        </p:nvSpPr>
        <p:spPr>
          <a:xfrm>
            <a:off x="914400" y="2560320"/>
            <a:ext cx="4572000" cy="365760"/>
          </a:xfrm>
          <a:prstGeom prst="rect">
            <a:avLst/>
          </a:prstGeom>
          <a:noFill/>
        </p:spPr>
        <p:txBody>
          <a:bodyPr wrap="square">
            <a:spAutoFit/>
          </a:bodyPr>
          <a:lstStyle/>
          <a:p>
            <a:pPr algn="l">
              <a:defRPr sz="1800" b="0">
                <a:solidFill>
                  <a:srgbClr val="F0F3F7"/>
                </a:solidFill>
                <a:latin typeface="Arial"/>
              </a:defRPr>
            </a:pPr>
            <a:r>
              <a:t>State-Designated Burn Center</a:t>
            </a:r>
          </a:p>
        </p:txBody>
      </p:sp>
      <p:sp>
        <p:nvSpPr>
          <p:cNvPr id="10" name="TextBox 9"/>
          <p:cNvSpPr txBox="1"/>
          <p:nvPr/>
        </p:nvSpPr>
        <p:spPr>
          <a:xfrm>
            <a:off x="5029200" y="2560320"/>
            <a:ext cx="1097280" cy="365760"/>
          </a:xfrm>
          <a:prstGeom prst="rect">
            <a:avLst/>
          </a:prstGeom>
          <a:noFill/>
        </p:spPr>
        <p:txBody>
          <a:bodyPr wrap="square">
            <a:spAutoFit/>
          </a:bodyPr>
          <a:lstStyle/>
          <a:p>
            <a:pPr algn="r">
              <a:defRPr sz="1800" b="1">
                <a:solidFill>
                  <a:srgbClr val="56B4E9"/>
                </a:solidFill>
                <a:latin typeface="Arial"/>
              </a:defRPr>
            </a:pPr>
            <a:r>
              <a:t>0.85</a:t>
            </a:r>
          </a:p>
        </p:txBody>
      </p:sp>
      <p:sp>
        <p:nvSpPr>
          <p:cNvPr id="11" name="TextBox 10"/>
          <p:cNvSpPr txBox="1"/>
          <p:nvPr/>
        </p:nvSpPr>
        <p:spPr>
          <a:xfrm>
            <a:off x="914400" y="3017520"/>
            <a:ext cx="4572000" cy="365760"/>
          </a:xfrm>
          <a:prstGeom prst="rect">
            <a:avLst/>
          </a:prstGeom>
          <a:noFill/>
        </p:spPr>
        <p:txBody>
          <a:bodyPr wrap="square">
            <a:spAutoFit/>
          </a:bodyPr>
          <a:lstStyle/>
          <a:p>
            <a:pPr algn="l">
              <a:defRPr sz="1800" b="0">
                <a:solidFill>
                  <a:srgbClr val="F0F3F7"/>
                </a:solidFill>
                <a:latin typeface="Arial"/>
              </a:defRPr>
            </a:pPr>
            <a:r>
              <a:t>Burn-Capable (Non-Verified)</a:t>
            </a:r>
          </a:p>
        </p:txBody>
      </p:sp>
      <p:sp>
        <p:nvSpPr>
          <p:cNvPr id="12" name="TextBox 11"/>
          <p:cNvSpPr txBox="1"/>
          <p:nvPr/>
        </p:nvSpPr>
        <p:spPr>
          <a:xfrm>
            <a:off x="5029200" y="3017520"/>
            <a:ext cx="1097280" cy="365760"/>
          </a:xfrm>
          <a:prstGeom prst="rect">
            <a:avLst/>
          </a:prstGeom>
          <a:noFill/>
        </p:spPr>
        <p:txBody>
          <a:bodyPr wrap="square">
            <a:spAutoFit/>
          </a:bodyPr>
          <a:lstStyle/>
          <a:p>
            <a:pPr algn="r">
              <a:defRPr sz="1800" b="1">
                <a:solidFill>
                  <a:srgbClr val="E69F00"/>
                </a:solidFill>
                <a:latin typeface="Arial"/>
              </a:defRPr>
            </a:pPr>
            <a:r>
              <a:t>0.50</a:t>
            </a:r>
          </a:p>
        </p:txBody>
      </p:sp>
      <p:sp>
        <p:nvSpPr>
          <p:cNvPr id="13" name="TextBox 12"/>
          <p:cNvSpPr txBox="1"/>
          <p:nvPr/>
        </p:nvSpPr>
        <p:spPr>
          <a:xfrm>
            <a:off x="914400" y="3474720"/>
            <a:ext cx="4572000" cy="365760"/>
          </a:xfrm>
          <a:prstGeom prst="rect">
            <a:avLst/>
          </a:prstGeom>
          <a:noFill/>
        </p:spPr>
        <p:txBody>
          <a:bodyPr wrap="square">
            <a:spAutoFit/>
          </a:bodyPr>
          <a:lstStyle/>
          <a:p>
            <a:pPr algn="l">
              <a:defRPr sz="1800" b="0">
                <a:solidFill>
                  <a:srgbClr val="F0F3F7"/>
                </a:solidFill>
                <a:latin typeface="Arial"/>
              </a:defRPr>
            </a:pPr>
            <a:r>
              <a:t>Trauma-Only Stabilization</a:t>
            </a:r>
          </a:p>
        </p:txBody>
      </p:sp>
      <p:sp>
        <p:nvSpPr>
          <p:cNvPr id="14" name="TextBox 13"/>
          <p:cNvSpPr txBox="1"/>
          <p:nvPr/>
        </p:nvSpPr>
        <p:spPr>
          <a:xfrm>
            <a:off x="5029200" y="3474720"/>
            <a:ext cx="1097280" cy="365760"/>
          </a:xfrm>
          <a:prstGeom prst="rect">
            <a:avLst/>
          </a:prstGeom>
          <a:noFill/>
        </p:spPr>
        <p:txBody>
          <a:bodyPr wrap="square">
            <a:spAutoFit/>
          </a:bodyPr>
          <a:lstStyle/>
          <a:p>
            <a:pPr algn="r">
              <a:defRPr sz="1800" b="1">
                <a:solidFill>
                  <a:srgbClr val="9EADBD"/>
                </a:solidFill>
                <a:latin typeface="Arial"/>
              </a:defRPr>
            </a:pPr>
            <a:r>
              <a:t>0.20</a:t>
            </a:r>
          </a:p>
        </p:txBody>
      </p:sp>
      <p:sp>
        <p:nvSpPr>
          <p:cNvPr id="15" name="Rounded Rectangle 14"/>
          <p:cNvSpPr/>
          <p:nvPr/>
        </p:nvSpPr>
        <p:spPr>
          <a:xfrm>
            <a:off x="6675120" y="1645920"/>
            <a:ext cx="4404006" cy="42062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0" y="1783080"/>
            <a:ext cx="3566160" cy="400110"/>
          </a:xfrm>
          <a:prstGeom prst="rect">
            <a:avLst/>
          </a:prstGeom>
          <a:noFill/>
        </p:spPr>
        <p:txBody>
          <a:bodyPr wrap="square">
            <a:spAutoFit/>
          </a:bodyPr>
          <a:lstStyle/>
          <a:p>
            <a:pPr algn="l">
              <a:defRPr sz="2000" b="1">
                <a:solidFill>
                  <a:srgbClr val="E69F00"/>
                </a:solidFill>
                <a:latin typeface="Arial"/>
              </a:defRPr>
            </a:pPr>
            <a:r>
              <a:rPr dirty="0"/>
              <a:t>How It Works (E2SFCA)</a:t>
            </a:r>
          </a:p>
        </p:txBody>
      </p:sp>
      <p:sp>
        <p:nvSpPr>
          <p:cNvPr id="17" name="TextBox 16"/>
          <p:cNvSpPr txBox="1"/>
          <p:nvPr/>
        </p:nvSpPr>
        <p:spPr>
          <a:xfrm>
            <a:off x="6892024" y="2366070"/>
            <a:ext cx="3985083" cy="3142783"/>
          </a:xfrm>
          <a:prstGeom prst="rect">
            <a:avLst/>
          </a:prstGeom>
          <a:noFill/>
        </p:spPr>
        <p:txBody>
          <a:bodyPr wrap="square">
            <a:spAutoFit/>
          </a:bodyPr>
          <a:lstStyle/>
          <a:p>
            <a:pPr algn="l">
              <a:lnSpc>
                <a:spcPts val="2400"/>
              </a:lnSpc>
              <a:defRPr sz="1700" b="0">
                <a:solidFill>
                  <a:srgbClr val="F0F3F7"/>
                </a:solidFill>
                <a:latin typeface="Arial"/>
              </a:defRPr>
            </a:pPr>
            <a:r>
              <a:rPr dirty="0"/>
              <a:t>1. Compute each facility's supply-t</a:t>
            </a:r>
            <a:r>
              <a:rPr lang="en-US" dirty="0"/>
              <a:t>o </a:t>
            </a:r>
            <a:r>
              <a:rPr dirty="0"/>
              <a:t>demand ratio</a:t>
            </a:r>
            <a:r>
              <a:rPr lang="en-US" dirty="0"/>
              <a:t> </a:t>
            </a:r>
            <a:r>
              <a:rPr dirty="0"/>
              <a:t>(capability divided by nearby population).</a:t>
            </a:r>
            <a:endParaRPr lang="en-US" dirty="0"/>
          </a:p>
          <a:p>
            <a:pPr algn="l">
              <a:lnSpc>
                <a:spcPts val="2400"/>
              </a:lnSpc>
              <a:defRPr sz="1700" b="0">
                <a:solidFill>
                  <a:srgbClr val="F0F3F7"/>
                </a:solidFill>
                <a:latin typeface="Arial"/>
              </a:defRPr>
            </a:pPr>
            <a:endParaRPr lang="en-US" dirty="0"/>
          </a:p>
          <a:p>
            <a:pPr>
              <a:lnSpc>
                <a:spcPts val="2400"/>
              </a:lnSpc>
              <a:defRPr sz="1700" b="0">
                <a:solidFill>
                  <a:srgbClr val="F0F3F7"/>
                </a:solidFill>
                <a:latin typeface="Arial"/>
              </a:defRPr>
            </a:pPr>
            <a:r>
              <a:rPr lang="en-US" dirty="0"/>
              <a:t>2. For each tract, sum ratios of all reachable facilities.</a:t>
            </a:r>
          </a:p>
          <a:p>
            <a:pPr>
              <a:lnSpc>
                <a:spcPts val="2400"/>
              </a:lnSpc>
              <a:defRPr sz="1700" b="0">
                <a:solidFill>
                  <a:srgbClr val="F0F3F7"/>
                </a:solidFill>
                <a:latin typeface="Arial"/>
              </a:defRPr>
            </a:pPr>
            <a:br>
              <a:rPr lang="en-US" dirty="0"/>
            </a:br>
            <a:r>
              <a:rPr lang="en-US" dirty="0"/>
              <a:t>3. Normalize nationally, then flip: </a:t>
            </a:r>
          </a:p>
          <a:p>
            <a:pPr>
              <a:lnSpc>
                <a:spcPts val="2400"/>
              </a:lnSpc>
              <a:defRPr sz="1700" b="0">
                <a:solidFill>
                  <a:srgbClr val="F0F3F7"/>
                </a:solidFill>
                <a:latin typeface="Arial"/>
              </a:defRPr>
            </a:pPr>
            <a:r>
              <a:rPr lang="en-US" dirty="0"/>
              <a:t>high value = scarce supply.</a:t>
            </a:r>
          </a:p>
          <a:p>
            <a:pPr algn="l">
              <a:lnSpc>
                <a:spcPts val="2400"/>
              </a:lnSpc>
              <a:defRPr sz="1700" b="0">
                <a:solidFill>
                  <a:srgbClr val="F0F3F7"/>
                </a:solidFill>
                <a:latin typeface="Arial"/>
              </a:defRPr>
            </a:pPr>
            <a:endParaRPr dirty="0"/>
          </a:p>
        </p:txBody>
      </p:sp>
      <p:sp>
        <p:nvSpPr>
          <p:cNvPr id="20" name="TextBox 19"/>
          <p:cNvSpPr txBox="1"/>
          <p:nvPr/>
        </p:nvSpPr>
        <p:spPr>
          <a:xfrm>
            <a:off x="640080" y="4206240"/>
            <a:ext cx="5486400" cy="365760"/>
          </a:xfrm>
          <a:prstGeom prst="rect">
            <a:avLst/>
          </a:prstGeom>
          <a:noFill/>
        </p:spPr>
        <p:txBody>
          <a:bodyPr wrap="square">
            <a:spAutoFit/>
          </a:bodyPr>
          <a:lstStyle/>
          <a:p>
            <a:pPr algn="l">
              <a:defRPr sz="2200" b="1">
                <a:solidFill>
                  <a:srgbClr val="F0F3F7"/>
                </a:solidFill>
                <a:latin typeface="Arial"/>
              </a:defRPr>
            </a:pPr>
            <a:r>
              <a:t>Distance Decay Function</a:t>
            </a:r>
          </a:p>
        </p:txBody>
      </p:sp>
      <p:sp>
        <p:nvSpPr>
          <p:cNvPr id="21" name="TextBox 20"/>
          <p:cNvSpPr txBox="1"/>
          <p:nvPr/>
        </p:nvSpPr>
        <p:spPr>
          <a:xfrm>
            <a:off x="914400" y="4663440"/>
            <a:ext cx="1371600" cy="320040"/>
          </a:xfrm>
          <a:prstGeom prst="rect">
            <a:avLst/>
          </a:prstGeom>
          <a:noFill/>
        </p:spPr>
        <p:txBody>
          <a:bodyPr wrap="square">
            <a:spAutoFit/>
          </a:bodyPr>
          <a:lstStyle/>
          <a:p>
            <a:pPr algn="l">
              <a:defRPr sz="1700" b="1">
                <a:solidFill>
                  <a:srgbClr val="56B4E9"/>
                </a:solidFill>
                <a:latin typeface="Arial"/>
              </a:defRPr>
            </a:pPr>
            <a:r>
              <a:t>≤ 30 min</a:t>
            </a:r>
          </a:p>
        </p:txBody>
      </p:sp>
      <p:sp>
        <p:nvSpPr>
          <p:cNvPr id="22" name="TextBox 21"/>
          <p:cNvSpPr txBox="1"/>
          <p:nvPr/>
        </p:nvSpPr>
        <p:spPr>
          <a:xfrm>
            <a:off x="2468880" y="4663440"/>
            <a:ext cx="3200400" cy="320040"/>
          </a:xfrm>
          <a:prstGeom prst="rect">
            <a:avLst/>
          </a:prstGeom>
          <a:noFill/>
        </p:spPr>
        <p:txBody>
          <a:bodyPr wrap="square">
            <a:spAutoFit/>
          </a:bodyPr>
          <a:lstStyle/>
          <a:p>
            <a:pPr algn="l">
              <a:defRPr sz="1700" b="0">
                <a:solidFill>
                  <a:srgbClr val="9EADBD"/>
                </a:solidFill>
                <a:latin typeface="Arial"/>
              </a:defRPr>
            </a:pPr>
            <a:r>
              <a:t>1.00  Full access</a:t>
            </a:r>
          </a:p>
        </p:txBody>
      </p:sp>
      <p:sp>
        <p:nvSpPr>
          <p:cNvPr id="23" name="TextBox 22"/>
          <p:cNvSpPr txBox="1"/>
          <p:nvPr/>
        </p:nvSpPr>
        <p:spPr>
          <a:xfrm>
            <a:off x="914400" y="5074920"/>
            <a:ext cx="1371600" cy="320040"/>
          </a:xfrm>
          <a:prstGeom prst="rect">
            <a:avLst/>
          </a:prstGeom>
          <a:noFill/>
        </p:spPr>
        <p:txBody>
          <a:bodyPr wrap="square">
            <a:spAutoFit/>
          </a:bodyPr>
          <a:lstStyle/>
          <a:p>
            <a:pPr algn="l">
              <a:defRPr sz="1700" b="1">
                <a:solidFill>
                  <a:srgbClr val="56B4E9"/>
                </a:solidFill>
                <a:latin typeface="Arial"/>
              </a:defRPr>
            </a:pPr>
            <a:r>
              <a:t>31–60 min</a:t>
            </a:r>
          </a:p>
        </p:txBody>
      </p:sp>
      <p:sp>
        <p:nvSpPr>
          <p:cNvPr id="24" name="TextBox 23"/>
          <p:cNvSpPr txBox="1"/>
          <p:nvPr/>
        </p:nvSpPr>
        <p:spPr>
          <a:xfrm>
            <a:off x="2468880" y="5074920"/>
            <a:ext cx="3200400" cy="320040"/>
          </a:xfrm>
          <a:prstGeom prst="rect">
            <a:avLst/>
          </a:prstGeom>
          <a:noFill/>
        </p:spPr>
        <p:txBody>
          <a:bodyPr wrap="square">
            <a:spAutoFit/>
          </a:bodyPr>
          <a:lstStyle/>
          <a:p>
            <a:pPr algn="l">
              <a:defRPr sz="1700" b="0">
                <a:solidFill>
                  <a:srgbClr val="9EADBD"/>
                </a:solidFill>
                <a:latin typeface="Arial"/>
              </a:defRPr>
            </a:pPr>
            <a:r>
              <a:t>0.60  Reduced</a:t>
            </a:r>
          </a:p>
        </p:txBody>
      </p:sp>
      <p:sp>
        <p:nvSpPr>
          <p:cNvPr id="25" name="TextBox 24"/>
          <p:cNvSpPr txBox="1"/>
          <p:nvPr/>
        </p:nvSpPr>
        <p:spPr>
          <a:xfrm>
            <a:off x="914400" y="5486400"/>
            <a:ext cx="1371600" cy="320040"/>
          </a:xfrm>
          <a:prstGeom prst="rect">
            <a:avLst/>
          </a:prstGeom>
          <a:noFill/>
        </p:spPr>
        <p:txBody>
          <a:bodyPr wrap="square">
            <a:spAutoFit/>
          </a:bodyPr>
          <a:lstStyle/>
          <a:p>
            <a:pPr algn="l">
              <a:defRPr sz="1700" b="1">
                <a:solidFill>
                  <a:srgbClr val="56B4E9"/>
                </a:solidFill>
                <a:latin typeface="Arial"/>
              </a:defRPr>
            </a:pPr>
            <a:r>
              <a:t>61–90 min</a:t>
            </a:r>
          </a:p>
        </p:txBody>
      </p:sp>
      <p:sp>
        <p:nvSpPr>
          <p:cNvPr id="26" name="TextBox 25"/>
          <p:cNvSpPr txBox="1"/>
          <p:nvPr/>
        </p:nvSpPr>
        <p:spPr>
          <a:xfrm>
            <a:off x="2468880" y="5486400"/>
            <a:ext cx="3200400" cy="320040"/>
          </a:xfrm>
          <a:prstGeom prst="rect">
            <a:avLst/>
          </a:prstGeom>
          <a:noFill/>
        </p:spPr>
        <p:txBody>
          <a:bodyPr wrap="square">
            <a:spAutoFit/>
          </a:bodyPr>
          <a:lstStyle/>
          <a:p>
            <a:pPr algn="l">
              <a:defRPr sz="1700" b="0">
                <a:solidFill>
                  <a:srgbClr val="9EADBD"/>
                </a:solidFill>
                <a:latin typeface="Arial"/>
              </a:defRPr>
            </a:pPr>
            <a:r>
              <a:t>0.30  Marginal</a:t>
            </a:r>
          </a:p>
        </p:txBody>
      </p:sp>
      <p:sp>
        <p:nvSpPr>
          <p:cNvPr id="27" name="TextBox 26"/>
          <p:cNvSpPr txBox="1"/>
          <p:nvPr/>
        </p:nvSpPr>
        <p:spPr>
          <a:xfrm>
            <a:off x="914400" y="5897880"/>
            <a:ext cx="1371600" cy="320040"/>
          </a:xfrm>
          <a:prstGeom prst="rect">
            <a:avLst/>
          </a:prstGeom>
          <a:noFill/>
        </p:spPr>
        <p:txBody>
          <a:bodyPr wrap="square">
            <a:spAutoFit/>
          </a:bodyPr>
          <a:lstStyle/>
          <a:p>
            <a:pPr algn="l">
              <a:defRPr sz="1700" b="1">
                <a:solidFill>
                  <a:srgbClr val="56B4E9"/>
                </a:solidFill>
                <a:latin typeface="Arial"/>
              </a:defRPr>
            </a:pPr>
            <a:r>
              <a:t>&gt; 90 min</a:t>
            </a:r>
          </a:p>
        </p:txBody>
      </p:sp>
      <p:sp>
        <p:nvSpPr>
          <p:cNvPr id="28" name="TextBox 27"/>
          <p:cNvSpPr txBox="1"/>
          <p:nvPr/>
        </p:nvSpPr>
        <p:spPr>
          <a:xfrm>
            <a:off x="2468880" y="5897880"/>
            <a:ext cx="3200400" cy="320040"/>
          </a:xfrm>
          <a:prstGeom prst="rect">
            <a:avLst/>
          </a:prstGeom>
          <a:noFill/>
        </p:spPr>
        <p:txBody>
          <a:bodyPr wrap="square">
            <a:spAutoFit/>
          </a:bodyPr>
          <a:lstStyle/>
          <a:p>
            <a:pPr algn="l">
              <a:defRPr sz="1700" b="0">
                <a:solidFill>
                  <a:srgbClr val="9EADBD"/>
                </a:solidFill>
                <a:latin typeface="Arial"/>
              </a:defRPr>
            </a:pPr>
            <a:r>
              <a:t>0.00  Out of reach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914400" cy="548640"/>
          </a:xfrm>
          <a:prstGeom prst="rect">
            <a:avLst/>
          </a:prstGeom>
          <a:noFill/>
        </p:spPr>
        <p:txBody>
          <a:bodyPr wrap="square">
            <a:spAutoFit/>
          </a:bodyPr>
          <a:lstStyle/>
          <a:p>
            <a:pPr algn="l">
              <a:defRPr sz="3400" b="1">
                <a:solidFill>
                  <a:srgbClr val="D55E00"/>
                </a:solidFill>
                <a:latin typeface="Arial"/>
              </a:defRPr>
            </a:pPr>
            <a:r>
              <a:t>T</a:t>
            </a:r>
          </a:p>
        </p:txBody>
      </p:sp>
      <p:sp>
        <p:nvSpPr>
          <p:cNvPr id="4" name="TextBox 3"/>
          <p:cNvSpPr txBox="1"/>
          <p:nvPr/>
        </p:nvSpPr>
        <p:spPr>
          <a:xfrm>
            <a:off x="1463040" y="274320"/>
            <a:ext cx="10515600" cy="615553"/>
          </a:xfrm>
          <a:prstGeom prst="rect">
            <a:avLst/>
          </a:prstGeom>
          <a:noFill/>
        </p:spPr>
        <p:txBody>
          <a:bodyPr wrap="square">
            <a:spAutoFit/>
          </a:bodyPr>
          <a:lstStyle/>
          <a:p>
            <a:pPr algn="l">
              <a:defRPr sz="3400" b="1">
                <a:solidFill>
                  <a:srgbClr val="F0F3F7"/>
                </a:solidFill>
                <a:latin typeface="Arial"/>
              </a:defRPr>
            </a:pPr>
            <a:r>
              <a:rPr dirty="0"/>
              <a:t>Timely Access Burden  (30% -- Highest Weight)</a:t>
            </a:r>
          </a:p>
        </p:txBody>
      </p:sp>
      <p:sp>
        <p:nvSpPr>
          <p:cNvPr id="5" name="TextBox 4"/>
          <p:cNvSpPr txBox="1"/>
          <p:nvPr/>
        </p:nvSpPr>
        <p:spPr>
          <a:xfrm>
            <a:off x="640080" y="1005840"/>
            <a:ext cx="10515600" cy="365760"/>
          </a:xfrm>
          <a:prstGeom prst="rect">
            <a:avLst/>
          </a:prstGeom>
          <a:noFill/>
        </p:spPr>
        <p:txBody>
          <a:bodyPr wrap="square">
            <a:spAutoFit/>
          </a:bodyPr>
          <a:lstStyle/>
          <a:p>
            <a:pPr algn="l">
              <a:defRPr sz="2000" b="0">
                <a:solidFill>
                  <a:srgbClr val="9EADBD"/>
                </a:solidFill>
                <a:latin typeface="Arial"/>
              </a:defRPr>
            </a:pPr>
            <a:r>
              <a:t>Models the real-world tiered burn care system, not just distance to the nearest center.</a:t>
            </a:r>
          </a:p>
        </p:txBody>
      </p:sp>
      <p:sp>
        <p:nvSpPr>
          <p:cNvPr id="6" name="Rounded Rectangle 5"/>
          <p:cNvSpPr/>
          <p:nvPr/>
        </p:nvSpPr>
        <p:spPr>
          <a:xfrm>
            <a:off x="45720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1828800"/>
            <a:ext cx="548640" cy="54864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47088"/>
            <a:ext cx="548640" cy="502920"/>
          </a:xfrm>
          <a:prstGeom prst="rect">
            <a:avLst/>
          </a:prstGeom>
          <a:noFill/>
        </p:spPr>
        <p:txBody>
          <a:bodyPr wrap="square">
            <a:spAutoFit/>
          </a:bodyPr>
          <a:lstStyle/>
          <a:p>
            <a:pPr algn="ctr">
              <a:defRPr sz="2400" b="1">
                <a:solidFill>
                  <a:srgbClr val="121A27"/>
                </a:solidFill>
                <a:latin typeface="Arial"/>
              </a:defRPr>
            </a:pPr>
            <a:r>
              <a:t>A</a:t>
            </a:r>
          </a:p>
        </p:txBody>
      </p:sp>
      <p:sp>
        <p:nvSpPr>
          <p:cNvPr id="9" name="TextBox 8"/>
          <p:cNvSpPr txBox="1"/>
          <p:nvPr/>
        </p:nvSpPr>
        <p:spPr>
          <a:xfrm>
            <a:off x="1371600" y="1828800"/>
            <a:ext cx="2377440" cy="365760"/>
          </a:xfrm>
          <a:prstGeom prst="rect">
            <a:avLst/>
          </a:prstGeom>
          <a:noFill/>
        </p:spPr>
        <p:txBody>
          <a:bodyPr wrap="square">
            <a:spAutoFit/>
          </a:bodyPr>
          <a:lstStyle/>
          <a:p>
            <a:pPr algn="l">
              <a:defRPr sz="2000" b="1">
                <a:solidFill>
                  <a:srgbClr val="F0F3F7"/>
                </a:solidFill>
                <a:latin typeface="Arial"/>
              </a:defRPr>
            </a:pPr>
            <a:r>
              <a:t>Direct Path</a:t>
            </a:r>
          </a:p>
        </p:txBody>
      </p:sp>
      <p:sp>
        <p:nvSpPr>
          <p:cNvPr id="10" name="TextBox 9"/>
          <p:cNvSpPr txBox="1"/>
          <p:nvPr/>
        </p:nvSpPr>
        <p:spPr>
          <a:xfrm>
            <a:off x="1371600" y="2194560"/>
            <a:ext cx="2377440" cy="274320"/>
          </a:xfrm>
          <a:prstGeom prst="rect">
            <a:avLst/>
          </a:prstGeom>
          <a:noFill/>
        </p:spPr>
        <p:txBody>
          <a:bodyPr wrap="square">
            <a:spAutoFit/>
          </a:bodyPr>
          <a:lstStyle/>
          <a:p>
            <a:pPr algn="l">
              <a:defRPr sz="1500" b="1">
                <a:solidFill>
                  <a:srgbClr val="56B4E9"/>
                </a:solidFill>
                <a:latin typeface="Consolas"/>
              </a:defRPr>
            </a:pPr>
            <a:r>
              <a:t>T(dir)</a:t>
            </a:r>
          </a:p>
        </p:txBody>
      </p:sp>
      <p:sp>
        <p:nvSpPr>
          <p:cNvPr id="11" name="TextBox 10"/>
          <p:cNvSpPr txBox="1"/>
          <p:nvPr/>
        </p:nvSpPr>
        <p:spPr>
          <a:xfrm>
            <a:off x="685800" y="2651760"/>
            <a:ext cx="3108960" cy="1188720"/>
          </a:xfrm>
          <a:prstGeom prst="rect">
            <a:avLst/>
          </a:prstGeom>
          <a:noFill/>
        </p:spPr>
        <p:txBody>
          <a:bodyPr wrap="square">
            <a:spAutoFit/>
          </a:bodyPr>
          <a:lstStyle/>
          <a:p>
            <a:pPr algn="l">
              <a:lnSpc>
                <a:spcPts val="2600"/>
              </a:lnSpc>
              <a:defRPr sz="1700" b="0">
                <a:solidFill>
                  <a:srgbClr val="9EADBD"/>
                </a:solidFill>
                <a:latin typeface="Arial"/>
              </a:defRPr>
            </a:pPr>
            <a:r>
              <a:t>Drive from the tract to the</a:t>
            </a:r>
            <a:br/>
            <a:r>
              <a:t>nearest definitive burn center.</a:t>
            </a:r>
          </a:p>
        </p:txBody>
      </p:sp>
      <p:sp>
        <p:nvSpPr>
          <p:cNvPr id="12" name="Rounded Rectangle 11"/>
          <p:cNvSpPr/>
          <p:nvPr/>
        </p:nvSpPr>
        <p:spPr>
          <a:xfrm>
            <a:off x="425196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434840" y="1828800"/>
            <a:ext cx="548640" cy="54864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1847088"/>
            <a:ext cx="548640" cy="502920"/>
          </a:xfrm>
          <a:prstGeom prst="rect">
            <a:avLst/>
          </a:prstGeom>
          <a:noFill/>
        </p:spPr>
        <p:txBody>
          <a:bodyPr wrap="square">
            <a:spAutoFit/>
          </a:bodyPr>
          <a:lstStyle/>
          <a:p>
            <a:pPr algn="ctr">
              <a:defRPr sz="2400" b="1">
                <a:solidFill>
                  <a:srgbClr val="121A27"/>
                </a:solidFill>
                <a:latin typeface="Arial"/>
              </a:defRPr>
            </a:pPr>
            <a:r>
              <a:t>B</a:t>
            </a:r>
          </a:p>
        </p:txBody>
      </p:sp>
      <p:sp>
        <p:nvSpPr>
          <p:cNvPr id="15" name="TextBox 14"/>
          <p:cNvSpPr txBox="1"/>
          <p:nvPr/>
        </p:nvSpPr>
        <p:spPr>
          <a:xfrm>
            <a:off x="5166360" y="1828800"/>
            <a:ext cx="2377440" cy="365760"/>
          </a:xfrm>
          <a:prstGeom prst="rect">
            <a:avLst/>
          </a:prstGeom>
          <a:noFill/>
        </p:spPr>
        <p:txBody>
          <a:bodyPr wrap="square">
            <a:spAutoFit/>
          </a:bodyPr>
          <a:lstStyle/>
          <a:p>
            <a:pPr algn="l">
              <a:defRPr sz="2000" b="1">
                <a:solidFill>
                  <a:srgbClr val="F0F3F7"/>
                </a:solidFill>
                <a:latin typeface="Arial"/>
              </a:defRPr>
            </a:pPr>
            <a:r>
              <a:t>Transfer Path</a:t>
            </a:r>
          </a:p>
        </p:txBody>
      </p:sp>
      <p:sp>
        <p:nvSpPr>
          <p:cNvPr id="16" name="TextBox 15"/>
          <p:cNvSpPr txBox="1"/>
          <p:nvPr/>
        </p:nvSpPr>
        <p:spPr>
          <a:xfrm>
            <a:off x="5166360" y="2194560"/>
            <a:ext cx="2377440" cy="274320"/>
          </a:xfrm>
          <a:prstGeom prst="rect">
            <a:avLst/>
          </a:prstGeom>
          <a:noFill/>
        </p:spPr>
        <p:txBody>
          <a:bodyPr wrap="square">
            <a:spAutoFit/>
          </a:bodyPr>
          <a:lstStyle/>
          <a:p>
            <a:pPr algn="l">
              <a:defRPr sz="1500" b="1">
                <a:solidFill>
                  <a:srgbClr val="E69F00"/>
                </a:solidFill>
                <a:latin typeface="Consolas"/>
              </a:defRPr>
            </a:pPr>
            <a:r>
              <a:t>T(trans)</a:t>
            </a:r>
          </a:p>
        </p:txBody>
      </p:sp>
      <p:sp>
        <p:nvSpPr>
          <p:cNvPr id="17" name="TextBox 16"/>
          <p:cNvSpPr txBox="1"/>
          <p:nvPr/>
        </p:nvSpPr>
        <p:spPr>
          <a:xfrm>
            <a:off x="4480560" y="2651760"/>
            <a:ext cx="3108960" cy="1188720"/>
          </a:xfrm>
          <a:prstGeom prst="rect">
            <a:avLst/>
          </a:prstGeom>
          <a:noFill/>
        </p:spPr>
        <p:txBody>
          <a:bodyPr wrap="square">
            <a:spAutoFit/>
          </a:bodyPr>
          <a:lstStyle/>
          <a:p>
            <a:pPr algn="l">
              <a:lnSpc>
                <a:spcPts val="2600"/>
              </a:lnSpc>
              <a:defRPr sz="1700" b="0">
                <a:solidFill>
                  <a:srgbClr val="9EADBD"/>
                </a:solidFill>
                <a:latin typeface="Arial"/>
              </a:defRPr>
            </a:pPr>
            <a:r>
              <a:t>Drive to stabilization hospital,</a:t>
            </a:r>
            <a:br/>
            <a:r>
              <a:t>add 45-min transfer penalty,</a:t>
            </a:r>
            <a:br/>
            <a:r>
              <a:t>then transfer to burn center.</a:t>
            </a:r>
          </a:p>
        </p:txBody>
      </p:sp>
      <p:sp>
        <p:nvSpPr>
          <p:cNvPr id="18" name="Rounded Rectangle 17"/>
          <p:cNvSpPr/>
          <p:nvPr/>
        </p:nvSpPr>
        <p:spPr>
          <a:xfrm>
            <a:off x="8046720" y="1645920"/>
            <a:ext cx="356616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600" y="1828800"/>
            <a:ext cx="548640" cy="54864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1847088"/>
            <a:ext cx="548640" cy="502920"/>
          </a:xfrm>
          <a:prstGeom prst="rect">
            <a:avLst/>
          </a:prstGeom>
          <a:noFill/>
        </p:spPr>
        <p:txBody>
          <a:bodyPr wrap="square">
            <a:spAutoFit/>
          </a:bodyPr>
          <a:lstStyle/>
          <a:p>
            <a:pPr algn="ctr">
              <a:defRPr sz="2400" b="1">
                <a:solidFill>
                  <a:srgbClr val="121A27"/>
                </a:solidFill>
                <a:latin typeface="Arial"/>
              </a:defRPr>
            </a:pPr>
            <a:r>
              <a:t>C</a:t>
            </a:r>
          </a:p>
        </p:txBody>
      </p:sp>
      <p:sp>
        <p:nvSpPr>
          <p:cNvPr id="21" name="TextBox 20"/>
          <p:cNvSpPr txBox="1"/>
          <p:nvPr/>
        </p:nvSpPr>
        <p:spPr>
          <a:xfrm>
            <a:off x="8961120" y="1828800"/>
            <a:ext cx="2377440" cy="365760"/>
          </a:xfrm>
          <a:prstGeom prst="rect">
            <a:avLst/>
          </a:prstGeom>
          <a:noFill/>
        </p:spPr>
        <p:txBody>
          <a:bodyPr wrap="square">
            <a:spAutoFit/>
          </a:bodyPr>
          <a:lstStyle/>
          <a:p>
            <a:pPr algn="l">
              <a:defRPr sz="2000" b="1">
                <a:solidFill>
                  <a:srgbClr val="F0F3F7"/>
                </a:solidFill>
                <a:latin typeface="Arial"/>
              </a:defRPr>
            </a:pPr>
            <a:r>
              <a:t>System Time</a:t>
            </a:r>
          </a:p>
        </p:txBody>
      </p:sp>
      <p:sp>
        <p:nvSpPr>
          <p:cNvPr id="22" name="TextBox 21"/>
          <p:cNvSpPr txBox="1"/>
          <p:nvPr/>
        </p:nvSpPr>
        <p:spPr>
          <a:xfrm>
            <a:off x="8961120" y="2194560"/>
            <a:ext cx="2377440" cy="274320"/>
          </a:xfrm>
          <a:prstGeom prst="rect">
            <a:avLst/>
          </a:prstGeom>
          <a:noFill/>
        </p:spPr>
        <p:txBody>
          <a:bodyPr wrap="square">
            <a:spAutoFit/>
          </a:bodyPr>
          <a:lstStyle/>
          <a:p>
            <a:pPr algn="l">
              <a:defRPr sz="1500" b="1">
                <a:solidFill>
                  <a:srgbClr val="009E73"/>
                </a:solidFill>
                <a:latin typeface="Consolas"/>
              </a:defRPr>
            </a:pPr>
            <a:r>
              <a:t>T(sys)</a:t>
            </a:r>
          </a:p>
        </p:txBody>
      </p:sp>
      <p:sp>
        <p:nvSpPr>
          <p:cNvPr id="23" name="TextBox 22"/>
          <p:cNvSpPr txBox="1"/>
          <p:nvPr/>
        </p:nvSpPr>
        <p:spPr>
          <a:xfrm>
            <a:off x="8275320" y="2651760"/>
            <a:ext cx="3108960" cy="725455"/>
          </a:xfrm>
          <a:prstGeom prst="rect">
            <a:avLst/>
          </a:prstGeom>
          <a:noFill/>
        </p:spPr>
        <p:txBody>
          <a:bodyPr wrap="square">
            <a:spAutoFit/>
          </a:bodyPr>
          <a:lstStyle/>
          <a:p>
            <a:pPr algn="l">
              <a:lnSpc>
                <a:spcPts val="2600"/>
              </a:lnSpc>
              <a:defRPr sz="1700" b="0">
                <a:solidFill>
                  <a:srgbClr val="9EADBD"/>
                </a:solidFill>
                <a:latin typeface="Arial"/>
              </a:defRPr>
            </a:pPr>
            <a:r>
              <a:rPr dirty="0"/>
              <a:t>Whichever is faster </a:t>
            </a:r>
            <a:r>
              <a:rPr lang="en-US" dirty="0"/>
              <a:t>-</a:t>
            </a:r>
            <a:r>
              <a:rPr dirty="0"/>
              <a:t> direct</a:t>
            </a:r>
            <a:br>
              <a:rPr dirty="0"/>
            </a:br>
            <a:r>
              <a:rPr dirty="0"/>
              <a:t>or stabilize-then-transfer.</a:t>
            </a:r>
          </a:p>
        </p:txBody>
      </p:sp>
      <p:sp>
        <p:nvSpPr>
          <p:cNvPr id="24" name="Rounded Rectangle 23"/>
          <p:cNvSpPr/>
          <p:nvPr/>
        </p:nvSpPr>
        <p:spPr>
          <a:xfrm>
            <a:off x="457200" y="4389120"/>
            <a:ext cx="11247120" cy="19202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617720"/>
            <a:ext cx="10698480" cy="365760"/>
          </a:xfrm>
          <a:prstGeom prst="rect">
            <a:avLst/>
          </a:prstGeom>
          <a:noFill/>
        </p:spPr>
        <p:txBody>
          <a:bodyPr wrap="square">
            <a:spAutoFit/>
          </a:bodyPr>
          <a:lstStyle/>
          <a:p>
            <a:pPr algn="l">
              <a:defRPr sz="2000" b="1">
                <a:solidFill>
                  <a:srgbClr val="D55E00"/>
                </a:solidFill>
                <a:latin typeface="Consolas"/>
              </a:defRPr>
            </a:pPr>
            <a:r>
              <a:rPr dirty="0"/>
              <a:t>Tier Penalty:  Δ = max(0, </a:t>
            </a:r>
            <a:r>
              <a:rPr dirty="0" err="1"/>
              <a:t>T_stab</a:t>
            </a:r>
            <a:r>
              <a:rPr dirty="0"/>
              <a:t> − 30 min)</a:t>
            </a:r>
          </a:p>
        </p:txBody>
      </p:sp>
      <p:sp>
        <p:nvSpPr>
          <p:cNvPr id="26" name="TextBox 25"/>
          <p:cNvSpPr txBox="1"/>
          <p:nvPr/>
        </p:nvSpPr>
        <p:spPr>
          <a:xfrm>
            <a:off x="731520" y="5029200"/>
            <a:ext cx="10698480" cy="1097280"/>
          </a:xfrm>
          <a:prstGeom prst="rect">
            <a:avLst/>
          </a:prstGeom>
          <a:noFill/>
        </p:spPr>
        <p:txBody>
          <a:bodyPr wrap="square">
            <a:spAutoFit/>
          </a:bodyPr>
          <a:lstStyle/>
          <a:p>
            <a:pPr algn="l">
              <a:lnSpc>
                <a:spcPts val="3000"/>
              </a:lnSpc>
              <a:defRPr sz="1900" b="0">
                <a:solidFill>
                  <a:srgbClr val="F0F3F7"/>
                </a:solidFill>
                <a:latin typeface="Arial"/>
              </a:defRPr>
            </a:pPr>
            <a:r>
              <a:t>We also penalize tracts where even first-line stabilization is more than 30 minutes away. Final score: 75% system time + 25% tier penalty. This captures both the journey and the safety net.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594360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74320"/>
            <a:ext cx="731520" cy="548640"/>
          </a:xfrm>
          <a:prstGeom prst="rect">
            <a:avLst/>
          </a:prstGeom>
          <a:noFill/>
        </p:spPr>
        <p:txBody>
          <a:bodyPr wrap="square">
            <a:spAutoFit/>
          </a:bodyPr>
          <a:lstStyle/>
          <a:p>
            <a:pPr algn="l">
              <a:defRPr sz="3400" b="1">
                <a:solidFill>
                  <a:srgbClr val="009E73"/>
                </a:solidFill>
                <a:latin typeface="Arial"/>
              </a:defRPr>
            </a:pPr>
            <a:r>
              <a:t>P</a:t>
            </a:r>
          </a:p>
        </p:txBody>
      </p:sp>
      <p:sp>
        <p:nvSpPr>
          <p:cNvPr id="4" name="TextBox 3"/>
          <p:cNvSpPr txBox="1"/>
          <p:nvPr/>
        </p:nvSpPr>
        <p:spPr>
          <a:xfrm>
            <a:off x="1371600" y="274320"/>
            <a:ext cx="4724400" cy="1015663"/>
          </a:xfrm>
          <a:prstGeom prst="rect">
            <a:avLst/>
          </a:prstGeom>
          <a:noFill/>
        </p:spPr>
        <p:txBody>
          <a:bodyPr wrap="square">
            <a:spAutoFit/>
          </a:bodyPr>
          <a:lstStyle/>
          <a:p>
            <a:pPr algn="l">
              <a:defRPr sz="3000" b="1">
                <a:solidFill>
                  <a:srgbClr val="F0F3F7"/>
                </a:solidFill>
                <a:latin typeface="Arial"/>
              </a:defRPr>
            </a:pPr>
            <a:r>
              <a:rPr dirty="0"/>
              <a:t>Pediatric Access Gap  (20%)</a:t>
            </a:r>
          </a:p>
        </p:txBody>
      </p:sp>
      <p:sp>
        <p:nvSpPr>
          <p:cNvPr id="5" name="TextBox 4"/>
          <p:cNvSpPr txBox="1"/>
          <p:nvPr/>
        </p:nvSpPr>
        <p:spPr>
          <a:xfrm>
            <a:off x="670561" y="1297388"/>
            <a:ext cx="5120640" cy="728405"/>
          </a:xfrm>
          <a:prstGeom prst="rect">
            <a:avLst/>
          </a:prstGeom>
          <a:noFill/>
        </p:spPr>
        <p:txBody>
          <a:bodyPr wrap="square">
            <a:spAutoFit/>
          </a:bodyPr>
          <a:lstStyle/>
          <a:p>
            <a:pPr>
              <a:lnSpc>
                <a:spcPts val="2600"/>
              </a:lnSpc>
              <a:defRPr sz="1800" b="0">
                <a:solidFill>
                  <a:srgbClr val="9EADBD"/>
                </a:solidFill>
                <a:latin typeface="Arial"/>
              </a:defRPr>
            </a:pPr>
            <a:r>
              <a:rPr dirty="0"/>
              <a:t>Same method as Supply, but using</a:t>
            </a:r>
            <a:br>
              <a:rPr dirty="0"/>
            </a:br>
            <a:r>
              <a:rPr dirty="0"/>
              <a:t>pediatric-capable facilities and</a:t>
            </a:r>
            <a:r>
              <a:rPr lang="en-US" dirty="0"/>
              <a:t> child population.</a:t>
            </a:r>
            <a:endParaRPr dirty="0"/>
          </a:p>
        </p:txBody>
      </p:sp>
      <p:sp>
        <p:nvSpPr>
          <p:cNvPr id="6" name="TextBox 5"/>
          <p:cNvSpPr txBox="1"/>
          <p:nvPr/>
        </p:nvSpPr>
        <p:spPr>
          <a:xfrm>
            <a:off x="822960" y="2103120"/>
            <a:ext cx="3931920" cy="320040"/>
          </a:xfrm>
          <a:prstGeom prst="rect">
            <a:avLst/>
          </a:prstGeom>
          <a:noFill/>
        </p:spPr>
        <p:txBody>
          <a:bodyPr wrap="square">
            <a:spAutoFit/>
          </a:bodyPr>
          <a:lstStyle/>
          <a:p>
            <a:pPr algn="l">
              <a:defRPr sz="1700" b="0">
                <a:solidFill>
                  <a:srgbClr val="F0F3F7"/>
                </a:solidFill>
                <a:latin typeface="Arial"/>
              </a:defRPr>
            </a:pPr>
            <a:r>
              <a:t>Pediatric ABA-Verified</a:t>
            </a:r>
          </a:p>
        </p:txBody>
      </p:sp>
      <p:sp>
        <p:nvSpPr>
          <p:cNvPr id="7" name="TextBox 6"/>
          <p:cNvSpPr txBox="1"/>
          <p:nvPr/>
        </p:nvSpPr>
        <p:spPr>
          <a:xfrm>
            <a:off x="4572000" y="2103120"/>
            <a:ext cx="1097280" cy="320040"/>
          </a:xfrm>
          <a:prstGeom prst="rect">
            <a:avLst/>
          </a:prstGeom>
          <a:noFill/>
        </p:spPr>
        <p:txBody>
          <a:bodyPr wrap="square">
            <a:spAutoFit/>
          </a:bodyPr>
          <a:lstStyle/>
          <a:p>
            <a:pPr algn="r">
              <a:defRPr sz="1700" b="1">
                <a:solidFill>
                  <a:srgbClr val="009E73"/>
                </a:solidFill>
                <a:latin typeface="Arial"/>
              </a:defRPr>
            </a:pPr>
            <a:r>
              <a:t>1.00</a:t>
            </a:r>
          </a:p>
        </p:txBody>
      </p:sp>
      <p:sp>
        <p:nvSpPr>
          <p:cNvPr id="8" name="TextBox 7"/>
          <p:cNvSpPr txBox="1"/>
          <p:nvPr/>
        </p:nvSpPr>
        <p:spPr>
          <a:xfrm>
            <a:off x="822960" y="2514600"/>
            <a:ext cx="3931920" cy="320040"/>
          </a:xfrm>
          <a:prstGeom prst="rect">
            <a:avLst/>
          </a:prstGeom>
          <a:noFill/>
        </p:spPr>
        <p:txBody>
          <a:bodyPr wrap="square">
            <a:spAutoFit/>
          </a:bodyPr>
          <a:lstStyle/>
          <a:p>
            <a:pPr algn="l">
              <a:defRPr sz="1700" b="0">
                <a:solidFill>
                  <a:srgbClr val="F0F3F7"/>
                </a:solidFill>
                <a:latin typeface="Arial"/>
              </a:defRPr>
            </a:pPr>
            <a:r>
              <a:t>Pediatric State-Designated</a:t>
            </a:r>
          </a:p>
        </p:txBody>
      </p:sp>
      <p:sp>
        <p:nvSpPr>
          <p:cNvPr id="9" name="TextBox 8"/>
          <p:cNvSpPr txBox="1"/>
          <p:nvPr/>
        </p:nvSpPr>
        <p:spPr>
          <a:xfrm>
            <a:off x="4572000" y="2514600"/>
            <a:ext cx="1097280" cy="320040"/>
          </a:xfrm>
          <a:prstGeom prst="rect">
            <a:avLst/>
          </a:prstGeom>
          <a:noFill/>
        </p:spPr>
        <p:txBody>
          <a:bodyPr wrap="square">
            <a:spAutoFit/>
          </a:bodyPr>
          <a:lstStyle/>
          <a:p>
            <a:pPr algn="r">
              <a:defRPr sz="1700" b="1">
                <a:solidFill>
                  <a:srgbClr val="009E73"/>
                </a:solidFill>
                <a:latin typeface="Arial"/>
              </a:defRPr>
            </a:pPr>
            <a:r>
              <a:t>0.85</a:t>
            </a:r>
          </a:p>
        </p:txBody>
      </p:sp>
      <p:sp>
        <p:nvSpPr>
          <p:cNvPr id="10" name="TextBox 9"/>
          <p:cNvSpPr txBox="1"/>
          <p:nvPr/>
        </p:nvSpPr>
        <p:spPr>
          <a:xfrm>
            <a:off x="822960" y="2926080"/>
            <a:ext cx="3931920" cy="320040"/>
          </a:xfrm>
          <a:prstGeom prst="rect">
            <a:avLst/>
          </a:prstGeom>
          <a:noFill/>
        </p:spPr>
        <p:txBody>
          <a:bodyPr wrap="square">
            <a:spAutoFit/>
          </a:bodyPr>
          <a:lstStyle/>
          <a:p>
            <a:pPr algn="l">
              <a:defRPr sz="1700" b="0">
                <a:solidFill>
                  <a:srgbClr val="F0F3F7"/>
                </a:solidFill>
                <a:latin typeface="Arial"/>
              </a:defRPr>
            </a:pPr>
            <a:r>
              <a:t>Peds Trauma + Burn Capable</a:t>
            </a:r>
          </a:p>
        </p:txBody>
      </p:sp>
      <p:sp>
        <p:nvSpPr>
          <p:cNvPr id="11" name="TextBox 10"/>
          <p:cNvSpPr txBox="1"/>
          <p:nvPr/>
        </p:nvSpPr>
        <p:spPr>
          <a:xfrm>
            <a:off x="4572000" y="2926080"/>
            <a:ext cx="1097280" cy="320040"/>
          </a:xfrm>
          <a:prstGeom prst="rect">
            <a:avLst/>
          </a:prstGeom>
          <a:noFill/>
        </p:spPr>
        <p:txBody>
          <a:bodyPr wrap="square">
            <a:spAutoFit/>
          </a:bodyPr>
          <a:lstStyle/>
          <a:p>
            <a:pPr algn="r">
              <a:defRPr sz="1700" b="1">
                <a:solidFill>
                  <a:srgbClr val="009E73"/>
                </a:solidFill>
                <a:latin typeface="Arial"/>
              </a:defRPr>
            </a:pPr>
            <a:r>
              <a:t>0.60</a:t>
            </a:r>
          </a:p>
        </p:txBody>
      </p:sp>
      <p:sp>
        <p:nvSpPr>
          <p:cNvPr id="12" name="TextBox 11"/>
          <p:cNvSpPr txBox="1"/>
          <p:nvPr/>
        </p:nvSpPr>
        <p:spPr>
          <a:xfrm>
            <a:off x="822960" y="3337560"/>
            <a:ext cx="3931920" cy="320040"/>
          </a:xfrm>
          <a:prstGeom prst="rect">
            <a:avLst/>
          </a:prstGeom>
          <a:noFill/>
        </p:spPr>
        <p:txBody>
          <a:bodyPr wrap="square">
            <a:spAutoFit/>
          </a:bodyPr>
          <a:lstStyle/>
          <a:p>
            <a:pPr algn="l">
              <a:defRPr sz="1700" b="0">
                <a:solidFill>
                  <a:srgbClr val="F0F3F7"/>
                </a:solidFill>
                <a:latin typeface="Arial"/>
              </a:defRPr>
            </a:pPr>
            <a:r>
              <a:t>Pediatric Stabilization Only</a:t>
            </a:r>
          </a:p>
        </p:txBody>
      </p:sp>
      <p:sp>
        <p:nvSpPr>
          <p:cNvPr id="13" name="TextBox 12"/>
          <p:cNvSpPr txBox="1"/>
          <p:nvPr/>
        </p:nvSpPr>
        <p:spPr>
          <a:xfrm>
            <a:off x="4572000" y="3337560"/>
            <a:ext cx="1097280" cy="320040"/>
          </a:xfrm>
          <a:prstGeom prst="rect">
            <a:avLst/>
          </a:prstGeom>
          <a:noFill/>
        </p:spPr>
        <p:txBody>
          <a:bodyPr wrap="square">
            <a:spAutoFit/>
          </a:bodyPr>
          <a:lstStyle/>
          <a:p>
            <a:pPr algn="r">
              <a:defRPr sz="1700" b="1">
                <a:solidFill>
                  <a:srgbClr val="009E73"/>
                </a:solidFill>
                <a:latin typeface="Arial"/>
              </a:defRPr>
            </a:pPr>
            <a:r>
              <a:t>0.25</a:t>
            </a:r>
          </a:p>
        </p:txBody>
      </p:sp>
      <p:sp>
        <p:nvSpPr>
          <p:cNvPr id="14" name="Rounded Rectangle 13"/>
          <p:cNvSpPr/>
          <p:nvPr/>
        </p:nvSpPr>
        <p:spPr>
          <a:xfrm>
            <a:off x="640080" y="4114800"/>
            <a:ext cx="5120640" cy="20116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4251960"/>
            <a:ext cx="4754880" cy="320040"/>
          </a:xfrm>
          <a:prstGeom prst="rect">
            <a:avLst/>
          </a:prstGeom>
          <a:noFill/>
        </p:spPr>
        <p:txBody>
          <a:bodyPr wrap="square">
            <a:spAutoFit/>
          </a:bodyPr>
          <a:lstStyle/>
          <a:p>
            <a:pPr algn="l">
              <a:defRPr sz="1900" b="1">
                <a:solidFill>
                  <a:srgbClr val="009E73"/>
                </a:solidFill>
                <a:latin typeface="Arial"/>
              </a:defRPr>
            </a:pPr>
            <a:r>
              <a:t>Why a separate pillar?</a:t>
            </a:r>
          </a:p>
        </p:txBody>
      </p:sp>
      <p:sp>
        <p:nvSpPr>
          <p:cNvPr id="16" name="TextBox 15"/>
          <p:cNvSpPr txBox="1"/>
          <p:nvPr/>
        </p:nvSpPr>
        <p:spPr>
          <a:xfrm>
            <a:off x="822960" y="4663440"/>
            <a:ext cx="4754880" cy="1280160"/>
          </a:xfrm>
          <a:prstGeom prst="rect">
            <a:avLst/>
          </a:prstGeom>
          <a:noFill/>
        </p:spPr>
        <p:txBody>
          <a:bodyPr wrap="square">
            <a:spAutoFit/>
          </a:bodyPr>
          <a:lstStyle/>
          <a:p>
            <a:pPr algn="l">
              <a:lnSpc>
                <a:spcPts val="2600"/>
              </a:lnSpc>
              <a:defRPr sz="1700" b="0">
                <a:solidFill>
                  <a:srgbClr val="F0F3F7"/>
                </a:solidFill>
                <a:latin typeface="Arial"/>
              </a:defRPr>
            </a:pPr>
            <a:r>
              <a:t>Pediatric burns need different expertise</a:t>
            </a:r>
            <a:br/>
            <a:r>
              <a:t>and equipment. A community can have</a:t>
            </a:r>
            <a:br/>
            <a:r>
              <a:t>adult access but zero pediatric capability.</a:t>
            </a:r>
          </a:p>
        </p:txBody>
      </p:sp>
      <p:sp>
        <p:nvSpPr>
          <p:cNvPr id="17" name="Rectangle 16"/>
          <p:cNvSpPr/>
          <p:nvPr/>
        </p:nvSpPr>
        <p:spPr>
          <a:xfrm>
            <a:off x="6217920" y="0"/>
            <a:ext cx="5943600"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74320"/>
            <a:ext cx="731520" cy="548640"/>
          </a:xfrm>
          <a:prstGeom prst="rect">
            <a:avLst/>
          </a:prstGeom>
          <a:noFill/>
        </p:spPr>
        <p:txBody>
          <a:bodyPr wrap="square">
            <a:spAutoFit/>
          </a:bodyPr>
          <a:lstStyle/>
          <a:p>
            <a:pPr algn="l">
              <a:defRPr sz="3400" b="1">
                <a:solidFill>
                  <a:srgbClr val="56B4E9"/>
                </a:solidFill>
                <a:latin typeface="Arial"/>
              </a:defRPr>
            </a:pPr>
            <a:r>
              <a:t>C</a:t>
            </a:r>
          </a:p>
        </p:txBody>
      </p:sp>
      <p:sp>
        <p:nvSpPr>
          <p:cNvPr id="19" name="TextBox 18"/>
          <p:cNvSpPr txBox="1"/>
          <p:nvPr/>
        </p:nvSpPr>
        <p:spPr>
          <a:xfrm>
            <a:off x="7132320" y="274320"/>
            <a:ext cx="4754880" cy="548640"/>
          </a:xfrm>
          <a:prstGeom prst="rect">
            <a:avLst/>
          </a:prstGeom>
          <a:noFill/>
        </p:spPr>
        <p:txBody>
          <a:bodyPr wrap="square">
            <a:spAutoFit/>
          </a:bodyPr>
          <a:lstStyle/>
          <a:p>
            <a:pPr algn="l">
              <a:defRPr sz="3000" b="1">
                <a:solidFill>
                  <a:srgbClr val="F0F3F7"/>
                </a:solidFill>
                <a:latin typeface="Arial"/>
              </a:defRPr>
            </a:pPr>
            <a:r>
              <a:t>Structural Capacity Gap  (25%)</a:t>
            </a:r>
          </a:p>
        </p:txBody>
      </p:sp>
      <p:sp>
        <p:nvSpPr>
          <p:cNvPr id="20" name="TextBox 19"/>
          <p:cNvSpPr txBox="1"/>
          <p:nvPr/>
        </p:nvSpPr>
        <p:spPr>
          <a:xfrm>
            <a:off x="6400800" y="1239239"/>
            <a:ext cx="5667153" cy="728405"/>
          </a:xfrm>
          <a:prstGeom prst="rect">
            <a:avLst/>
          </a:prstGeom>
          <a:noFill/>
        </p:spPr>
        <p:txBody>
          <a:bodyPr wrap="square">
            <a:spAutoFit/>
          </a:bodyPr>
          <a:lstStyle/>
          <a:p>
            <a:pPr algn="l">
              <a:lnSpc>
                <a:spcPts val="2600"/>
              </a:lnSpc>
              <a:defRPr sz="1800" b="0">
                <a:solidFill>
                  <a:srgbClr val="9EADBD"/>
                </a:solidFill>
                <a:latin typeface="Arial"/>
              </a:defRPr>
            </a:pPr>
            <a:r>
              <a:rPr dirty="0"/>
              <a:t>Measures burn-bed adequacy relative</a:t>
            </a:r>
            <a:r>
              <a:rPr lang="en-US" dirty="0"/>
              <a:t> </a:t>
            </a:r>
            <a:r>
              <a:rPr dirty="0"/>
              <a:t>to surrounding population, weighted</a:t>
            </a:r>
            <a:r>
              <a:rPr lang="en-US" dirty="0"/>
              <a:t> </a:t>
            </a:r>
            <a:r>
              <a:rPr dirty="0"/>
              <a:t>by distance.</a:t>
            </a:r>
          </a:p>
        </p:txBody>
      </p:sp>
      <p:sp>
        <p:nvSpPr>
          <p:cNvPr id="21" name="Rounded Rectangle 20"/>
          <p:cNvSpPr/>
          <p:nvPr/>
        </p:nvSpPr>
        <p:spPr>
          <a:xfrm>
            <a:off x="6400800" y="2011680"/>
            <a:ext cx="5303520" cy="18288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2148840"/>
            <a:ext cx="4754880" cy="320040"/>
          </a:xfrm>
          <a:prstGeom prst="rect">
            <a:avLst/>
          </a:prstGeom>
          <a:noFill/>
        </p:spPr>
        <p:txBody>
          <a:bodyPr wrap="square">
            <a:spAutoFit/>
          </a:bodyPr>
          <a:lstStyle/>
          <a:p>
            <a:pPr algn="l">
              <a:defRPr sz="1800" b="1">
                <a:solidFill>
                  <a:srgbClr val="56B4E9"/>
                </a:solidFill>
                <a:latin typeface="Consolas"/>
              </a:defRPr>
            </a:pPr>
            <a:r>
              <a:t>Effective Beds = BURN_BEDS × u</a:t>
            </a:r>
          </a:p>
        </p:txBody>
      </p:sp>
      <p:sp>
        <p:nvSpPr>
          <p:cNvPr id="23" name="TextBox 22"/>
          <p:cNvSpPr txBox="1"/>
          <p:nvPr/>
        </p:nvSpPr>
        <p:spPr>
          <a:xfrm>
            <a:off x="6675120" y="2560320"/>
            <a:ext cx="4754880" cy="1005840"/>
          </a:xfrm>
          <a:prstGeom prst="rect">
            <a:avLst/>
          </a:prstGeom>
          <a:noFill/>
        </p:spPr>
        <p:txBody>
          <a:bodyPr wrap="square">
            <a:spAutoFit/>
          </a:bodyPr>
          <a:lstStyle/>
          <a:p>
            <a:pPr algn="l">
              <a:lnSpc>
                <a:spcPts val="2600"/>
              </a:lnSpc>
              <a:defRPr sz="1700" b="0">
                <a:solidFill>
                  <a:srgbClr val="F0F3F7"/>
                </a:solidFill>
                <a:latin typeface="Arial"/>
              </a:defRPr>
            </a:pPr>
            <a:r>
              <a:t>u = capacity utilization factor</a:t>
            </a:r>
            <a:br/>
            <a:r>
              <a:t>Baseline: u = 1.0 (structural)</a:t>
            </a:r>
            <a:br/>
            <a:r>
              <a:t>Sensitivity: u = 0.75 (conservative)</a:t>
            </a:r>
          </a:p>
        </p:txBody>
      </p:sp>
      <p:sp>
        <p:nvSpPr>
          <p:cNvPr id="24" name="Rounded Rectangle 23"/>
          <p:cNvSpPr/>
          <p:nvPr/>
        </p:nvSpPr>
        <p:spPr>
          <a:xfrm>
            <a:off x="6400800" y="4114800"/>
            <a:ext cx="5303520" cy="20116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4251960"/>
            <a:ext cx="4754880" cy="320040"/>
          </a:xfrm>
          <a:prstGeom prst="rect">
            <a:avLst/>
          </a:prstGeom>
          <a:noFill/>
        </p:spPr>
        <p:txBody>
          <a:bodyPr wrap="square">
            <a:spAutoFit/>
          </a:bodyPr>
          <a:lstStyle/>
          <a:p>
            <a:pPr algn="l">
              <a:defRPr sz="1900" b="1">
                <a:solidFill>
                  <a:srgbClr val="56B4E9"/>
                </a:solidFill>
                <a:latin typeface="Arial"/>
              </a:defRPr>
            </a:pPr>
            <a:r>
              <a:t>The national picture</a:t>
            </a:r>
          </a:p>
        </p:txBody>
      </p:sp>
      <p:sp>
        <p:nvSpPr>
          <p:cNvPr id="26" name="TextBox 25"/>
          <p:cNvSpPr txBox="1"/>
          <p:nvPr/>
        </p:nvSpPr>
        <p:spPr>
          <a:xfrm>
            <a:off x="6675120" y="4663440"/>
            <a:ext cx="4754880" cy="1280160"/>
          </a:xfrm>
          <a:prstGeom prst="rect">
            <a:avLst/>
          </a:prstGeom>
          <a:noFill/>
        </p:spPr>
        <p:txBody>
          <a:bodyPr wrap="square">
            <a:spAutoFit/>
          </a:bodyPr>
          <a:lstStyle/>
          <a:p>
            <a:pPr algn="l">
              <a:lnSpc>
                <a:spcPts val="2600"/>
              </a:lnSpc>
              <a:defRPr sz="1700" b="0">
                <a:solidFill>
                  <a:srgbClr val="F0F3F7"/>
                </a:solidFill>
                <a:latin typeface="Arial"/>
              </a:defRPr>
            </a:pPr>
            <a:r>
              <a:t>2,080 total US burn beds</a:t>
            </a:r>
            <a:br/>
            <a:r>
              <a:t>= 0.63 beds per 100,000 people</a:t>
            </a:r>
            <a:br/>
            <a:r>
              <a:t>Concentrated in urban corridors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Data Sources &amp; Integration</a:t>
            </a:r>
          </a:p>
        </p:txBody>
      </p:sp>
      <p:sp>
        <p:nvSpPr>
          <p:cNvPr id="3" name="TextBox 2"/>
          <p:cNvSpPr txBox="1"/>
          <p:nvPr/>
        </p:nvSpPr>
        <p:spPr>
          <a:xfrm>
            <a:off x="640080" y="822960"/>
            <a:ext cx="10972800" cy="365760"/>
          </a:xfrm>
          <a:prstGeom prst="rect">
            <a:avLst/>
          </a:prstGeom>
          <a:noFill/>
        </p:spPr>
        <p:txBody>
          <a:bodyPr wrap="square">
            <a:spAutoFit/>
          </a:bodyPr>
          <a:lstStyle/>
          <a:p>
            <a:pPr algn="l">
              <a:defRPr sz="2000" b="0">
                <a:solidFill>
                  <a:srgbClr val="9EADBD"/>
                </a:solidFill>
                <a:latin typeface="Arial"/>
              </a:defRPr>
            </a:pPr>
            <a:r>
              <a:t>Every source is public or challenge-provided -- fully reproducible</a:t>
            </a:r>
          </a:p>
        </p:txBody>
      </p:sp>
      <p:sp>
        <p:nvSpPr>
          <p:cNvPr id="4" name="Rounded Rectangle 3"/>
          <p:cNvSpPr/>
          <p:nvPr/>
        </p:nvSpPr>
        <p:spPr>
          <a:xfrm>
            <a:off x="45720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00200"/>
            <a:ext cx="3108960" cy="640080"/>
          </a:xfrm>
          <a:prstGeom prst="rect">
            <a:avLst/>
          </a:prstGeom>
          <a:noFill/>
        </p:spPr>
        <p:txBody>
          <a:bodyPr wrap="square">
            <a:spAutoFit/>
          </a:bodyPr>
          <a:lstStyle/>
          <a:p>
            <a:pPr algn="l">
              <a:lnSpc>
                <a:spcPts val="2400"/>
              </a:lnSpc>
              <a:defRPr sz="1900" b="1">
                <a:solidFill>
                  <a:srgbClr val="56B4E9"/>
                </a:solidFill>
                <a:latin typeface="Arial"/>
              </a:defRPr>
            </a:pPr>
            <a:r>
              <a:t>NIRD</a:t>
            </a:r>
          </a:p>
        </p:txBody>
      </p:sp>
      <p:sp>
        <p:nvSpPr>
          <p:cNvPr id="6" name="TextBox 5"/>
          <p:cNvSpPr txBox="1"/>
          <p:nvPr/>
        </p:nvSpPr>
        <p:spPr>
          <a:xfrm>
            <a:off x="685800" y="228600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635 facilities with burn</a:t>
            </a:r>
            <a:br/>
            <a:r>
              <a:t>designation and bed counts</a:t>
            </a:r>
          </a:p>
        </p:txBody>
      </p:sp>
      <p:sp>
        <p:nvSpPr>
          <p:cNvPr id="7" name="Rounded Rectangle 6"/>
          <p:cNvSpPr/>
          <p:nvPr/>
        </p:nvSpPr>
        <p:spPr>
          <a:xfrm>
            <a:off x="425196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1600200"/>
            <a:ext cx="3108960" cy="640080"/>
          </a:xfrm>
          <a:prstGeom prst="rect">
            <a:avLst/>
          </a:prstGeom>
          <a:noFill/>
        </p:spPr>
        <p:txBody>
          <a:bodyPr wrap="square">
            <a:spAutoFit/>
          </a:bodyPr>
          <a:lstStyle/>
          <a:p>
            <a:pPr algn="l">
              <a:lnSpc>
                <a:spcPts val="2400"/>
              </a:lnSpc>
              <a:defRPr sz="1900" b="1">
                <a:solidFill>
                  <a:srgbClr val="E69F00"/>
                </a:solidFill>
                <a:latin typeface="Arial"/>
              </a:defRPr>
            </a:pPr>
            <a:r>
              <a:t>US Census (ACS)</a:t>
            </a:r>
          </a:p>
        </p:txBody>
      </p:sp>
      <p:sp>
        <p:nvSpPr>
          <p:cNvPr id="9" name="TextBox 8"/>
          <p:cNvSpPr txBox="1"/>
          <p:nvPr/>
        </p:nvSpPr>
        <p:spPr>
          <a:xfrm>
            <a:off x="4480560" y="228600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84,000+ tract boundaries</a:t>
            </a:r>
            <a:br/>
            <a:r>
              <a:t>and population data</a:t>
            </a:r>
          </a:p>
        </p:txBody>
      </p:sp>
      <p:sp>
        <p:nvSpPr>
          <p:cNvPr id="10" name="Rounded Rectangle 9"/>
          <p:cNvSpPr/>
          <p:nvPr/>
        </p:nvSpPr>
        <p:spPr>
          <a:xfrm>
            <a:off x="8046720" y="146304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600200"/>
            <a:ext cx="3230880" cy="378630"/>
          </a:xfrm>
          <a:prstGeom prst="rect">
            <a:avLst/>
          </a:prstGeom>
          <a:noFill/>
        </p:spPr>
        <p:txBody>
          <a:bodyPr wrap="square">
            <a:spAutoFit/>
          </a:bodyPr>
          <a:lstStyle/>
          <a:p>
            <a:pPr algn="l">
              <a:lnSpc>
                <a:spcPts val="2400"/>
              </a:lnSpc>
              <a:defRPr sz="1900" b="1">
                <a:solidFill>
                  <a:srgbClr val="009E73"/>
                </a:solidFill>
                <a:latin typeface="Arial"/>
              </a:defRPr>
            </a:pPr>
            <a:r>
              <a:rPr dirty="0"/>
              <a:t>OpenStreetMap</a:t>
            </a:r>
            <a:r>
              <a:rPr lang="en-US" dirty="0"/>
              <a:t> </a:t>
            </a:r>
            <a:r>
              <a:rPr dirty="0"/>
              <a:t>+</a:t>
            </a:r>
            <a:r>
              <a:rPr lang="en-US" dirty="0"/>
              <a:t> </a:t>
            </a:r>
            <a:r>
              <a:rPr dirty="0"/>
              <a:t>Valhalla</a:t>
            </a:r>
          </a:p>
        </p:txBody>
      </p:sp>
      <p:sp>
        <p:nvSpPr>
          <p:cNvPr id="12" name="TextBox 11"/>
          <p:cNvSpPr txBox="1"/>
          <p:nvPr/>
        </p:nvSpPr>
        <p:spPr>
          <a:xfrm>
            <a:off x="8275320" y="228600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Real road-network travel</a:t>
            </a:r>
            <a:br/>
            <a:r>
              <a:t>times, not estimates</a:t>
            </a:r>
          </a:p>
        </p:txBody>
      </p:sp>
      <p:sp>
        <p:nvSpPr>
          <p:cNvPr id="13" name="Rounded Rectangle 12"/>
          <p:cNvSpPr/>
          <p:nvPr/>
        </p:nvSpPr>
        <p:spPr>
          <a:xfrm>
            <a:off x="45720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977640"/>
            <a:ext cx="3108960" cy="640080"/>
          </a:xfrm>
          <a:prstGeom prst="rect">
            <a:avLst/>
          </a:prstGeom>
          <a:noFill/>
        </p:spPr>
        <p:txBody>
          <a:bodyPr wrap="square">
            <a:spAutoFit/>
          </a:bodyPr>
          <a:lstStyle/>
          <a:p>
            <a:pPr algn="l">
              <a:lnSpc>
                <a:spcPts val="2400"/>
              </a:lnSpc>
              <a:defRPr sz="1900" b="1">
                <a:solidFill>
                  <a:srgbClr val="CC79A7"/>
                </a:solidFill>
                <a:latin typeface="Arial"/>
              </a:defRPr>
            </a:pPr>
            <a:r>
              <a:t>RUCA Codes</a:t>
            </a:r>
          </a:p>
        </p:txBody>
      </p:sp>
      <p:sp>
        <p:nvSpPr>
          <p:cNvPr id="15" name="TextBox 14"/>
          <p:cNvSpPr txBox="1"/>
          <p:nvPr/>
        </p:nvSpPr>
        <p:spPr>
          <a:xfrm>
            <a:off x="685800" y="466344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Rural-urban classification</a:t>
            </a:r>
            <a:br/>
            <a:r>
              <a:t>for every census tract</a:t>
            </a:r>
          </a:p>
        </p:txBody>
      </p:sp>
      <p:sp>
        <p:nvSpPr>
          <p:cNvPr id="16" name="Rounded Rectangle 15"/>
          <p:cNvSpPr/>
          <p:nvPr/>
        </p:nvSpPr>
        <p:spPr>
          <a:xfrm>
            <a:off x="425196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3977640"/>
            <a:ext cx="3108960" cy="640080"/>
          </a:xfrm>
          <a:prstGeom prst="rect">
            <a:avLst/>
          </a:prstGeom>
          <a:noFill/>
        </p:spPr>
        <p:txBody>
          <a:bodyPr wrap="square">
            <a:spAutoFit/>
          </a:bodyPr>
          <a:lstStyle/>
          <a:p>
            <a:pPr algn="l">
              <a:lnSpc>
                <a:spcPts val="2400"/>
              </a:lnSpc>
              <a:defRPr sz="1900" b="1">
                <a:solidFill>
                  <a:srgbClr val="9EADBD"/>
                </a:solidFill>
                <a:latin typeface="Arial"/>
              </a:defRPr>
            </a:pPr>
            <a:r>
              <a:t>CDC SVI</a:t>
            </a:r>
          </a:p>
        </p:txBody>
      </p:sp>
      <p:sp>
        <p:nvSpPr>
          <p:cNvPr id="18" name="TextBox 17"/>
          <p:cNvSpPr txBox="1"/>
          <p:nvPr/>
        </p:nvSpPr>
        <p:spPr>
          <a:xfrm>
            <a:off x="4480560" y="466344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Social vulnerability overlay</a:t>
            </a:r>
            <a:br/>
            <a:r>
              <a:t>(kept outside core BEI)</a:t>
            </a:r>
          </a:p>
        </p:txBody>
      </p:sp>
      <p:sp>
        <p:nvSpPr>
          <p:cNvPr id="19" name="Rounded Rectangle 18"/>
          <p:cNvSpPr/>
          <p:nvPr/>
        </p:nvSpPr>
        <p:spPr>
          <a:xfrm>
            <a:off x="8046720" y="3840480"/>
            <a:ext cx="356616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3977640"/>
            <a:ext cx="3108960" cy="640080"/>
          </a:xfrm>
          <a:prstGeom prst="rect">
            <a:avLst/>
          </a:prstGeom>
          <a:noFill/>
        </p:spPr>
        <p:txBody>
          <a:bodyPr wrap="square">
            <a:spAutoFit/>
          </a:bodyPr>
          <a:lstStyle/>
          <a:p>
            <a:pPr algn="l">
              <a:lnSpc>
                <a:spcPts val="2400"/>
              </a:lnSpc>
              <a:defRPr sz="1900" b="1">
                <a:solidFill>
                  <a:srgbClr val="D55E00"/>
                </a:solidFill>
                <a:latin typeface="Arial"/>
              </a:defRPr>
            </a:pPr>
            <a:r>
              <a:t>FAA Airport Data</a:t>
            </a:r>
          </a:p>
        </p:txBody>
      </p:sp>
      <p:sp>
        <p:nvSpPr>
          <p:cNvPr id="21" name="TextBox 20"/>
          <p:cNvSpPr txBox="1"/>
          <p:nvPr/>
        </p:nvSpPr>
        <p:spPr>
          <a:xfrm>
            <a:off x="8275320" y="4663440"/>
            <a:ext cx="3108960" cy="1005840"/>
          </a:xfrm>
          <a:prstGeom prst="rect">
            <a:avLst/>
          </a:prstGeom>
          <a:noFill/>
        </p:spPr>
        <p:txBody>
          <a:bodyPr wrap="square">
            <a:spAutoFit/>
          </a:bodyPr>
          <a:lstStyle/>
          <a:p>
            <a:pPr algn="l">
              <a:lnSpc>
                <a:spcPts val="2400"/>
              </a:lnSpc>
              <a:defRPr sz="1700" b="0">
                <a:solidFill>
                  <a:srgbClr val="F0F3F7"/>
                </a:solidFill>
                <a:latin typeface="Arial"/>
              </a:defRPr>
            </a:pPr>
            <a:r>
              <a:t>Heliport locations for air-</a:t>
            </a:r>
            <a:br/>
            <a:r>
              <a:t>transport sensitivity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1371600" y="1828800"/>
            <a:ext cx="9418320" cy="822960"/>
          </a:xfrm>
          <a:prstGeom prst="rect">
            <a:avLst/>
          </a:prstGeom>
          <a:noFill/>
        </p:spPr>
        <p:txBody>
          <a:bodyPr wrap="square">
            <a:spAutoFit/>
          </a:bodyPr>
          <a:lstStyle/>
          <a:p>
            <a:pPr algn="ctr">
              <a:defRPr sz="4600" b="1">
                <a:solidFill>
                  <a:srgbClr val="F0F3F7"/>
                </a:solidFill>
                <a:latin typeface="Arial"/>
              </a:defRPr>
            </a:pPr>
            <a:r>
              <a:t>What Does the Data Reveal?</a:t>
            </a:r>
          </a:p>
        </p:txBody>
      </p:sp>
      <p:sp>
        <p:nvSpPr>
          <p:cNvPr id="3" name="TextBox 2"/>
          <p:cNvSpPr txBox="1"/>
          <p:nvPr/>
        </p:nvSpPr>
        <p:spPr>
          <a:xfrm>
            <a:off x="1371600" y="2926080"/>
            <a:ext cx="9418320" cy="457200"/>
          </a:xfrm>
          <a:prstGeom prst="rect">
            <a:avLst/>
          </a:prstGeom>
          <a:noFill/>
        </p:spPr>
        <p:txBody>
          <a:bodyPr wrap="square">
            <a:spAutoFit/>
          </a:bodyPr>
          <a:lstStyle/>
          <a:p>
            <a:pPr algn="ctr">
              <a:defRPr sz="2400" b="0">
                <a:solidFill>
                  <a:srgbClr val="E69F00"/>
                </a:solidFill>
                <a:latin typeface="Arial"/>
              </a:defRPr>
            </a:pPr>
            <a:r>
              <a:t>From methodology to maps -- exploring the interactive dashboard</a:t>
            </a:r>
          </a:p>
        </p:txBody>
      </p:sp>
      <p:sp>
        <p:nvSpPr>
          <p:cNvPr id="4" name="Rounded Rectangle 3"/>
          <p:cNvSpPr/>
          <p:nvPr/>
        </p:nvSpPr>
        <p:spPr>
          <a:xfrm>
            <a:off x="731520" y="402336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133088"/>
            <a:ext cx="2331720" cy="457200"/>
          </a:xfrm>
          <a:prstGeom prst="rect">
            <a:avLst/>
          </a:prstGeom>
          <a:noFill/>
        </p:spPr>
        <p:txBody>
          <a:bodyPr wrap="square">
            <a:spAutoFit/>
          </a:bodyPr>
          <a:lstStyle/>
          <a:p>
            <a:pPr algn="l">
              <a:defRPr sz="1500" b="1">
                <a:solidFill>
                  <a:srgbClr val="9EADBD"/>
                </a:solidFill>
                <a:latin typeface="Arial"/>
              </a:defRPr>
            </a:pPr>
            <a:r>
              <a:t>MN Tracts</a:t>
            </a:r>
          </a:p>
        </p:txBody>
      </p:sp>
      <p:sp>
        <p:nvSpPr>
          <p:cNvPr id="6" name="TextBox 5"/>
          <p:cNvSpPr txBox="1"/>
          <p:nvPr/>
        </p:nvSpPr>
        <p:spPr>
          <a:xfrm>
            <a:off x="868680" y="4617720"/>
            <a:ext cx="2331720" cy="594360"/>
          </a:xfrm>
          <a:prstGeom prst="rect">
            <a:avLst/>
          </a:prstGeom>
          <a:noFill/>
        </p:spPr>
        <p:txBody>
          <a:bodyPr wrap="square">
            <a:spAutoFit/>
          </a:bodyPr>
          <a:lstStyle/>
          <a:p>
            <a:pPr algn="l">
              <a:defRPr sz="3000" b="1">
                <a:solidFill>
                  <a:srgbClr val="56B4E9"/>
                </a:solidFill>
                <a:latin typeface="Arial"/>
              </a:defRPr>
            </a:pPr>
            <a:r>
              <a:t>1,505</a:t>
            </a:r>
          </a:p>
        </p:txBody>
      </p:sp>
      <p:sp>
        <p:nvSpPr>
          <p:cNvPr id="7" name="Rounded Rectangle 6"/>
          <p:cNvSpPr/>
          <p:nvPr/>
        </p:nvSpPr>
        <p:spPr>
          <a:xfrm>
            <a:off x="3611880" y="402336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49040" y="4133088"/>
            <a:ext cx="2331720" cy="457200"/>
          </a:xfrm>
          <a:prstGeom prst="rect">
            <a:avLst/>
          </a:prstGeom>
          <a:noFill/>
        </p:spPr>
        <p:txBody>
          <a:bodyPr wrap="square">
            <a:spAutoFit/>
          </a:bodyPr>
          <a:lstStyle/>
          <a:p>
            <a:pPr algn="l">
              <a:defRPr sz="1500" b="1">
                <a:solidFill>
                  <a:srgbClr val="9EADBD"/>
                </a:solidFill>
                <a:latin typeface="Arial"/>
              </a:defRPr>
            </a:pPr>
            <a:r>
              <a:t>MN Median BEI</a:t>
            </a:r>
          </a:p>
        </p:txBody>
      </p:sp>
      <p:sp>
        <p:nvSpPr>
          <p:cNvPr id="9" name="TextBox 8"/>
          <p:cNvSpPr txBox="1"/>
          <p:nvPr/>
        </p:nvSpPr>
        <p:spPr>
          <a:xfrm>
            <a:off x="3749040" y="4617720"/>
            <a:ext cx="2331720" cy="594360"/>
          </a:xfrm>
          <a:prstGeom prst="rect">
            <a:avLst/>
          </a:prstGeom>
          <a:noFill/>
        </p:spPr>
        <p:txBody>
          <a:bodyPr wrap="square">
            <a:spAutoFit/>
          </a:bodyPr>
          <a:lstStyle/>
          <a:p>
            <a:pPr algn="l">
              <a:defRPr sz="3000" b="1">
                <a:solidFill>
                  <a:srgbClr val="E69F00"/>
                </a:solidFill>
                <a:latin typeface="Arial"/>
              </a:defRPr>
            </a:pPr>
            <a:r>
              <a:t>23.0</a:t>
            </a:r>
          </a:p>
        </p:txBody>
      </p:sp>
      <p:sp>
        <p:nvSpPr>
          <p:cNvPr id="10" name="Rounded Rectangle 9"/>
          <p:cNvSpPr/>
          <p:nvPr/>
        </p:nvSpPr>
        <p:spPr>
          <a:xfrm>
            <a:off x="6492240" y="402336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4133088"/>
            <a:ext cx="2331720" cy="457200"/>
          </a:xfrm>
          <a:prstGeom prst="rect">
            <a:avLst/>
          </a:prstGeom>
          <a:noFill/>
        </p:spPr>
        <p:txBody>
          <a:bodyPr wrap="square">
            <a:spAutoFit/>
          </a:bodyPr>
          <a:lstStyle/>
          <a:p>
            <a:pPr algn="l">
              <a:defRPr sz="1500" b="1">
                <a:solidFill>
                  <a:srgbClr val="9EADBD"/>
                </a:solidFill>
                <a:latin typeface="Arial"/>
              </a:defRPr>
            </a:pPr>
            <a:r>
              <a:t>High-Burden</a:t>
            </a:r>
            <a:br/>
            <a:r>
              <a:t>(BEI ≥ 80)</a:t>
            </a:r>
          </a:p>
        </p:txBody>
      </p:sp>
      <p:sp>
        <p:nvSpPr>
          <p:cNvPr id="12" name="TextBox 11"/>
          <p:cNvSpPr txBox="1"/>
          <p:nvPr/>
        </p:nvSpPr>
        <p:spPr>
          <a:xfrm>
            <a:off x="6629400" y="4617720"/>
            <a:ext cx="2331720" cy="594360"/>
          </a:xfrm>
          <a:prstGeom prst="rect">
            <a:avLst/>
          </a:prstGeom>
          <a:noFill/>
        </p:spPr>
        <p:txBody>
          <a:bodyPr wrap="square">
            <a:spAutoFit/>
          </a:bodyPr>
          <a:lstStyle/>
          <a:p>
            <a:pPr algn="l">
              <a:defRPr sz="3000" b="1">
                <a:solidFill>
                  <a:srgbClr val="D55E00"/>
                </a:solidFill>
                <a:latin typeface="Arial"/>
              </a:defRPr>
            </a:pPr>
            <a:r>
              <a:t>155 tracts</a:t>
            </a:r>
          </a:p>
        </p:txBody>
      </p:sp>
      <p:sp>
        <p:nvSpPr>
          <p:cNvPr id="13" name="Rounded Rectangle 12"/>
          <p:cNvSpPr/>
          <p:nvPr/>
        </p:nvSpPr>
        <p:spPr>
          <a:xfrm>
            <a:off x="9372600" y="402336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0" y="4133088"/>
            <a:ext cx="2331720" cy="457200"/>
          </a:xfrm>
          <a:prstGeom prst="rect">
            <a:avLst/>
          </a:prstGeom>
          <a:noFill/>
        </p:spPr>
        <p:txBody>
          <a:bodyPr wrap="square">
            <a:spAutoFit/>
          </a:bodyPr>
          <a:lstStyle/>
          <a:p>
            <a:pPr algn="l">
              <a:defRPr sz="1500" b="1">
                <a:solidFill>
                  <a:srgbClr val="9EADBD"/>
                </a:solidFill>
                <a:latin typeface="Arial"/>
              </a:defRPr>
            </a:pPr>
            <a:r>
              <a:t>US Counties</a:t>
            </a:r>
          </a:p>
        </p:txBody>
      </p:sp>
      <p:sp>
        <p:nvSpPr>
          <p:cNvPr id="15" name="TextBox 14"/>
          <p:cNvSpPr txBox="1"/>
          <p:nvPr/>
        </p:nvSpPr>
        <p:spPr>
          <a:xfrm>
            <a:off x="9509760" y="4617720"/>
            <a:ext cx="2331720" cy="594360"/>
          </a:xfrm>
          <a:prstGeom prst="rect">
            <a:avLst/>
          </a:prstGeom>
          <a:noFill/>
        </p:spPr>
        <p:txBody>
          <a:bodyPr wrap="square">
            <a:spAutoFit/>
          </a:bodyPr>
          <a:lstStyle/>
          <a:p>
            <a:pPr algn="l">
              <a:defRPr sz="3000" b="1">
                <a:solidFill>
                  <a:srgbClr val="56B4E9"/>
                </a:solidFill>
                <a:latin typeface="Arial"/>
              </a:defRPr>
            </a:pPr>
            <a:r>
              <a:t>3,144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400" b="1">
                <a:solidFill>
                  <a:srgbClr val="F0F3F7"/>
                </a:solidFill>
                <a:latin typeface="Arial"/>
              </a:defRPr>
            </a:pPr>
            <a:r>
              <a:t>Minnesota: Burn Equity Index Map</a:t>
            </a:r>
          </a:p>
        </p:txBody>
      </p:sp>
      <p:sp>
        <p:nvSpPr>
          <p:cNvPr id="3" name="TextBox 2"/>
          <p:cNvSpPr txBox="1"/>
          <p:nvPr/>
        </p:nvSpPr>
        <p:spPr>
          <a:xfrm>
            <a:off x="640080" y="777240"/>
            <a:ext cx="10972800" cy="320040"/>
          </a:xfrm>
          <a:prstGeom prst="rect">
            <a:avLst/>
          </a:prstGeom>
          <a:noFill/>
        </p:spPr>
        <p:txBody>
          <a:bodyPr wrap="square">
            <a:spAutoFit/>
          </a:bodyPr>
          <a:lstStyle/>
          <a:p>
            <a:pPr algn="l">
              <a:defRPr sz="1800" b="0">
                <a:solidFill>
                  <a:srgbClr val="9EADBD"/>
                </a:solidFill>
                <a:latin typeface="Arial"/>
              </a:defRPr>
            </a:pPr>
            <a:r>
              <a:t>Tract-level BEI scores  |  Interactive Dashboard</a:t>
            </a:r>
          </a:p>
        </p:txBody>
      </p:sp>
      <p:sp>
        <p:nvSpPr>
          <p:cNvPr id="7" name="Rounded Rectangle 6"/>
          <p:cNvSpPr/>
          <p:nvPr/>
        </p:nvSpPr>
        <p:spPr>
          <a:xfrm>
            <a:off x="8503920" y="1280160"/>
            <a:ext cx="3200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0" y="1417320"/>
            <a:ext cx="2834640" cy="320040"/>
          </a:xfrm>
          <a:prstGeom prst="rect">
            <a:avLst/>
          </a:prstGeom>
          <a:noFill/>
        </p:spPr>
        <p:txBody>
          <a:bodyPr wrap="square">
            <a:spAutoFit/>
          </a:bodyPr>
          <a:lstStyle/>
          <a:p>
            <a:pPr algn="l">
              <a:defRPr sz="1900" b="1">
                <a:solidFill>
                  <a:srgbClr val="009E73"/>
                </a:solidFill>
                <a:latin typeface="Arial"/>
              </a:defRPr>
            </a:pPr>
            <a:r>
              <a:t>Twin Cities Metro</a:t>
            </a:r>
          </a:p>
        </p:txBody>
      </p:sp>
      <p:sp>
        <p:nvSpPr>
          <p:cNvPr id="9" name="TextBox 8"/>
          <p:cNvSpPr txBox="1"/>
          <p:nvPr/>
        </p:nvSpPr>
        <p:spPr>
          <a:xfrm>
            <a:off x="8686800" y="1783080"/>
            <a:ext cx="2834640" cy="1463040"/>
          </a:xfrm>
          <a:prstGeom prst="rect">
            <a:avLst/>
          </a:prstGeom>
          <a:noFill/>
        </p:spPr>
        <p:txBody>
          <a:bodyPr wrap="square">
            <a:spAutoFit/>
          </a:bodyPr>
          <a:lstStyle/>
          <a:p>
            <a:pPr algn="l">
              <a:lnSpc>
                <a:spcPts val="2600"/>
              </a:lnSpc>
              <a:defRPr sz="1700" b="0">
                <a:solidFill>
                  <a:srgbClr val="F0F3F7"/>
                </a:solidFill>
                <a:latin typeface="Arial"/>
              </a:defRPr>
            </a:pPr>
            <a:r>
              <a:t>BEI: 0 -- 2</a:t>
            </a:r>
            <a:br/>
            <a:r>
              <a:t>Multiple burn centers</a:t>
            </a:r>
            <a:br/>
            <a:r>
              <a:t>within 15 minutes</a:t>
            </a:r>
            <a:br/>
            <a:r>
              <a:t>50%+ of MN population</a:t>
            </a:r>
          </a:p>
        </p:txBody>
      </p:sp>
      <p:sp>
        <p:nvSpPr>
          <p:cNvPr id="10" name="Rounded Rectangle 9"/>
          <p:cNvSpPr/>
          <p:nvPr/>
        </p:nvSpPr>
        <p:spPr>
          <a:xfrm>
            <a:off x="8503920" y="3840480"/>
            <a:ext cx="3200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0" y="3977639"/>
            <a:ext cx="2834640" cy="320040"/>
          </a:xfrm>
          <a:prstGeom prst="rect">
            <a:avLst/>
          </a:prstGeom>
          <a:noFill/>
        </p:spPr>
        <p:txBody>
          <a:bodyPr wrap="square">
            <a:spAutoFit/>
          </a:bodyPr>
          <a:lstStyle/>
          <a:p>
            <a:pPr algn="l">
              <a:defRPr sz="1900" b="1">
                <a:solidFill>
                  <a:srgbClr val="D55E00"/>
                </a:solidFill>
                <a:latin typeface="Arial"/>
              </a:defRPr>
            </a:pPr>
            <a:r>
              <a:t>Northwest MN</a:t>
            </a:r>
          </a:p>
        </p:txBody>
      </p:sp>
      <p:sp>
        <p:nvSpPr>
          <p:cNvPr id="12" name="TextBox 11"/>
          <p:cNvSpPr txBox="1"/>
          <p:nvPr/>
        </p:nvSpPr>
        <p:spPr>
          <a:xfrm>
            <a:off x="8686800" y="4343400"/>
            <a:ext cx="2834640" cy="1645920"/>
          </a:xfrm>
          <a:prstGeom prst="rect">
            <a:avLst/>
          </a:prstGeom>
          <a:noFill/>
        </p:spPr>
        <p:txBody>
          <a:bodyPr wrap="square">
            <a:spAutoFit/>
          </a:bodyPr>
          <a:lstStyle/>
          <a:p>
            <a:pPr algn="l">
              <a:lnSpc>
                <a:spcPts val="2600"/>
              </a:lnSpc>
              <a:defRPr sz="1700" b="0">
                <a:solidFill>
                  <a:srgbClr val="F0F3F7"/>
                </a:solidFill>
                <a:latin typeface="Arial"/>
              </a:defRPr>
            </a:pPr>
            <a:r>
              <a:t>BEI: 90 -- 100</a:t>
            </a:r>
            <a:br/>
            <a:r>
              <a:t>No burn center for</a:t>
            </a:r>
            <a:br/>
            <a:r>
              <a:t>hundreds of miles</a:t>
            </a:r>
            <a:br/>
            <a:r>
              <a:t>8+ hour travel time</a:t>
            </a:r>
          </a:p>
        </p:txBody>
      </p:sp>
      <p:pic>
        <p:nvPicPr>
          <p:cNvPr id="16" name="Picture 15">
            <a:extLst>
              <a:ext uri="{FF2B5EF4-FFF2-40B4-BE49-F238E27FC236}">
                <a16:creationId xmlns:a16="http://schemas.microsoft.com/office/drawing/2014/main" id="{50928831-7EA3-D403-5A7B-167DDDBEDC2A}"/>
              </a:ext>
            </a:extLst>
          </p:cNvPr>
          <p:cNvPicPr>
            <a:picLocks noChangeAspect="1"/>
          </p:cNvPicPr>
          <p:nvPr/>
        </p:nvPicPr>
        <p:blipFill>
          <a:blip r:embed="rId3"/>
          <a:stretch>
            <a:fillRect/>
          </a:stretch>
        </p:blipFill>
        <p:spPr>
          <a:xfrm>
            <a:off x="640080" y="1188719"/>
            <a:ext cx="7493850" cy="5577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400" b="1">
                <a:solidFill>
                  <a:srgbClr val="F0F3F7"/>
                </a:solidFill>
                <a:latin typeface="Arial"/>
              </a:defRPr>
            </a:pPr>
            <a:r>
              <a:t>Minnesota County Stories</a:t>
            </a:r>
          </a:p>
        </p:txBody>
      </p:sp>
      <p:sp>
        <p:nvSpPr>
          <p:cNvPr id="3" name="TextBox 2"/>
          <p:cNvSpPr txBox="1"/>
          <p:nvPr/>
        </p:nvSpPr>
        <p:spPr>
          <a:xfrm>
            <a:off x="640080" y="777240"/>
            <a:ext cx="10972800" cy="320040"/>
          </a:xfrm>
          <a:prstGeom prst="rect">
            <a:avLst/>
          </a:prstGeom>
          <a:noFill/>
        </p:spPr>
        <p:txBody>
          <a:bodyPr wrap="square">
            <a:spAutoFit/>
          </a:bodyPr>
          <a:lstStyle/>
          <a:p>
            <a:pPr algn="l">
              <a:defRPr sz="2000" b="0">
                <a:solidFill>
                  <a:srgbClr val="9EADBD"/>
                </a:solidFill>
                <a:latin typeface="Arial"/>
              </a:defRPr>
            </a:pPr>
            <a:r>
              <a:t>Same state, vastly different realities</a:t>
            </a:r>
          </a:p>
        </p:txBody>
      </p:sp>
      <p:sp>
        <p:nvSpPr>
          <p:cNvPr id="4" name="Rounded Rectangle 3"/>
          <p:cNvSpPr/>
          <p:nvPr/>
        </p:nvSpPr>
        <p:spPr>
          <a:xfrm>
            <a:off x="45720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371600"/>
            <a:ext cx="3566160" cy="548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0200"/>
            <a:ext cx="3108960" cy="274320"/>
          </a:xfrm>
          <a:prstGeom prst="rect">
            <a:avLst/>
          </a:prstGeom>
          <a:noFill/>
        </p:spPr>
        <p:txBody>
          <a:bodyPr wrap="square">
            <a:spAutoFit/>
          </a:bodyPr>
          <a:lstStyle/>
          <a:p>
            <a:pPr algn="l">
              <a:defRPr sz="1500" b="1">
                <a:solidFill>
                  <a:srgbClr val="009E73"/>
                </a:solidFill>
                <a:latin typeface="Arial"/>
              </a:defRPr>
            </a:pPr>
            <a:r>
              <a:t>Best Access</a:t>
            </a:r>
          </a:p>
        </p:txBody>
      </p:sp>
      <p:sp>
        <p:nvSpPr>
          <p:cNvPr id="7" name="TextBox 6"/>
          <p:cNvSpPr txBox="1"/>
          <p:nvPr/>
        </p:nvSpPr>
        <p:spPr>
          <a:xfrm>
            <a:off x="685800" y="1920240"/>
            <a:ext cx="3108960" cy="411480"/>
          </a:xfrm>
          <a:prstGeom prst="rect">
            <a:avLst/>
          </a:prstGeom>
          <a:noFill/>
        </p:spPr>
        <p:txBody>
          <a:bodyPr wrap="square">
            <a:spAutoFit/>
          </a:bodyPr>
          <a:lstStyle/>
          <a:p>
            <a:pPr algn="l">
              <a:defRPr sz="2200" b="1">
                <a:solidFill>
                  <a:srgbClr val="F0F3F7"/>
                </a:solidFill>
                <a:latin typeface="Arial"/>
              </a:defRPr>
            </a:pPr>
            <a:r>
              <a:t>Hennepin County</a:t>
            </a:r>
          </a:p>
        </p:txBody>
      </p:sp>
      <p:sp>
        <p:nvSpPr>
          <p:cNvPr id="8" name="TextBox 7"/>
          <p:cNvSpPr txBox="1"/>
          <p:nvPr/>
        </p:nvSpPr>
        <p:spPr>
          <a:xfrm>
            <a:off x="685800" y="2331720"/>
            <a:ext cx="3108960" cy="274320"/>
          </a:xfrm>
          <a:prstGeom prst="rect">
            <a:avLst/>
          </a:prstGeom>
          <a:noFill/>
        </p:spPr>
        <p:txBody>
          <a:bodyPr wrap="square">
            <a:spAutoFit/>
          </a:bodyPr>
          <a:lstStyle/>
          <a:p>
            <a:pPr algn="l">
              <a:defRPr sz="1700" b="0">
                <a:solidFill>
                  <a:srgbClr val="9EADBD"/>
                </a:solidFill>
                <a:latin typeface="Arial"/>
              </a:defRPr>
            </a:pPr>
            <a:r>
              <a:t>Minneapolis</a:t>
            </a:r>
          </a:p>
        </p:txBody>
      </p:sp>
      <p:sp>
        <p:nvSpPr>
          <p:cNvPr id="9" name="TextBox 8"/>
          <p:cNvSpPr txBox="1"/>
          <p:nvPr/>
        </p:nvSpPr>
        <p:spPr>
          <a:xfrm>
            <a:off x="685800" y="2743200"/>
            <a:ext cx="3108960" cy="457200"/>
          </a:xfrm>
          <a:prstGeom prst="rect">
            <a:avLst/>
          </a:prstGeom>
          <a:noFill/>
        </p:spPr>
        <p:txBody>
          <a:bodyPr wrap="square">
            <a:spAutoFit/>
          </a:bodyPr>
          <a:lstStyle/>
          <a:p>
            <a:pPr algn="l">
              <a:defRPr sz="2600" b="1">
                <a:solidFill>
                  <a:srgbClr val="009E73"/>
                </a:solidFill>
                <a:latin typeface="Arial"/>
              </a:defRPr>
            </a:pPr>
            <a:r>
              <a:t>BEI: 0.0</a:t>
            </a:r>
          </a:p>
        </p:txBody>
      </p:sp>
      <p:sp>
        <p:nvSpPr>
          <p:cNvPr id="10" name="TextBox 9"/>
          <p:cNvSpPr txBox="1"/>
          <p:nvPr/>
        </p:nvSpPr>
        <p:spPr>
          <a:xfrm>
            <a:off x="685800" y="3474720"/>
            <a:ext cx="3108960" cy="2103120"/>
          </a:xfrm>
          <a:prstGeom prst="rect">
            <a:avLst/>
          </a:prstGeom>
          <a:noFill/>
        </p:spPr>
        <p:txBody>
          <a:bodyPr wrap="square">
            <a:spAutoFit/>
          </a:bodyPr>
          <a:lstStyle/>
          <a:p>
            <a:pPr algn="l">
              <a:lnSpc>
                <a:spcPts val="3000"/>
              </a:lnSpc>
              <a:defRPr sz="1700" b="0">
                <a:solidFill>
                  <a:srgbClr val="F0F3F7"/>
                </a:solidFill>
                <a:latin typeface="Arial"/>
              </a:defRPr>
            </a:pPr>
            <a:r>
              <a:t>10.6 min to burn center</a:t>
            </a:r>
            <a:br/>
            <a:r>
              <a:t>Direct access pathway</a:t>
            </a:r>
            <a:br/>
            <a:r>
              <a:t>All 4 pillars score 0.00</a:t>
            </a:r>
            <a:br/>
            <a:r>
              <a:t>Pop: 1.27 million</a:t>
            </a:r>
          </a:p>
        </p:txBody>
      </p:sp>
      <p:sp>
        <p:nvSpPr>
          <p:cNvPr id="11" name="Rounded Rectangle 10"/>
          <p:cNvSpPr/>
          <p:nvPr/>
        </p:nvSpPr>
        <p:spPr>
          <a:xfrm>
            <a:off x="425196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371600"/>
            <a:ext cx="3566160" cy="548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600200"/>
            <a:ext cx="3108960" cy="274320"/>
          </a:xfrm>
          <a:prstGeom prst="rect">
            <a:avLst/>
          </a:prstGeom>
          <a:noFill/>
        </p:spPr>
        <p:txBody>
          <a:bodyPr wrap="square">
            <a:spAutoFit/>
          </a:bodyPr>
          <a:lstStyle/>
          <a:p>
            <a:pPr algn="l">
              <a:defRPr sz="1500" b="1">
                <a:solidFill>
                  <a:srgbClr val="E69F00"/>
                </a:solidFill>
                <a:latin typeface="Arial"/>
              </a:defRPr>
            </a:pPr>
            <a:r>
              <a:t>Moderate Burden</a:t>
            </a:r>
          </a:p>
        </p:txBody>
      </p:sp>
      <p:sp>
        <p:nvSpPr>
          <p:cNvPr id="14" name="TextBox 13"/>
          <p:cNvSpPr txBox="1"/>
          <p:nvPr/>
        </p:nvSpPr>
        <p:spPr>
          <a:xfrm>
            <a:off x="4480560" y="1920240"/>
            <a:ext cx="3108960" cy="411480"/>
          </a:xfrm>
          <a:prstGeom prst="rect">
            <a:avLst/>
          </a:prstGeom>
          <a:noFill/>
        </p:spPr>
        <p:txBody>
          <a:bodyPr wrap="square">
            <a:spAutoFit/>
          </a:bodyPr>
          <a:lstStyle/>
          <a:p>
            <a:pPr algn="l">
              <a:defRPr sz="2200" b="1">
                <a:solidFill>
                  <a:srgbClr val="F0F3F7"/>
                </a:solidFill>
                <a:latin typeface="Arial"/>
              </a:defRPr>
            </a:pPr>
            <a:r>
              <a:t>Blue Earth County</a:t>
            </a:r>
          </a:p>
        </p:txBody>
      </p:sp>
      <p:sp>
        <p:nvSpPr>
          <p:cNvPr id="15" name="TextBox 14"/>
          <p:cNvSpPr txBox="1"/>
          <p:nvPr/>
        </p:nvSpPr>
        <p:spPr>
          <a:xfrm>
            <a:off x="4480560" y="2331720"/>
            <a:ext cx="3108960" cy="274320"/>
          </a:xfrm>
          <a:prstGeom prst="rect">
            <a:avLst/>
          </a:prstGeom>
          <a:noFill/>
        </p:spPr>
        <p:txBody>
          <a:bodyPr wrap="square">
            <a:spAutoFit/>
          </a:bodyPr>
          <a:lstStyle/>
          <a:p>
            <a:pPr algn="l">
              <a:defRPr sz="1700" b="0">
                <a:solidFill>
                  <a:srgbClr val="9EADBD"/>
                </a:solidFill>
                <a:latin typeface="Arial"/>
              </a:defRPr>
            </a:pPr>
            <a:r>
              <a:t>Mankato</a:t>
            </a:r>
          </a:p>
        </p:txBody>
      </p:sp>
      <p:sp>
        <p:nvSpPr>
          <p:cNvPr id="16" name="TextBox 15"/>
          <p:cNvSpPr txBox="1"/>
          <p:nvPr/>
        </p:nvSpPr>
        <p:spPr>
          <a:xfrm>
            <a:off x="4480560" y="2743200"/>
            <a:ext cx="3108960" cy="457200"/>
          </a:xfrm>
          <a:prstGeom prst="rect">
            <a:avLst/>
          </a:prstGeom>
          <a:noFill/>
        </p:spPr>
        <p:txBody>
          <a:bodyPr wrap="square">
            <a:spAutoFit/>
          </a:bodyPr>
          <a:lstStyle/>
          <a:p>
            <a:pPr algn="l">
              <a:defRPr sz="2600" b="1">
                <a:solidFill>
                  <a:srgbClr val="E69F00"/>
                </a:solidFill>
                <a:latin typeface="Arial"/>
              </a:defRPr>
            </a:pPr>
            <a:r>
              <a:t>BEI: 58.5</a:t>
            </a:r>
          </a:p>
        </p:txBody>
      </p:sp>
      <p:sp>
        <p:nvSpPr>
          <p:cNvPr id="17" name="TextBox 16"/>
          <p:cNvSpPr txBox="1"/>
          <p:nvPr/>
        </p:nvSpPr>
        <p:spPr>
          <a:xfrm>
            <a:off x="4480560" y="3474720"/>
            <a:ext cx="3108960" cy="2103120"/>
          </a:xfrm>
          <a:prstGeom prst="rect">
            <a:avLst/>
          </a:prstGeom>
          <a:noFill/>
        </p:spPr>
        <p:txBody>
          <a:bodyPr wrap="square">
            <a:spAutoFit/>
          </a:bodyPr>
          <a:lstStyle/>
          <a:p>
            <a:pPr algn="l">
              <a:lnSpc>
                <a:spcPts val="3000"/>
              </a:lnSpc>
              <a:defRPr sz="1700" b="0">
                <a:solidFill>
                  <a:srgbClr val="F0F3F7"/>
                </a:solidFill>
                <a:latin typeface="Arial"/>
              </a:defRPr>
            </a:pPr>
            <a:r>
              <a:t>88 min to burn center</a:t>
            </a:r>
            <a:br/>
            <a:r>
              <a:t>S: 1.00  T: 0.14  C: 1.00</a:t>
            </a:r>
            <a:br/>
            <a:r>
              <a:t>Supply &amp; capacity gaps</a:t>
            </a:r>
            <a:br/>
            <a:r>
              <a:t>Pop: 69,022</a:t>
            </a:r>
          </a:p>
        </p:txBody>
      </p:sp>
      <p:sp>
        <p:nvSpPr>
          <p:cNvPr id="18" name="Rounded Rectangle 17"/>
          <p:cNvSpPr/>
          <p:nvPr/>
        </p:nvSpPr>
        <p:spPr>
          <a:xfrm>
            <a:off x="8046720" y="1371600"/>
            <a:ext cx="3566160" cy="49377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1371600"/>
            <a:ext cx="3566160" cy="548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600200"/>
            <a:ext cx="3108960" cy="274320"/>
          </a:xfrm>
          <a:prstGeom prst="rect">
            <a:avLst/>
          </a:prstGeom>
          <a:noFill/>
        </p:spPr>
        <p:txBody>
          <a:bodyPr wrap="square">
            <a:spAutoFit/>
          </a:bodyPr>
          <a:lstStyle/>
          <a:p>
            <a:pPr algn="l">
              <a:defRPr sz="1500" b="1">
                <a:solidFill>
                  <a:srgbClr val="D55E00"/>
                </a:solidFill>
                <a:latin typeface="Arial"/>
              </a:defRPr>
            </a:pPr>
            <a:r>
              <a:t>Severe Burden</a:t>
            </a:r>
          </a:p>
        </p:txBody>
      </p:sp>
      <p:sp>
        <p:nvSpPr>
          <p:cNvPr id="21" name="TextBox 20"/>
          <p:cNvSpPr txBox="1"/>
          <p:nvPr/>
        </p:nvSpPr>
        <p:spPr>
          <a:xfrm>
            <a:off x="8275320" y="1920240"/>
            <a:ext cx="3108960" cy="411480"/>
          </a:xfrm>
          <a:prstGeom prst="rect">
            <a:avLst/>
          </a:prstGeom>
          <a:noFill/>
        </p:spPr>
        <p:txBody>
          <a:bodyPr wrap="square">
            <a:spAutoFit/>
          </a:bodyPr>
          <a:lstStyle/>
          <a:p>
            <a:pPr algn="l">
              <a:defRPr sz="2200" b="1">
                <a:solidFill>
                  <a:srgbClr val="F0F3F7"/>
                </a:solidFill>
                <a:latin typeface="Arial"/>
              </a:defRPr>
            </a:pPr>
            <a:r>
              <a:t>Beltrami County</a:t>
            </a:r>
          </a:p>
        </p:txBody>
      </p:sp>
      <p:sp>
        <p:nvSpPr>
          <p:cNvPr id="22" name="TextBox 21"/>
          <p:cNvSpPr txBox="1"/>
          <p:nvPr/>
        </p:nvSpPr>
        <p:spPr>
          <a:xfrm>
            <a:off x="8275320" y="2331720"/>
            <a:ext cx="3108960" cy="274320"/>
          </a:xfrm>
          <a:prstGeom prst="rect">
            <a:avLst/>
          </a:prstGeom>
          <a:noFill/>
        </p:spPr>
        <p:txBody>
          <a:bodyPr wrap="square">
            <a:spAutoFit/>
          </a:bodyPr>
          <a:lstStyle/>
          <a:p>
            <a:pPr algn="l">
              <a:defRPr sz="1700" b="0">
                <a:solidFill>
                  <a:srgbClr val="9EADBD"/>
                </a:solidFill>
                <a:latin typeface="Arial"/>
              </a:defRPr>
            </a:pPr>
            <a:r>
              <a:t>Bemidji</a:t>
            </a:r>
          </a:p>
        </p:txBody>
      </p:sp>
      <p:sp>
        <p:nvSpPr>
          <p:cNvPr id="23" name="TextBox 22"/>
          <p:cNvSpPr txBox="1"/>
          <p:nvPr/>
        </p:nvSpPr>
        <p:spPr>
          <a:xfrm>
            <a:off x="8275320" y="2743200"/>
            <a:ext cx="3108960" cy="457200"/>
          </a:xfrm>
          <a:prstGeom prst="rect">
            <a:avLst/>
          </a:prstGeom>
          <a:noFill/>
        </p:spPr>
        <p:txBody>
          <a:bodyPr wrap="square">
            <a:spAutoFit/>
          </a:bodyPr>
          <a:lstStyle/>
          <a:p>
            <a:pPr algn="l">
              <a:defRPr sz="2600" b="1">
                <a:solidFill>
                  <a:srgbClr val="D55E00"/>
                </a:solidFill>
                <a:latin typeface="Arial"/>
              </a:defRPr>
            </a:pPr>
            <a:r>
              <a:t>BEI: 90.4</a:t>
            </a:r>
          </a:p>
        </p:txBody>
      </p:sp>
      <p:sp>
        <p:nvSpPr>
          <p:cNvPr id="24" name="TextBox 23"/>
          <p:cNvSpPr txBox="1"/>
          <p:nvPr/>
        </p:nvSpPr>
        <p:spPr>
          <a:xfrm>
            <a:off x="8275320" y="3474720"/>
            <a:ext cx="3108960" cy="2103120"/>
          </a:xfrm>
          <a:prstGeom prst="rect">
            <a:avLst/>
          </a:prstGeom>
          <a:noFill/>
        </p:spPr>
        <p:txBody>
          <a:bodyPr wrap="square">
            <a:spAutoFit/>
          </a:bodyPr>
          <a:lstStyle/>
          <a:p>
            <a:pPr algn="l">
              <a:lnSpc>
                <a:spcPts val="3000"/>
              </a:lnSpc>
              <a:defRPr sz="1700" b="0">
                <a:solidFill>
                  <a:srgbClr val="F0F3F7"/>
                </a:solidFill>
                <a:latin typeface="Arial"/>
              </a:defRPr>
            </a:pPr>
            <a:r>
              <a:rPr dirty="0"/>
              <a:t>8+ hrs to burn center</a:t>
            </a:r>
            <a:br>
              <a:rPr dirty="0"/>
            </a:br>
            <a:r>
              <a:rPr dirty="0"/>
              <a:t>Transfer pathway only</a:t>
            </a:r>
            <a:br>
              <a:rPr dirty="0"/>
            </a:br>
            <a:r>
              <a:rPr dirty="0"/>
              <a:t>S, T, and C all maxed</a:t>
            </a:r>
            <a:br>
              <a:rPr dirty="0"/>
            </a:br>
            <a:r>
              <a:rPr dirty="0"/>
              <a:t>Pop: 46,274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400" b="1">
                <a:solidFill>
                  <a:srgbClr val="F0F3F7"/>
                </a:solidFill>
                <a:latin typeface="Arial"/>
              </a:defRPr>
            </a:pPr>
            <a:r>
              <a:rPr dirty="0"/>
              <a:t>The Rural–Urban Divide</a:t>
            </a:r>
          </a:p>
        </p:txBody>
      </p:sp>
      <p:sp>
        <p:nvSpPr>
          <p:cNvPr id="6" name="Rounded Rectangle 5"/>
          <p:cNvSpPr/>
          <p:nvPr/>
        </p:nvSpPr>
        <p:spPr>
          <a:xfrm>
            <a:off x="8138161" y="1079395"/>
            <a:ext cx="3868125" cy="1643073"/>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08283" y="1216555"/>
            <a:ext cx="3423684" cy="400110"/>
          </a:xfrm>
          <a:prstGeom prst="rect">
            <a:avLst/>
          </a:prstGeom>
          <a:noFill/>
        </p:spPr>
        <p:txBody>
          <a:bodyPr wrap="square">
            <a:spAutoFit/>
          </a:bodyPr>
          <a:lstStyle/>
          <a:p>
            <a:pPr algn="l">
              <a:defRPr sz="2000" b="1">
                <a:solidFill>
                  <a:srgbClr val="F0F3F7"/>
                </a:solidFill>
                <a:latin typeface="Arial"/>
              </a:defRPr>
            </a:pPr>
            <a:r>
              <a:rPr dirty="0"/>
              <a:t>Median Travel Time</a:t>
            </a:r>
          </a:p>
        </p:txBody>
      </p:sp>
      <p:sp>
        <p:nvSpPr>
          <p:cNvPr id="8" name="TextBox 7"/>
          <p:cNvSpPr txBox="1"/>
          <p:nvPr/>
        </p:nvSpPr>
        <p:spPr>
          <a:xfrm>
            <a:off x="8308283" y="1689894"/>
            <a:ext cx="1960645" cy="365760"/>
          </a:xfrm>
          <a:prstGeom prst="rect">
            <a:avLst/>
          </a:prstGeom>
          <a:noFill/>
        </p:spPr>
        <p:txBody>
          <a:bodyPr wrap="square">
            <a:spAutoFit/>
          </a:bodyPr>
          <a:lstStyle/>
          <a:p>
            <a:pPr algn="l">
              <a:defRPr sz="1800" b="0">
                <a:solidFill>
                  <a:srgbClr val="9EADBD"/>
                </a:solidFill>
                <a:latin typeface="Arial"/>
              </a:defRPr>
            </a:pPr>
            <a:r>
              <a:rPr dirty="0"/>
              <a:t>Urban:</a:t>
            </a:r>
          </a:p>
        </p:txBody>
      </p:sp>
      <p:sp>
        <p:nvSpPr>
          <p:cNvPr id="9" name="TextBox 8"/>
          <p:cNvSpPr txBox="1"/>
          <p:nvPr/>
        </p:nvSpPr>
        <p:spPr>
          <a:xfrm>
            <a:off x="9628847" y="1673755"/>
            <a:ext cx="2103120" cy="365760"/>
          </a:xfrm>
          <a:prstGeom prst="rect">
            <a:avLst/>
          </a:prstGeom>
          <a:noFill/>
        </p:spPr>
        <p:txBody>
          <a:bodyPr wrap="square">
            <a:spAutoFit/>
          </a:bodyPr>
          <a:lstStyle/>
          <a:p>
            <a:pPr algn="l">
              <a:defRPr sz="2200" b="1">
                <a:solidFill>
                  <a:srgbClr val="009E73"/>
                </a:solidFill>
                <a:latin typeface="Arial"/>
              </a:defRPr>
            </a:pPr>
            <a:r>
              <a:t>19 min</a:t>
            </a:r>
          </a:p>
        </p:txBody>
      </p:sp>
      <p:sp>
        <p:nvSpPr>
          <p:cNvPr id="10" name="TextBox 9"/>
          <p:cNvSpPr txBox="1"/>
          <p:nvPr/>
        </p:nvSpPr>
        <p:spPr>
          <a:xfrm>
            <a:off x="8308283" y="2147094"/>
            <a:ext cx="1960645" cy="365760"/>
          </a:xfrm>
          <a:prstGeom prst="rect">
            <a:avLst/>
          </a:prstGeom>
          <a:noFill/>
        </p:spPr>
        <p:txBody>
          <a:bodyPr wrap="square">
            <a:spAutoFit/>
          </a:bodyPr>
          <a:lstStyle/>
          <a:p>
            <a:pPr algn="l">
              <a:defRPr sz="1800" b="0">
                <a:solidFill>
                  <a:srgbClr val="9EADBD"/>
                </a:solidFill>
                <a:latin typeface="Arial"/>
              </a:defRPr>
            </a:pPr>
            <a:r>
              <a:rPr dirty="0"/>
              <a:t>Rural:</a:t>
            </a:r>
          </a:p>
        </p:txBody>
      </p:sp>
      <p:sp>
        <p:nvSpPr>
          <p:cNvPr id="11" name="TextBox 10"/>
          <p:cNvSpPr txBox="1"/>
          <p:nvPr/>
        </p:nvSpPr>
        <p:spPr>
          <a:xfrm>
            <a:off x="9628847" y="2130955"/>
            <a:ext cx="2103120" cy="365760"/>
          </a:xfrm>
          <a:prstGeom prst="rect">
            <a:avLst/>
          </a:prstGeom>
          <a:noFill/>
        </p:spPr>
        <p:txBody>
          <a:bodyPr wrap="square">
            <a:spAutoFit/>
          </a:bodyPr>
          <a:lstStyle/>
          <a:p>
            <a:pPr algn="l">
              <a:defRPr sz="2200" b="1">
                <a:solidFill>
                  <a:srgbClr val="D55E00"/>
                </a:solidFill>
                <a:latin typeface="Arial"/>
              </a:defRPr>
            </a:pPr>
            <a:r>
              <a:t>124 min</a:t>
            </a:r>
          </a:p>
        </p:txBody>
      </p:sp>
      <p:sp>
        <p:nvSpPr>
          <p:cNvPr id="12" name="Rounded Rectangle 11"/>
          <p:cNvSpPr/>
          <p:nvPr/>
        </p:nvSpPr>
        <p:spPr>
          <a:xfrm>
            <a:off x="8138161" y="3018090"/>
            <a:ext cx="3868126" cy="1536025"/>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08283" y="3200702"/>
            <a:ext cx="3423683" cy="492443"/>
          </a:xfrm>
          <a:prstGeom prst="rect">
            <a:avLst/>
          </a:prstGeom>
          <a:noFill/>
        </p:spPr>
        <p:txBody>
          <a:bodyPr wrap="square">
            <a:spAutoFit/>
          </a:bodyPr>
          <a:lstStyle/>
          <a:p>
            <a:pPr algn="l">
              <a:defRPr sz="2600" b="1">
                <a:solidFill>
                  <a:srgbClr val="D55E00"/>
                </a:solidFill>
                <a:latin typeface="Arial"/>
              </a:defRPr>
            </a:pPr>
            <a:r>
              <a:rPr sz="2400" dirty="0"/>
              <a:t>6.5x</a:t>
            </a:r>
            <a:r>
              <a:rPr dirty="0"/>
              <a:t> </a:t>
            </a:r>
            <a:r>
              <a:rPr sz="2400" dirty="0"/>
              <a:t>Longer</a:t>
            </a:r>
            <a:endParaRPr dirty="0"/>
          </a:p>
        </p:txBody>
      </p:sp>
      <p:sp>
        <p:nvSpPr>
          <p:cNvPr id="14" name="TextBox 13"/>
          <p:cNvSpPr txBox="1"/>
          <p:nvPr/>
        </p:nvSpPr>
        <p:spPr>
          <a:xfrm>
            <a:off x="8308283" y="3624564"/>
            <a:ext cx="3698004" cy="728405"/>
          </a:xfrm>
          <a:prstGeom prst="rect">
            <a:avLst/>
          </a:prstGeom>
          <a:noFill/>
        </p:spPr>
        <p:txBody>
          <a:bodyPr wrap="square">
            <a:spAutoFit/>
          </a:bodyPr>
          <a:lstStyle/>
          <a:p>
            <a:pPr algn="l">
              <a:lnSpc>
                <a:spcPts val="2600"/>
              </a:lnSpc>
              <a:defRPr sz="1800" b="0">
                <a:solidFill>
                  <a:srgbClr val="F0F3F7"/>
                </a:solidFill>
                <a:latin typeface="Arial"/>
              </a:defRPr>
            </a:pPr>
            <a:r>
              <a:rPr dirty="0"/>
              <a:t>Rural residents travel 6.5 times</a:t>
            </a:r>
            <a:br>
              <a:rPr dirty="0"/>
            </a:br>
            <a:r>
              <a:rPr dirty="0"/>
              <a:t>farther to reach burn care.</a:t>
            </a:r>
          </a:p>
        </p:txBody>
      </p:sp>
      <p:sp>
        <p:nvSpPr>
          <p:cNvPr id="15" name="Rounded Rectangle 14"/>
          <p:cNvSpPr/>
          <p:nvPr/>
        </p:nvSpPr>
        <p:spPr>
          <a:xfrm>
            <a:off x="8138161" y="4828435"/>
            <a:ext cx="3868126" cy="1280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08283" y="4874155"/>
            <a:ext cx="3423684" cy="1132361"/>
          </a:xfrm>
          <a:prstGeom prst="rect">
            <a:avLst/>
          </a:prstGeom>
          <a:noFill/>
        </p:spPr>
        <p:txBody>
          <a:bodyPr wrap="square">
            <a:spAutoFit/>
          </a:bodyPr>
          <a:lstStyle/>
          <a:p>
            <a:pPr algn="l">
              <a:lnSpc>
                <a:spcPts val="2800"/>
              </a:lnSpc>
              <a:defRPr sz="1800" b="0">
                <a:solidFill>
                  <a:srgbClr val="9EADBD"/>
                </a:solidFill>
                <a:latin typeface="Arial"/>
              </a:defRPr>
            </a:pPr>
            <a:r>
              <a:rPr dirty="0">
                <a:solidFill>
                  <a:schemeClr val="bg1"/>
                </a:solidFill>
              </a:rPr>
              <a:t>30.5% of MN tracts are rural</a:t>
            </a:r>
            <a:r>
              <a:rPr lang="en-US" dirty="0">
                <a:solidFill>
                  <a:schemeClr val="bg1"/>
                </a:solidFill>
              </a:rPr>
              <a:t>. </a:t>
            </a:r>
            <a:r>
              <a:rPr dirty="0">
                <a:solidFill>
                  <a:schemeClr val="bg1"/>
                </a:solidFill>
              </a:rPr>
              <a:t>Only</a:t>
            </a:r>
            <a:r>
              <a:rPr lang="en-US" dirty="0">
                <a:solidFill>
                  <a:schemeClr val="bg1"/>
                </a:solidFill>
              </a:rPr>
              <a:t> </a:t>
            </a:r>
            <a:r>
              <a:rPr dirty="0">
                <a:solidFill>
                  <a:schemeClr val="bg1"/>
                </a:solidFill>
              </a:rPr>
              <a:t>50.1% of Minnesotans</a:t>
            </a:r>
            <a:r>
              <a:rPr lang="en-US" dirty="0">
                <a:solidFill>
                  <a:schemeClr val="bg1"/>
                </a:solidFill>
              </a:rPr>
              <a:t> </a:t>
            </a:r>
            <a:r>
              <a:rPr dirty="0">
                <a:solidFill>
                  <a:schemeClr val="bg1"/>
                </a:solidFill>
              </a:rPr>
              <a:t>can reach care in 30 min</a:t>
            </a:r>
          </a:p>
        </p:txBody>
      </p:sp>
      <p:pic>
        <p:nvPicPr>
          <p:cNvPr id="18" name="Picture 17">
            <a:extLst>
              <a:ext uri="{FF2B5EF4-FFF2-40B4-BE49-F238E27FC236}">
                <a16:creationId xmlns:a16="http://schemas.microsoft.com/office/drawing/2014/main" id="{599FC395-C8F4-AA0C-CFFB-B18A5DC4A0D6}"/>
              </a:ext>
            </a:extLst>
          </p:cNvPr>
          <p:cNvPicPr>
            <a:picLocks noChangeAspect="1"/>
          </p:cNvPicPr>
          <p:nvPr/>
        </p:nvPicPr>
        <p:blipFill>
          <a:blip r:embed="rId3"/>
          <a:srcRect t="9934" r="33924"/>
          <a:stretch>
            <a:fillRect/>
          </a:stretch>
        </p:blipFill>
        <p:spPr>
          <a:xfrm>
            <a:off x="420437" y="1079395"/>
            <a:ext cx="7509126" cy="5029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400" b="1">
                <a:solidFill>
                  <a:srgbClr val="F0F3F7"/>
                </a:solidFill>
                <a:latin typeface="Arial"/>
              </a:defRPr>
            </a:pPr>
            <a:r>
              <a:t>National: County-Level BEI Map</a:t>
            </a:r>
          </a:p>
        </p:txBody>
      </p:sp>
      <p:sp>
        <p:nvSpPr>
          <p:cNvPr id="3" name="TextBox 2"/>
          <p:cNvSpPr txBox="1"/>
          <p:nvPr/>
        </p:nvSpPr>
        <p:spPr>
          <a:xfrm>
            <a:off x="640080" y="777240"/>
            <a:ext cx="10972800" cy="320040"/>
          </a:xfrm>
          <a:prstGeom prst="rect">
            <a:avLst/>
          </a:prstGeom>
          <a:noFill/>
        </p:spPr>
        <p:txBody>
          <a:bodyPr wrap="square">
            <a:spAutoFit/>
          </a:bodyPr>
          <a:lstStyle/>
          <a:p>
            <a:pPr algn="l">
              <a:defRPr sz="1800" b="0">
                <a:solidFill>
                  <a:srgbClr val="9EADBD"/>
                </a:solidFill>
                <a:latin typeface="Arial"/>
              </a:defRPr>
            </a:pPr>
            <a:r>
              <a:t>3,144 counties  |  331 million Americans  |  Interactive Dashboard</a:t>
            </a:r>
          </a:p>
        </p:txBody>
      </p:sp>
      <p:sp>
        <p:nvSpPr>
          <p:cNvPr id="7" name="Rounded Rectangle 6"/>
          <p:cNvSpPr/>
          <p:nvPr/>
        </p:nvSpPr>
        <p:spPr>
          <a:xfrm>
            <a:off x="8503920" y="1280160"/>
            <a:ext cx="3200400" cy="15544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0" y="1371600"/>
            <a:ext cx="2834640" cy="320040"/>
          </a:xfrm>
          <a:prstGeom prst="rect">
            <a:avLst/>
          </a:prstGeom>
          <a:noFill/>
        </p:spPr>
        <p:txBody>
          <a:bodyPr wrap="square">
            <a:spAutoFit/>
          </a:bodyPr>
          <a:lstStyle/>
          <a:p>
            <a:pPr algn="l">
              <a:defRPr sz="1700" b="1">
                <a:solidFill>
                  <a:srgbClr val="D55E00"/>
                </a:solidFill>
                <a:latin typeface="Arial"/>
              </a:defRPr>
            </a:pPr>
            <a:r>
              <a:t>Worst States (Avg BEI)</a:t>
            </a:r>
          </a:p>
        </p:txBody>
      </p:sp>
      <p:sp>
        <p:nvSpPr>
          <p:cNvPr id="9" name="TextBox 8"/>
          <p:cNvSpPr txBox="1"/>
          <p:nvPr/>
        </p:nvSpPr>
        <p:spPr>
          <a:xfrm>
            <a:off x="8686800" y="1737360"/>
            <a:ext cx="2834640" cy="914400"/>
          </a:xfrm>
          <a:prstGeom prst="rect">
            <a:avLst/>
          </a:prstGeom>
          <a:noFill/>
        </p:spPr>
        <p:txBody>
          <a:bodyPr wrap="square">
            <a:spAutoFit/>
          </a:bodyPr>
          <a:lstStyle/>
          <a:p>
            <a:pPr algn="l">
              <a:lnSpc>
                <a:spcPts val="2400"/>
              </a:lnSpc>
              <a:defRPr sz="1600" b="0">
                <a:solidFill>
                  <a:srgbClr val="F0F3F7"/>
                </a:solidFill>
                <a:latin typeface="Arial"/>
              </a:defRPr>
            </a:pPr>
            <a:r>
              <a:t>AK: 99.7   ND: 99.0</a:t>
            </a:r>
            <a:br/>
            <a:r>
              <a:t>MT: 96.5   SD: 96.4</a:t>
            </a:r>
            <a:br/>
            <a:r>
              <a:t>WY: 83.4   NV: 83.3</a:t>
            </a:r>
          </a:p>
        </p:txBody>
      </p:sp>
      <p:sp>
        <p:nvSpPr>
          <p:cNvPr id="10" name="Rounded Rectangle 9"/>
          <p:cNvSpPr/>
          <p:nvPr/>
        </p:nvSpPr>
        <p:spPr>
          <a:xfrm>
            <a:off x="8503920" y="3017520"/>
            <a:ext cx="3200400" cy="128016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0" y="3108960"/>
            <a:ext cx="2834640" cy="320040"/>
          </a:xfrm>
          <a:prstGeom prst="rect">
            <a:avLst/>
          </a:prstGeom>
          <a:noFill/>
        </p:spPr>
        <p:txBody>
          <a:bodyPr wrap="square">
            <a:spAutoFit/>
          </a:bodyPr>
          <a:lstStyle/>
          <a:p>
            <a:pPr algn="l">
              <a:defRPr sz="1700" b="1">
                <a:solidFill>
                  <a:srgbClr val="009E73"/>
                </a:solidFill>
                <a:latin typeface="Arial"/>
              </a:defRPr>
            </a:pPr>
            <a:r>
              <a:t>Best States (Avg BEI)</a:t>
            </a:r>
          </a:p>
        </p:txBody>
      </p:sp>
      <p:sp>
        <p:nvSpPr>
          <p:cNvPr id="12" name="TextBox 11"/>
          <p:cNvSpPr txBox="1"/>
          <p:nvPr/>
        </p:nvSpPr>
        <p:spPr>
          <a:xfrm>
            <a:off x="8686800" y="3474720"/>
            <a:ext cx="2834640" cy="640080"/>
          </a:xfrm>
          <a:prstGeom prst="rect">
            <a:avLst/>
          </a:prstGeom>
          <a:noFill/>
        </p:spPr>
        <p:txBody>
          <a:bodyPr wrap="square">
            <a:spAutoFit/>
          </a:bodyPr>
          <a:lstStyle/>
          <a:p>
            <a:pPr algn="l">
              <a:lnSpc>
                <a:spcPts val="2400"/>
              </a:lnSpc>
              <a:defRPr sz="1600" b="0">
                <a:solidFill>
                  <a:srgbClr val="F0F3F7"/>
                </a:solidFill>
                <a:latin typeface="Arial"/>
              </a:defRPr>
            </a:pPr>
            <a:r>
              <a:t>NJ: 10.0   RI: 29.5</a:t>
            </a:r>
            <a:br/>
            <a:r>
              <a:t>MD: 29.8   MA: 31.0</a:t>
            </a:r>
          </a:p>
        </p:txBody>
      </p:sp>
      <p:sp>
        <p:nvSpPr>
          <p:cNvPr id="13" name="Rounded Rectangle 12"/>
          <p:cNvSpPr/>
          <p:nvPr/>
        </p:nvSpPr>
        <p:spPr>
          <a:xfrm>
            <a:off x="8503920" y="4480560"/>
            <a:ext cx="3200400" cy="18288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0" y="4572000"/>
            <a:ext cx="2834640" cy="320040"/>
          </a:xfrm>
          <a:prstGeom prst="rect">
            <a:avLst/>
          </a:prstGeom>
          <a:noFill/>
        </p:spPr>
        <p:txBody>
          <a:bodyPr wrap="square">
            <a:spAutoFit/>
          </a:bodyPr>
          <a:lstStyle/>
          <a:p>
            <a:pPr algn="l">
              <a:lnSpc>
                <a:spcPts val="2000"/>
              </a:lnSpc>
              <a:defRPr sz="1700" b="1">
                <a:solidFill>
                  <a:srgbClr val="E69F00"/>
                </a:solidFill>
                <a:latin typeface="Arial"/>
              </a:defRPr>
            </a:pPr>
            <a:r>
              <a:t>8 States -- Zero Burn</a:t>
            </a:r>
            <a:br/>
            <a:r>
              <a:t>Centers</a:t>
            </a:r>
          </a:p>
        </p:txBody>
      </p:sp>
      <p:sp>
        <p:nvSpPr>
          <p:cNvPr id="15" name="TextBox 14"/>
          <p:cNvSpPr txBox="1"/>
          <p:nvPr/>
        </p:nvSpPr>
        <p:spPr>
          <a:xfrm>
            <a:off x="8686800" y="5074920"/>
            <a:ext cx="2834640" cy="914400"/>
          </a:xfrm>
          <a:prstGeom prst="rect">
            <a:avLst/>
          </a:prstGeom>
          <a:noFill/>
        </p:spPr>
        <p:txBody>
          <a:bodyPr wrap="square">
            <a:spAutoFit/>
          </a:bodyPr>
          <a:lstStyle/>
          <a:p>
            <a:pPr algn="l">
              <a:lnSpc>
                <a:spcPts val="2400"/>
              </a:lnSpc>
              <a:defRPr sz="1600" b="0">
                <a:solidFill>
                  <a:srgbClr val="F0F3F7"/>
                </a:solidFill>
                <a:latin typeface="Arial"/>
              </a:defRPr>
            </a:pPr>
            <a:r>
              <a:t>AK, DE, MS, MT,</a:t>
            </a:r>
            <a:br/>
            <a:r>
              <a:t>ND, NH, SD, WY</a:t>
            </a:r>
          </a:p>
        </p:txBody>
      </p:sp>
      <p:pic>
        <p:nvPicPr>
          <p:cNvPr id="17" name="Picture 16">
            <a:extLst>
              <a:ext uri="{FF2B5EF4-FFF2-40B4-BE49-F238E27FC236}">
                <a16:creationId xmlns:a16="http://schemas.microsoft.com/office/drawing/2014/main" id="{7B7FB09C-4525-EAA5-2A99-040438C2CDF1}"/>
              </a:ext>
            </a:extLst>
          </p:cNvPr>
          <p:cNvPicPr>
            <a:picLocks noChangeAspect="1"/>
          </p:cNvPicPr>
          <p:nvPr/>
        </p:nvPicPr>
        <p:blipFill>
          <a:blip r:embed="rId3"/>
          <a:srcRect r="31374"/>
          <a:stretch>
            <a:fillRect/>
          </a:stretch>
        </p:blipFill>
        <p:spPr>
          <a:xfrm>
            <a:off x="217519" y="1280159"/>
            <a:ext cx="7968133" cy="5141905"/>
          </a:xfrm>
          <a:prstGeom prst="rect">
            <a:avLst/>
          </a:prstGeom>
        </p:spPr>
      </p:pic>
      <p:pic>
        <p:nvPicPr>
          <p:cNvPr id="19" name="Picture 18">
            <a:extLst>
              <a:ext uri="{FF2B5EF4-FFF2-40B4-BE49-F238E27FC236}">
                <a16:creationId xmlns:a16="http://schemas.microsoft.com/office/drawing/2014/main" id="{FF84CD32-0C82-4D62-01F3-1A3B0EC6EAA7}"/>
              </a:ext>
            </a:extLst>
          </p:cNvPr>
          <p:cNvPicPr>
            <a:picLocks noChangeAspect="1"/>
          </p:cNvPicPr>
          <p:nvPr/>
        </p:nvPicPr>
        <p:blipFill>
          <a:blip r:embed="rId4"/>
          <a:stretch>
            <a:fillRect/>
          </a:stretch>
        </p:blipFill>
        <p:spPr>
          <a:xfrm>
            <a:off x="217519" y="5474898"/>
            <a:ext cx="3753374" cy="10288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a:extLst>
            <a:ext uri="{FF2B5EF4-FFF2-40B4-BE49-F238E27FC236}">
              <a16:creationId xmlns:a16="http://schemas.microsoft.com/office/drawing/2014/main" id="{3F35CE9D-610F-6FBE-D41C-129DAD4BCB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ACE990-FC32-6785-CE87-A1C5D908CF7E}"/>
              </a:ext>
            </a:extLst>
          </p:cNvPr>
          <p:cNvSpPr txBox="1"/>
          <p:nvPr/>
        </p:nvSpPr>
        <p:spPr>
          <a:xfrm>
            <a:off x="640080" y="274320"/>
            <a:ext cx="10972800" cy="615553"/>
          </a:xfrm>
          <a:prstGeom prst="rect">
            <a:avLst/>
          </a:prstGeom>
          <a:noFill/>
        </p:spPr>
        <p:txBody>
          <a:bodyPr wrap="square">
            <a:spAutoFit/>
          </a:bodyPr>
          <a:lstStyle/>
          <a:p>
            <a:pPr>
              <a:defRPr sz="3400" b="1">
                <a:solidFill>
                  <a:srgbClr val="F0F3F7"/>
                </a:solidFill>
                <a:latin typeface="Arial"/>
              </a:defRPr>
            </a:pPr>
            <a:r>
              <a:rPr lang="en-US" dirty="0"/>
              <a:t>Coverage Gaps</a:t>
            </a:r>
            <a:endParaRPr dirty="0"/>
          </a:p>
        </p:txBody>
      </p:sp>
      <p:pic>
        <p:nvPicPr>
          <p:cNvPr id="6" name="Picture 5">
            <a:extLst>
              <a:ext uri="{FF2B5EF4-FFF2-40B4-BE49-F238E27FC236}">
                <a16:creationId xmlns:a16="http://schemas.microsoft.com/office/drawing/2014/main" id="{EBE9B7E7-3017-139F-FEB6-101DBB2E7815}"/>
              </a:ext>
            </a:extLst>
          </p:cNvPr>
          <p:cNvPicPr>
            <a:picLocks noChangeAspect="1"/>
          </p:cNvPicPr>
          <p:nvPr/>
        </p:nvPicPr>
        <p:blipFill>
          <a:blip r:embed="rId3"/>
          <a:stretch>
            <a:fillRect/>
          </a:stretch>
        </p:blipFill>
        <p:spPr>
          <a:xfrm>
            <a:off x="1081385" y="1105787"/>
            <a:ext cx="10029229" cy="4974988"/>
          </a:xfrm>
          <a:prstGeom prst="rect">
            <a:avLst/>
          </a:prstGeom>
        </p:spPr>
      </p:pic>
      <p:cxnSp>
        <p:nvCxnSpPr>
          <p:cNvPr id="9" name="Straight Connector 8">
            <a:extLst>
              <a:ext uri="{FF2B5EF4-FFF2-40B4-BE49-F238E27FC236}">
                <a16:creationId xmlns:a16="http://schemas.microsoft.com/office/drawing/2014/main" id="{4A728440-1BE1-17F0-93BA-56616BC78DAB}"/>
              </a:ext>
            </a:extLst>
          </p:cNvPr>
          <p:cNvCxnSpPr/>
          <p:nvPr/>
        </p:nvCxnSpPr>
        <p:spPr>
          <a:xfrm>
            <a:off x="1648047" y="2966484"/>
            <a:ext cx="838908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0" name="Straight Connector 9">
            <a:extLst>
              <a:ext uri="{FF2B5EF4-FFF2-40B4-BE49-F238E27FC236}">
                <a16:creationId xmlns:a16="http://schemas.microsoft.com/office/drawing/2014/main" id="{57B19B4D-D8A7-3D74-D828-312EFD7C337C}"/>
              </a:ext>
            </a:extLst>
          </p:cNvPr>
          <p:cNvCxnSpPr/>
          <p:nvPr/>
        </p:nvCxnSpPr>
        <p:spPr>
          <a:xfrm>
            <a:off x="1648047" y="1640958"/>
            <a:ext cx="8389088"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1" name="Straight Connector 10">
            <a:extLst>
              <a:ext uri="{FF2B5EF4-FFF2-40B4-BE49-F238E27FC236}">
                <a16:creationId xmlns:a16="http://schemas.microsoft.com/office/drawing/2014/main" id="{604C72F0-5F1B-03E6-0744-8C765906F031}"/>
              </a:ext>
            </a:extLst>
          </p:cNvPr>
          <p:cNvCxnSpPr>
            <a:cxnSpLocks/>
          </p:cNvCxnSpPr>
          <p:nvPr/>
        </p:nvCxnSpPr>
        <p:spPr>
          <a:xfrm flipV="1">
            <a:off x="1800447" y="1640958"/>
            <a:ext cx="1368055" cy="1325526"/>
          </a:xfrm>
          <a:prstGeom prst="line">
            <a:avLst/>
          </a:prstGeom>
          <a:ln w="3175"/>
        </p:spPr>
        <p:style>
          <a:lnRef idx="3">
            <a:schemeClr val="accent2"/>
          </a:lnRef>
          <a:fillRef idx="0">
            <a:schemeClr val="accent2"/>
          </a:fillRef>
          <a:effectRef idx="2">
            <a:schemeClr val="accent2"/>
          </a:effectRef>
          <a:fontRef idx="minor">
            <a:schemeClr val="tx1"/>
          </a:fontRef>
        </p:style>
      </p:cxnSp>
      <p:cxnSp>
        <p:nvCxnSpPr>
          <p:cNvPr id="15" name="Straight Connector 14">
            <a:extLst>
              <a:ext uri="{FF2B5EF4-FFF2-40B4-BE49-F238E27FC236}">
                <a16:creationId xmlns:a16="http://schemas.microsoft.com/office/drawing/2014/main" id="{10F50906-A87C-1AC1-5345-884A22B7328A}"/>
              </a:ext>
            </a:extLst>
          </p:cNvPr>
          <p:cNvCxnSpPr>
            <a:cxnSpLocks/>
          </p:cNvCxnSpPr>
          <p:nvPr/>
        </p:nvCxnSpPr>
        <p:spPr>
          <a:xfrm flipV="1">
            <a:off x="3320902" y="1640958"/>
            <a:ext cx="1368055" cy="1325526"/>
          </a:xfrm>
          <a:prstGeom prst="line">
            <a:avLst/>
          </a:prstGeom>
          <a:ln w="3175"/>
        </p:spPr>
        <p:style>
          <a:lnRef idx="3">
            <a:schemeClr val="accent2"/>
          </a:lnRef>
          <a:fillRef idx="0">
            <a:schemeClr val="accent2"/>
          </a:fillRef>
          <a:effectRef idx="2">
            <a:schemeClr val="accent2"/>
          </a:effectRef>
          <a:fontRef idx="minor">
            <a:schemeClr val="tx1"/>
          </a:fontRef>
        </p:style>
      </p:cxnSp>
      <p:cxnSp>
        <p:nvCxnSpPr>
          <p:cNvPr id="16" name="Straight Connector 15">
            <a:extLst>
              <a:ext uri="{FF2B5EF4-FFF2-40B4-BE49-F238E27FC236}">
                <a16:creationId xmlns:a16="http://schemas.microsoft.com/office/drawing/2014/main" id="{502EF0ED-1B60-EF5D-DF95-22F9B2F6C77A}"/>
              </a:ext>
            </a:extLst>
          </p:cNvPr>
          <p:cNvCxnSpPr>
            <a:cxnSpLocks/>
          </p:cNvCxnSpPr>
          <p:nvPr/>
        </p:nvCxnSpPr>
        <p:spPr>
          <a:xfrm flipV="1">
            <a:off x="4841357" y="1640958"/>
            <a:ext cx="1368055" cy="1325526"/>
          </a:xfrm>
          <a:prstGeom prst="line">
            <a:avLst/>
          </a:prstGeom>
          <a:ln w="3175"/>
        </p:spPr>
        <p:style>
          <a:lnRef idx="3">
            <a:schemeClr val="accent2"/>
          </a:lnRef>
          <a:fillRef idx="0">
            <a:schemeClr val="accent2"/>
          </a:fillRef>
          <a:effectRef idx="2">
            <a:schemeClr val="accent2"/>
          </a:effectRef>
          <a:fontRef idx="minor">
            <a:schemeClr val="tx1"/>
          </a:fontRef>
        </p:style>
      </p:cxnSp>
      <p:cxnSp>
        <p:nvCxnSpPr>
          <p:cNvPr id="17" name="Straight Connector 16">
            <a:extLst>
              <a:ext uri="{FF2B5EF4-FFF2-40B4-BE49-F238E27FC236}">
                <a16:creationId xmlns:a16="http://schemas.microsoft.com/office/drawing/2014/main" id="{210EB6FA-D4E6-5A73-626E-D7D58E872431}"/>
              </a:ext>
            </a:extLst>
          </p:cNvPr>
          <p:cNvCxnSpPr>
            <a:cxnSpLocks/>
          </p:cNvCxnSpPr>
          <p:nvPr/>
        </p:nvCxnSpPr>
        <p:spPr>
          <a:xfrm flipV="1">
            <a:off x="6455530" y="1648046"/>
            <a:ext cx="1368055" cy="1325526"/>
          </a:xfrm>
          <a:prstGeom prst="line">
            <a:avLst/>
          </a:prstGeom>
          <a:ln w="3175"/>
        </p:spPr>
        <p:style>
          <a:lnRef idx="3">
            <a:schemeClr val="accent2"/>
          </a:lnRef>
          <a:fillRef idx="0">
            <a:schemeClr val="accent2"/>
          </a:fillRef>
          <a:effectRef idx="2">
            <a:schemeClr val="accent2"/>
          </a:effectRef>
          <a:fontRef idx="minor">
            <a:schemeClr val="tx1"/>
          </a:fontRef>
        </p:style>
      </p:cxnSp>
      <p:cxnSp>
        <p:nvCxnSpPr>
          <p:cNvPr id="18" name="Straight Connector 17">
            <a:extLst>
              <a:ext uri="{FF2B5EF4-FFF2-40B4-BE49-F238E27FC236}">
                <a16:creationId xmlns:a16="http://schemas.microsoft.com/office/drawing/2014/main" id="{D235B1BB-3B50-4A9E-EFC3-4D9FE6639E73}"/>
              </a:ext>
            </a:extLst>
          </p:cNvPr>
          <p:cNvCxnSpPr>
            <a:cxnSpLocks/>
          </p:cNvCxnSpPr>
          <p:nvPr/>
        </p:nvCxnSpPr>
        <p:spPr>
          <a:xfrm flipV="1">
            <a:off x="8128385" y="1633871"/>
            <a:ext cx="1368055" cy="1325526"/>
          </a:xfrm>
          <a:prstGeom prst="line">
            <a:avLst/>
          </a:prstGeom>
          <a:ln w="3175"/>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667666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What Makes BEI Different</a:t>
            </a:r>
          </a:p>
        </p:txBody>
      </p:sp>
      <p:sp>
        <p:nvSpPr>
          <p:cNvPr id="3" name="Rounded Rectangle 2"/>
          <p:cNvSpPr/>
          <p:nvPr/>
        </p:nvSpPr>
        <p:spPr>
          <a:xfrm>
            <a:off x="457200" y="10972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1280160"/>
            <a:ext cx="502920" cy="5029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07592"/>
            <a:ext cx="502920" cy="457200"/>
          </a:xfrm>
          <a:prstGeom prst="rect">
            <a:avLst/>
          </a:prstGeom>
          <a:noFill/>
        </p:spPr>
        <p:txBody>
          <a:bodyPr wrap="square">
            <a:spAutoFit/>
          </a:bodyPr>
          <a:lstStyle/>
          <a:p>
            <a:pPr algn="ctr">
              <a:defRPr sz="2000" b="1">
                <a:solidFill>
                  <a:srgbClr val="121A27"/>
                </a:solidFill>
                <a:latin typeface="Arial"/>
              </a:defRPr>
            </a:pPr>
            <a:r>
              <a:t>1</a:t>
            </a:r>
          </a:p>
        </p:txBody>
      </p:sp>
      <p:sp>
        <p:nvSpPr>
          <p:cNvPr id="6" name="TextBox 5"/>
          <p:cNvSpPr txBox="1"/>
          <p:nvPr/>
        </p:nvSpPr>
        <p:spPr>
          <a:xfrm>
            <a:off x="1371600" y="1280160"/>
            <a:ext cx="4297680" cy="365760"/>
          </a:xfrm>
          <a:prstGeom prst="rect">
            <a:avLst/>
          </a:prstGeom>
          <a:noFill/>
        </p:spPr>
        <p:txBody>
          <a:bodyPr wrap="square">
            <a:spAutoFit/>
          </a:bodyPr>
          <a:lstStyle/>
          <a:p>
            <a:pPr algn="l">
              <a:defRPr sz="2100" b="1">
                <a:solidFill>
                  <a:srgbClr val="F0F3F7"/>
                </a:solidFill>
                <a:latin typeface="Arial"/>
              </a:defRPr>
            </a:pPr>
            <a:r>
              <a:t>Tiered System Modeling</a:t>
            </a:r>
          </a:p>
        </p:txBody>
      </p:sp>
      <p:sp>
        <p:nvSpPr>
          <p:cNvPr id="7" name="TextBox 6"/>
          <p:cNvSpPr txBox="1"/>
          <p:nvPr/>
        </p:nvSpPr>
        <p:spPr>
          <a:xfrm>
            <a:off x="685800" y="1828800"/>
            <a:ext cx="5029200" cy="1058880"/>
          </a:xfrm>
          <a:prstGeom prst="rect">
            <a:avLst/>
          </a:prstGeom>
          <a:noFill/>
        </p:spPr>
        <p:txBody>
          <a:bodyPr wrap="square">
            <a:spAutoFit/>
          </a:bodyPr>
          <a:lstStyle/>
          <a:p>
            <a:pPr algn="l">
              <a:lnSpc>
                <a:spcPts val="2600"/>
              </a:lnSpc>
              <a:defRPr sz="1700" b="0">
                <a:solidFill>
                  <a:srgbClr val="9EADBD"/>
                </a:solidFill>
                <a:latin typeface="Arial"/>
              </a:defRPr>
            </a:pPr>
            <a:r>
              <a:rPr dirty="0"/>
              <a:t>Models the real-world stabilize-then-</a:t>
            </a:r>
            <a:r>
              <a:rPr lang="en-US" dirty="0"/>
              <a:t> </a:t>
            </a:r>
            <a:r>
              <a:rPr dirty="0"/>
              <a:t>transfer pathway with explicit transfer</a:t>
            </a:r>
            <a:r>
              <a:rPr lang="en-US" dirty="0"/>
              <a:t> </a:t>
            </a:r>
            <a:r>
              <a:rPr dirty="0"/>
              <a:t>penalties and tier gap detection.</a:t>
            </a:r>
          </a:p>
        </p:txBody>
      </p:sp>
      <p:sp>
        <p:nvSpPr>
          <p:cNvPr id="8" name="Rounded Rectangle 7"/>
          <p:cNvSpPr/>
          <p:nvPr/>
        </p:nvSpPr>
        <p:spPr>
          <a:xfrm>
            <a:off x="6217920" y="10972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00800" y="1280160"/>
            <a:ext cx="502920" cy="5029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07592"/>
            <a:ext cx="502920" cy="457200"/>
          </a:xfrm>
          <a:prstGeom prst="rect">
            <a:avLst/>
          </a:prstGeom>
          <a:noFill/>
        </p:spPr>
        <p:txBody>
          <a:bodyPr wrap="square">
            <a:spAutoFit/>
          </a:bodyPr>
          <a:lstStyle/>
          <a:p>
            <a:pPr algn="ctr">
              <a:defRPr sz="2000" b="1">
                <a:solidFill>
                  <a:srgbClr val="121A27"/>
                </a:solidFill>
                <a:latin typeface="Arial"/>
              </a:defRPr>
            </a:pPr>
            <a:r>
              <a:t>2</a:t>
            </a:r>
          </a:p>
        </p:txBody>
      </p:sp>
      <p:sp>
        <p:nvSpPr>
          <p:cNvPr id="11" name="TextBox 10"/>
          <p:cNvSpPr txBox="1"/>
          <p:nvPr/>
        </p:nvSpPr>
        <p:spPr>
          <a:xfrm>
            <a:off x="7132320" y="1280160"/>
            <a:ext cx="4297680" cy="365760"/>
          </a:xfrm>
          <a:prstGeom prst="rect">
            <a:avLst/>
          </a:prstGeom>
          <a:noFill/>
        </p:spPr>
        <p:txBody>
          <a:bodyPr wrap="square">
            <a:spAutoFit/>
          </a:bodyPr>
          <a:lstStyle/>
          <a:p>
            <a:pPr algn="l">
              <a:defRPr sz="2100" b="1">
                <a:solidFill>
                  <a:srgbClr val="F0F3F7"/>
                </a:solidFill>
                <a:latin typeface="Arial"/>
              </a:defRPr>
            </a:pPr>
            <a:r>
              <a:t>Multi-Scenario Transport</a:t>
            </a:r>
          </a:p>
        </p:txBody>
      </p:sp>
      <p:sp>
        <p:nvSpPr>
          <p:cNvPr id="12" name="TextBox 11"/>
          <p:cNvSpPr txBox="1"/>
          <p:nvPr/>
        </p:nvSpPr>
        <p:spPr>
          <a:xfrm>
            <a:off x="6446520" y="1828800"/>
            <a:ext cx="5029200" cy="1058880"/>
          </a:xfrm>
          <a:prstGeom prst="rect">
            <a:avLst/>
          </a:prstGeom>
          <a:noFill/>
        </p:spPr>
        <p:txBody>
          <a:bodyPr wrap="square">
            <a:spAutoFit/>
          </a:bodyPr>
          <a:lstStyle/>
          <a:p>
            <a:pPr algn="l">
              <a:lnSpc>
                <a:spcPts val="2600"/>
              </a:lnSpc>
              <a:defRPr sz="1700" b="0">
                <a:solidFill>
                  <a:srgbClr val="9EADBD"/>
                </a:solidFill>
                <a:latin typeface="Arial"/>
              </a:defRPr>
            </a:pPr>
            <a:r>
              <a:rPr dirty="0"/>
              <a:t>Ground-only baseline plus ground-</a:t>
            </a:r>
            <a:r>
              <a:rPr lang="en-US" dirty="0"/>
              <a:t> </a:t>
            </a:r>
            <a:r>
              <a:rPr dirty="0"/>
              <a:t>plus-air sensitivity using FAA data.</a:t>
            </a:r>
            <a:r>
              <a:rPr lang="en-US" dirty="0"/>
              <a:t> </a:t>
            </a:r>
            <a:r>
              <a:rPr dirty="0"/>
              <a:t>Published as scenario analysis.</a:t>
            </a:r>
          </a:p>
        </p:txBody>
      </p:sp>
      <p:sp>
        <p:nvSpPr>
          <p:cNvPr id="13" name="Rounded Rectangle 12"/>
          <p:cNvSpPr/>
          <p:nvPr/>
        </p:nvSpPr>
        <p:spPr>
          <a:xfrm>
            <a:off x="457200" y="38404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 y="4023360"/>
            <a:ext cx="502920" cy="5029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050792"/>
            <a:ext cx="502920" cy="457200"/>
          </a:xfrm>
          <a:prstGeom prst="rect">
            <a:avLst/>
          </a:prstGeom>
          <a:noFill/>
        </p:spPr>
        <p:txBody>
          <a:bodyPr wrap="square">
            <a:spAutoFit/>
          </a:bodyPr>
          <a:lstStyle/>
          <a:p>
            <a:pPr algn="ctr">
              <a:defRPr sz="2000" b="1">
                <a:solidFill>
                  <a:srgbClr val="121A27"/>
                </a:solidFill>
                <a:latin typeface="Arial"/>
              </a:defRPr>
            </a:pPr>
            <a:r>
              <a:t>3</a:t>
            </a:r>
          </a:p>
        </p:txBody>
      </p:sp>
      <p:sp>
        <p:nvSpPr>
          <p:cNvPr id="16" name="TextBox 15"/>
          <p:cNvSpPr txBox="1"/>
          <p:nvPr/>
        </p:nvSpPr>
        <p:spPr>
          <a:xfrm>
            <a:off x="1371600" y="4023360"/>
            <a:ext cx="4297680" cy="365760"/>
          </a:xfrm>
          <a:prstGeom prst="rect">
            <a:avLst/>
          </a:prstGeom>
          <a:noFill/>
        </p:spPr>
        <p:txBody>
          <a:bodyPr wrap="square">
            <a:spAutoFit/>
          </a:bodyPr>
          <a:lstStyle/>
          <a:p>
            <a:pPr algn="l">
              <a:defRPr sz="2100" b="1">
                <a:solidFill>
                  <a:srgbClr val="F0F3F7"/>
                </a:solidFill>
                <a:latin typeface="Arial"/>
              </a:defRPr>
            </a:pPr>
            <a:r>
              <a:t>Four-Pillar Composite</a:t>
            </a:r>
          </a:p>
        </p:txBody>
      </p:sp>
      <p:sp>
        <p:nvSpPr>
          <p:cNvPr id="17" name="TextBox 16"/>
          <p:cNvSpPr txBox="1"/>
          <p:nvPr/>
        </p:nvSpPr>
        <p:spPr>
          <a:xfrm>
            <a:off x="685800" y="4572000"/>
            <a:ext cx="5029200" cy="1058880"/>
          </a:xfrm>
          <a:prstGeom prst="rect">
            <a:avLst/>
          </a:prstGeom>
          <a:noFill/>
        </p:spPr>
        <p:txBody>
          <a:bodyPr wrap="square">
            <a:spAutoFit/>
          </a:bodyPr>
          <a:lstStyle/>
          <a:p>
            <a:pPr algn="l">
              <a:lnSpc>
                <a:spcPts val="2600"/>
              </a:lnSpc>
              <a:defRPr sz="1700" b="0">
                <a:solidFill>
                  <a:srgbClr val="9EADBD"/>
                </a:solidFill>
                <a:latin typeface="Arial"/>
              </a:defRPr>
            </a:pPr>
            <a:r>
              <a:rPr dirty="0"/>
              <a:t>Supply, timeliness, pediatrics, and</a:t>
            </a:r>
            <a:r>
              <a:rPr lang="en-US" dirty="0"/>
              <a:t> </a:t>
            </a:r>
            <a:r>
              <a:rPr dirty="0"/>
              <a:t>capacity each address a distinct</a:t>
            </a:r>
            <a:r>
              <a:rPr lang="en-US" dirty="0"/>
              <a:t> </a:t>
            </a:r>
            <a:r>
              <a:rPr dirty="0"/>
              <a:t>clinical dimension. Fully</a:t>
            </a:r>
            <a:r>
              <a:rPr lang="en-US" dirty="0"/>
              <a:t> </a:t>
            </a:r>
            <a:r>
              <a:rPr dirty="0"/>
              <a:t>transparent.</a:t>
            </a:r>
          </a:p>
        </p:txBody>
      </p:sp>
      <p:sp>
        <p:nvSpPr>
          <p:cNvPr id="18" name="Rounded Rectangle 17"/>
          <p:cNvSpPr/>
          <p:nvPr/>
        </p:nvSpPr>
        <p:spPr>
          <a:xfrm>
            <a:off x="6217920" y="3840480"/>
            <a:ext cx="5486400" cy="2468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00800" y="4023360"/>
            <a:ext cx="502920" cy="50292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050792"/>
            <a:ext cx="502920" cy="457200"/>
          </a:xfrm>
          <a:prstGeom prst="rect">
            <a:avLst/>
          </a:prstGeom>
          <a:noFill/>
        </p:spPr>
        <p:txBody>
          <a:bodyPr wrap="square">
            <a:spAutoFit/>
          </a:bodyPr>
          <a:lstStyle/>
          <a:p>
            <a:pPr algn="ctr">
              <a:defRPr sz="2000" b="1">
                <a:solidFill>
                  <a:srgbClr val="121A27"/>
                </a:solidFill>
                <a:latin typeface="Arial"/>
              </a:defRPr>
            </a:pPr>
            <a:r>
              <a:t>4</a:t>
            </a:r>
          </a:p>
        </p:txBody>
      </p:sp>
      <p:sp>
        <p:nvSpPr>
          <p:cNvPr id="21" name="TextBox 20"/>
          <p:cNvSpPr txBox="1"/>
          <p:nvPr/>
        </p:nvSpPr>
        <p:spPr>
          <a:xfrm>
            <a:off x="7132320" y="4023360"/>
            <a:ext cx="4297680" cy="365760"/>
          </a:xfrm>
          <a:prstGeom prst="rect">
            <a:avLst/>
          </a:prstGeom>
          <a:noFill/>
        </p:spPr>
        <p:txBody>
          <a:bodyPr wrap="square">
            <a:spAutoFit/>
          </a:bodyPr>
          <a:lstStyle/>
          <a:p>
            <a:pPr algn="l">
              <a:defRPr sz="2100" b="1">
                <a:solidFill>
                  <a:srgbClr val="F0F3F7"/>
                </a:solidFill>
                <a:latin typeface="Arial"/>
              </a:defRPr>
            </a:pPr>
            <a:r>
              <a:t>Interactive Dashboard</a:t>
            </a:r>
          </a:p>
        </p:txBody>
      </p:sp>
      <p:sp>
        <p:nvSpPr>
          <p:cNvPr id="22" name="TextBox 21"/>
          <p:cNvSpPr txBox="1"/>
          <p:nvPr/>
        </p:nvSpPr>
        <p:spPr>
          <a:xfrm>
            <a:off x="6446520" y="4572000"/>
            <a:ext cx="5029200" cy="725455"/>
          </a:xfrm>
          <a:prstGeom prst="rect">
            <a:avLst/>
          </a:prstGeom>
          <a:noFill/>
        </p:spPr>
        <p:txBody>
          <a:bodyPr wrap="square">
            <a:spAutoFit/>
          </a:bodyPr>
          <a:lstStyle/>
          <a:p>
            <a:pPr algn="l">
              <a:lnSpc>
                <a:spcPts val="2600"/>
              </a:lnSpc>
              <a:defRPr sz="1700" b="0">
                <a:solidFill>
                  <a:srgbClr val="9EADBD"/>
                </a:solidFill>
                <a:latin typeface="Arial"/>
              </a:defRPr>
            </a:pPr>
            <a:r>
              <a:rPr dirty="0"/>
              <a:t>Any stakeholder can explore access</a:t>
            </a:r>
            <a:r>
              <a:rPr lang="en-US" dirty="0"/>
              <a:t> </a:t>
            </a:r>
            <a:r>
              <a:rPr dirty="0"/>
              <a:t>patterns from national overview down</a:t>
            </a:r>
            <a:r>
              <a:rPr lang="en-US" dirty="0"/>
              <a:t> </a:t>
            </a:r>
            <a:r>
              <a:rPr dirty="0"/>
              <a:t>to individual tracts.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800" b="1">
                <a:solidFill>
                  <a:srgbClr val="F0F3F7"/>
                </a:solidFill>
                <a:latin typeface="Arial"/>
              </a:defRPr>
            </a:pPr>
            <a:r>
              <a:t>Impact &amp; Recommendations</a:t>
            </a:r>
          </a:p>
        </p:txBody>
      </p:sp>
      <p:sp>
        <p:nvSpPr>
          <p:cNvPr id="3" name="TextBox 2"/>
          <p:cNvSpPr txBox="1"/>
          <p:nvPr/>
        </p:nvSpPr>
        <p:spPr>
          <a:xfrm>
            <a:off x="640080" y="822960"/>
            <a:ext cx="10972800" cy="320040"/>
          </a:xfrm>
          <a:prstGeom prst="rect">
            <a:avLst/>
          </a:prstGeom>
          <a:noFill/>
        </p:spPr>
        <p:txBody>
          <a:bodyPr wrap="square">
            <a:spAutoFit/>
          </a:bodyPr>
          <a:lstStyle/>
          <a:p>
            <a:pPr algn="l">
              <a:defRPr sz="2000" b="0">
                <a:solidFill>
                  <a:srgbClr val="9EADBD"/>
                </a:solidFill>
                <a:latin typeface="Arial"/>
              </a:defRPr>
            </a:pPr>
            <a:r>
              <a:t>From data to decisions</a:t>
            </a:r>
          </a:p>
        </p:txBody>
      </p:sp>
      <p:sp>
        <p:nvSpPr>
          <p:cNvPr id="4" name="Rounded Rectangle 3"/>
          <p:cNvSpPr/>
          <p:nvPr/>
        </p:nvSpPr>
        <p:spPr>
          <a:xfrm>
            <a:off x="457200" y="137160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508760"/>
            <a:ext cx="3474720" cy="640080"/>
          </a:xfrm>
          <a:prstGeom prst="rect">
            <a:avLst/>
          </a:prstGeom>
          <a:noFill/>
        </p:spPr>
        <p:txBody>
          <a:bodyPr wrap="square">
            <a:spAutoFit/>
          </a:bodyPr>
          <a:lstStyle/>
          <a:p>
            <a:pPr algn="l">
              <a:lnSpc>
                <a:spcPts val="2400"/>
              </a:lnSpc>
              <a:defRPr sz="2000" b="1">
                <a:solidFill>
                  <a:srgbClr val="F0F3F7"/>
                </a:solidFill>
                <a:latin typeface="Arial"/>
              </a:defRPr>
            </a:pPr>
            <a:r>
              <a:t>Telemedicine Triage</a:t>
            </a:r>
          </a:p>
        </p:txBody>
      </p:sp>
      <p:sp>
        <p:nvSpPr>
          <p:cNvPr id="6" name="TextBox 5"/>
          <p:cNvSpPr txBox="1"/>
          <p:nvPr/>
        </p:nvSpPr>
        <p:spPr>
          <a:xfrm>
            <a:off x="4297680" y="1508760"/>
            <a:ext cx="1371600" cy="320040"/>
          </a:xfrm>
          <a:prstGeom prst="rect">
            <a:avLst/>
          </a:prstGeom>
          <a:noFill/>
        </p:spPr>
        <p:txBody>
          <a:bodyPr wrap="square">
            <a:spAutoFit/>
          </a:bodyPr>
          <a:lstStyle/>
          <a:p>
            <a:pPr algn="r">
              <a:defRPr sz="1300" b="1">
                <a:solidFill>
                  <a:srgbClr val="56B4E9"/>
                </a:solidFill>
                <a:latin typeface="Arial"/>
              </a:defRPr>
            </a:pPr>
            <a:r>
              <a:t>Referral</a:t>
            </a:r>
          </a:p>
        </p:txBody>
      </p:sp>
      <p:sp>
        <p:nvSpPr>
          <p:cNvPr id="7" name="TextBox 6"/>
          <p:cNvSpPr txBox="1"/>
          <p:nvPr/>
        </p:nvSpPr>
        <p:spPr>
          <a:xfrm>
            <a:off x="685800" y="2148840"/>
            <a:ext cx="4205177" cy="985398"/>
          </a:xfrm>
          <a:prstGeom prst="rect">
            <a:avLst/>
          </a:prstGeom>
          <a:noFill/>
        </p:spPr>
        <p:txBody>
          <a:bodyPr wrap="square">
            <a:spAutoFit/>
          </a:bodyPr>
          <a:lstStyle/>
          <a:p>
            <a:pPr algn="l">
              <a:lnSpc>
                <a:spcPts val="2400"/>
              </a:lnSpc>
              <a:defRPr sz="1600" b="0">
                <a:solidFill>
                  <a:srgbClr val="9EADBD"/>
                </a:solidFill>
                <a:latin typeface="Arial"/>
              </a:defRPr>
            </a:pPr>
            <a:r>
              <a:rPr dirty="0"/>
              <a:t>Deploy tele-burn consultation in</a:t>
            </a:r>
            <a:r>
              <a:rPr lang="en-US" dirty="0"/>
              <a:t> </a:t>
            </a:r>
            <a:r>
              <a:rPr dirty="0"/>
              <a:t>high-BEI regions. Research shows</a:t>
            </a:r>
            <a:r>
              <a:rPr lang="en-US" dirty="0"/>
              <a:t> </a:t>
            </a:r>
            <a:r>
              <a:rPr dirty="0"/>
              <a:t>94% accuracy in remote surgical</a:t>
            </a:r>
            <a:r>
              <a:rPr lang="en-US" dirty="0"/>
              <a:t> </a:t>
            </a:r>
            <a:r>
              <a:rPr dirty="0"/>
              <a:t>determination.</a:t>
            </a:r>
          </a:p>
        </p:txBody>
      </p:sp>
      <p:sp>
        <p:nvSpPr>
          <p:cNvPr id="8" name="Rounded Rectangle 7"/>
          <p:cNvSpPr/>
          <p:nvPr/>
        </p:nvSpPr>
        <p:spPr>
          <a:xfrm>
            <a:off x="6217920" y="137160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1508760"/>
            <a:ext cx="3760736" cy="400110"/>
          </a:xfrm>
          <a:prstGeom prst="rect">
            <a:avLst/>
          </a:prstGeom>
          <a:noFill/>
        </p:spPr>
        <p:txBody>
          <a:bodyPr wrap="square">
            <a:spAutoFit/>
          </a:bodyPr>
          <a:lstStyle/>
          <a:p>
            <a:pPr algn="l">
              <a:lnSpc>
                <a:spcPts val="2400"/>
              </a:lnSpc>
              <a:defRPr sz="2000" b="1">
                <a:solidFill>
                  <a:srgbClr val="F0F3F7"/>
                </a:solidFill>
                <a:latin typeface="Arial"/>
              </a:defRPr>
            </a:pPr>
            <a:r>
              <a:rPr dirty="0"/>
              <a:t>Strategic Facility</a:t>
            </a:r>
            <a:r>
              <a:rPr lang="en-US" dirty="0"/>
              <a:t> </a:t>
            </a:r>
            <a:r>
              <a:rPr dirty="0"/>
              <a:t>Placement</a:t>
            </a:r>
          </a:p>
        </p:txBody>
      </p:sp>
      <p:sp>
        <p:nvSpPr>
          <p:cNvPr id="10" name="TextBox 9"/>
          <p:cNvSpPr txBox="1"/>
          <p:nvPr/>
        </p:nvSpPr>
        <p:spPr>
          <a:xfrm>
            <a:off x="10058400" y="1508760"/>
            <a:ext cx="1371600" cy="320040"/>
          </a:xfrm>
          <a:prstGeom prst="rect">
            <a:avLst/>
          </a:prstGeom>
          <a:noFill/>
        </p:spPr>
        <p:txBody>
          <a:bodyPr wrap="square">
            <a:spAutoFit/>
          </a:bodyPr>
          <a:lstStyle/>
          <a:p>
            <a:pPr algn="r">
              <a:defRPr sz="1300" b="1">
                <a:solidFill>
                  <a:srgbClr val="E69F00"/>
                </a:solidFill>
                <a:latin typeface="Arial"/>
              </a:defRPr>
            </a:pPr>
            <a:r>
              <a:t>Equitable Access</a:t>
            </a:r>
          </a:p>
        </p:txBody>
      </p:sp>
      <p:sp>
        <p:nvSpPr>
          <p:cNvPr id="11" name="TextBox 10"/>
          <p:cNvSpPr txBox="1"/>
          <p:nvPr/>
        </p:nvSpPr>
        <p:spPr>
          <a:xfrm>
            <a:off x="6446520" y="2148840"/>
            <a:ext cx="3930857" cy="1293175"/>
          </a:xfrm>
          <a:prstGeom prst="rect">
            <a:avLst/>
          </a:prstGeom>
          <a:noFill/>
        </p:spPr>
        <p:txBody>
          <a:bodyPr wrap="square">
            <a:spAutoFit/>
          </a:bodyPr>
          <a:lstStyle/>
          <a:p>
            <a:pPr algn="l">
              <a:lnSpc>
                <a:spcPts val="2400"/>
              </a:lnSpc>
              <a:defRPr sz="1600" b="0">
                <a:solidFill>
                  <a:srgbClr val="9EADBD"/>
                </a:solidFill>
                <a:latin typeface="Arial"/>
              </a:defRPr>
            </a:pPr>
            <a:r>
              <a:rPr dirty="0"/>
              <a:t>Use hotspot clusters to identify</a:t>
            </a:r>
            <a:r>
              <a:rPr lang="en-US" dirty="0"/>
              <a:t> </a:t>
            </a:r>
            <a:r>
              <a:rPr dirty="0"/>
              <a:t>where</a:t>
            </a:r>
            <a:r>
              <a:rPr lang="en-US" dirty="0"/>
              <a:t> </a:t>
            </a:r>
            <a:r>
              <a:rPr dirty="0"/>
              <a:t>new burn-capable facilities</a:t>
            </a:r>
            <a:r>
              <a:rPr lang="en-US" dirty="0"/>
              <a:t> </a:t>
            </a:r>
            <a:r>
              <a:rPr dirty="0"/>
              <a:t>would have the greatest impact.</a:t>
            </a:r>
            <a:r>
              <a:rPr lang="en-US" dirty="0"/>
              <a:t> </a:t>
            </a:r>
            <a:r>
              <a:rPr dirty="0"/>
              <a:t>NW Minnesota is a clear candidate.</a:t>
            </a:r>
          </a:p>
        </p:txBody>
      </p:sp>
      <p:sp>
        <p:nvSpPr>
          <p:cNvPr id="12" name="Rounded Rectangle 11"/>
          <p:cNvSpPr/>
          <p:nvPr/>
        </p:nvSpPr>
        <p:spPr>
          <a:xfrm>
            <a:off x="457200" y="393192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069080"/>
            <a:ext cx="3474720" cy="400110"/>
          </a:xfrm>
          <a:prstGeom prst="rect">
            <a:avLst/>
          </a:prstGeom>
          <a:noFill/>
        </p:spPr>
        <p:txBody>
          <a:bodyPr wrap="square">
            <a:spAutoFit/>
          </a:bodyPr>
          <a:lstStyle/>
          <a:p>
            <a:pPr algn="l">
              <a:lnSpc>
                <a:spcPts val="2400"/>
              </a:lnSpc>
              <a:defRPr sz="2000" b="1">
                <a:solidFill>
                  <a:srgbClr val="F0F3F7"/>
                </a:solidFill>
                <a:latin typeface="Arial"/>
              </a:defRPr>
            </a:pPr>
            <a:r>
              <a:rPr dirty="0"/>
              <a:t>Air Transport</a:t>
            </a:r>
            <a:r>
              <a:rPr lang="en-US" dirty="0"/>
              <a:t> </a:t>
            </a:r>
            <a:r>
              <a:rPr dirty="0"/>
              <a:t>Investment</a:t>
            </a:r>
          </a:p>
        </p:txBody>
      </p:sp>
      <p:sp>
        <p:nvSpPr>
          <p:cNvPr id="14" name="TextBox 13"/>
          <p:cNvSpPr txBox="1"/>
          <p:nvPr/>
        </p:nvSpPr>
        <p:spPr>
          <a:xfrm>
            <a:off x="4297680" y="4069080"/>
            <a:ext cx="1371600" cy="320040"/>
          </a:xfrm>
          <a:prstGeom prst="rect">
            <a:avLst/>
          </a:prstGeom>
          <a:noFill/>
        </p:spPr>
        <p:txBody>
          <a:bodyPr wrap="square">
            <a:spAutoFit/>
          </a:bodyPr>
          <a:lstStyle/>
          <a:p>
            <a:pPr algn="r">
              <a:defRPr sz="1300" b="1">
                <a:solidFill>
                  <a:srgbClr val="009E73"/>
                </a:solidFill>
                <a:latin typeface="Arial"/>
              </a:defRPr>
            </a:pPr>
            <a:r>
              <a:t>Referral</a:t>
            </a:r>
          </a:p>
        </p:txBody>
      </p:sp>
      <p:sp>
        <p:nvSpPr>
          <p:cNvPr id="15" name="TextBox 14"/>
          <p:cNvSpPr txBox="1"/>
          <p:nvPr/>
        </p:nvSpPr>
        <p:spPr>
          <a:xfrm>
            <a:off x="685800" y="4709160"/>
            <a:ext cx="4205177" cy="1293175"/>
          </a:xfrm>
          <a:prstGeom prst="rect">
            <a:avLst/>
          </a:prstGeom>
          <a:noFill/>
        </p:spPr>
        <p:txBody>
          <a:bodyPr wrap="square">
            <a:spAutoFit/>
          </a:bodyPr>
          <a:lstStyle/>
          <a:p>
            <a:pPr algn="l">
              <a:lnSpc>
                <a:spcPts val="2400"/>
              </a:lnSpc>
              <a:defRPr sz="1600" b="0">
                <a:solidFill>
                  <a:srgbClr val="9EADBD"/>
                </a:solidFill>
                <a:latin typeface="Arial"/>
              </a:defRPr>
            </a:pPr>
            <a:r>
              <a:rPr dirty="0"/>
              <a:t>Target air-ambulance resources</a:t>
            </a:r>
            <a:r>
              <a:rPr lang="en-US" dirty="0"/>
              <a:t> </a:t>
            </a:r>
            <a:r>
              <a:rPr dirty="0"/>
              <a:t>where ground BEI exceeds 80 but</a:t>
            </a:r>
            <a:r>
              <a:rPr lang="en-US" dirty="0"/>
              <a:t> </a:t>
            </a:r>
            <a:r>
              <a:rPr dirty="0"/>
              <a:t>air scenario shows 5+ point gain.</a:t>
            </a:r>
            <a:r>
              <a:rPr lang="en-US" dirty="0"/>
              <a:t> </a:t>
            </a:r>
            <a:r>
              <a:rPr dirty="0"/>
              <a:t>Existing heliports are underused.</a:t>
            </a:r>
          </a:p>
        </p:txBody>
      </p:sp>
      <p:sp>
        <p:nvSpPr>
          <p:cNvPr id="16" name="Rounded Rectangle 15"/>
          <p:cNvSpPr/>
          <p:nvPr/>
        </p:nvSpPr>
        <p:spPr>
          <a:xfrm>
            <a:off x="6217920" y="3931920"/>
            <a:ext cx="5486400" cy="228600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4069080"/>
            <a:ext cx="3474720" cy="640080"/>
          </a:xfrm>
          <a:prstGeom prst="rect">
            <a:avLst/>
          </a:prstGeom>
          <a:noFill/>
        </p:spPr>
        <p:txBody>
          <a:bodyPr wrap="square">
            <a:spAutoFit/>
          </a:bodyPr>
          <a:lstStyle/>
          <a:p>
            <a:pPr algn="l">
              <a:lnSpc>
                <a:spcPts val="2400"/>
              </a:lnSpc>
              <a:defRPr sz="2000" b="1">
                <a:solidFill>
                  <a:srgbClr val="F0F3F7"/>
                </a:solidFill>
                <a:latin typeface="Arial"/>
              </a:defRPr>
            </a:pPr>
            <a:r>
              <a:t>Policy Planning Tool</a:t>
            </a:r>
          </a:p>
        </p:txBody>
      </p:sp>
      <p:sp>
        <p:nvSpPr>
          <p:cNvPr id="18" name="TextBox 17"/>
          <p:cNvSpPr txBox="1"/>
          <p:nvPr/>
        </p:nvSpPr>
        <p:spPr>
          <a:xfrm>
            <a:off x="10058400" y="4069080"/>
            <a:ext cx="1371600" cy="320040"/>
          </a:xfrm>
          <a:prstGeom prst="rect">
            <a:avLst/>
          </a:prstGeom>
          <a:noFill/>
        </p:spPr>
        <p:txBody>
          <a:bodyPr wrap="square">
            <a:spAutoFit/>
          </a:bodyPr>
          <a:lstStyle/>
          <a:p>
            <a:pPr algn="r">
              <a:defRPr sz="1300" b="1">
                <a:solidFill>
                  <a:srgbClr val="D55E00"/>
                </a:solidFill>
                <a:latin typeface="Arial"/>
              </a:defRPr>
            </a:pPr>
            <a:r>
              <a:t>Equitable Access</a:t>
            </a:r>
          </a:p>
        </p:txBody>
      </p:sp>
      <p:sp>
        <p:nvSpPr>
          <p:cNvPr id="19" name="TextBox 18"/>
          <p:cNvSpPr txBox="1"/>
          <p:nvPr/>
        </p:nvSpPr>
        <p:spPr>
          <a:xfrm>
            <a:off x="6446520" y="4709160"/>
            <a:ext cx="3930857" cy="1293175"/>
          </a:xfrm>
          <a:prstGeom prst="rect">
            <a:avLst/>
          </a:prstGeom>
          <a:noFill/>
        </p:spPr>
        <p:txBody>
          <a:bodyPr wrap="square">
            <a:spAutoFit/>
          </a:bodyPr>
          <a:lstStyle/>
          <a:p>
            <a:pPr algn="l">
              <a:lnSpc>
                <a:spcPts val="2400"/>
              </a:lnSpc>
              <a:defRPr sz="1600" b="0">
                <a:solidFill>
                  <a:srgbClr val="9EADBD"/>
                </a:solidFill>
                <a:latin typeface="Arial"/>
              </a:defRPr>
            </a:pPr>
            <a:r>
              <a:rPr dirty="0"/>
              <a:t>Integrate BEI into state health</a:t>
            </a:r>
            <a:r>
              <a:rPr lang="en-US" dirty="0"/>
              <a:t> </a:t>
            </a:r>
            <a:r>
              <a:rPr dirty="0"/>
              <a:t>department planning and ABA</a:t>
            </a:r>
            <a:r>
              <a:rPr lang="en-US" dirty="0"/>
              <a:t> </a:t>
            </a:r>
            <a:r>
              <a:rPr dirty="0"/>
              <a:t>verification processes. Open-source</a:t>
            </a:r>
            <a:r>
              <a:rPr lang="en-US" dirty="0"/>
              <a:t> </a:t>
            </a:r>
            <a:r>
              <a:rPr dirty="0"/>
              <a:t>and fully reproducible.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640080" y="274320"/>
            <a:ext cx="10972800" cy="548640"/>
          </a:xfrm>
          <a:prstGeom prst="rect">
            <a:avLst/>
          </a:prstGeom>
          <a:noFill/>
        </p:spPr>
        <p:txBody>
          <a:bodyPr wrap="square">
            <a:spAutoFit/>
          </a:bodyPr>
          <a:lstStyle/>
          <a:p>
            <a:pPr algn="l">
              <a:defRPr sz="3400" b="1">
                <a:solidFill>
                  <a:srgbClr val="F0F3F7"/>
                </a:solidFill>
                <a:latin typeface="Arial"/>
              </a:defRPr>
            </a:pPr>
            <a:r>
              <a:t>Limitations &amp; Future Directions</a:t>
            </a:r>
          </a:p>
        </p:txBody>
      </p:sp>
      <p:sp>
        <p:nvSpPr>
          <p:cNvPr id="3" name="Rounded Rectangle 2"/>
          <p:cNvSpPr/>
          <p:nvPr/>
        </p:nvSpPr>
        <p:spPr>
          <a:xfrm>
            <a:off x="457200" y="109728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4572000" cy="320040"/>
          </a:xfrm>
          <a:prstGeom prst="rect">
            <a:avLst/>
          </a:prstGeom>
          <a:noFill/>
        </p:spPr>
        <p:txBody>
          <a:bodyPr wrap="square">
            <a:spAutoFit/>
          </a:bodyPr>
          <a:lstStyle/>
          <a:p>
            <a:pPr algn="l">
              <a:defRPr sz="1900" b="1">
                <a:solidFill>
                  <a:srgbClr val="E69F00"/>
                </a:solidFill>
                <a:latin typeface="Arial"/>
              </a:defRPr>
            </a:pPr>
            <a:r>
              <a:t>National routing at county level</a:t>
            </a:r>
          </a:p>
        </p:txBody>
      </p:sp>
      <p:sp>
        <p:nvSpPr>
          <p:cNvPr id="5" name="TextBox 4"/>
          <p:cNvSpPr txBox="1"/>
          <p:nvPr/>
        </p:nvSpPr>
        <p:spPr>
          <a:xfrm>
            <a:off x="731520" y="1554480"/>
            <a:ext cx="10515600" cy="502920"/>
          </a:xfrm>
          <a:prstGeom prst="rect">
            <a:avLst/>
          </a:prstGeom>
          <a:noFill/>
        </p:spPr>
        <p:txBody>
          <a:bodyPr wrap="square">
            <a:spAutoFit/>
          </a:bodyPr>
          <a:lstStyle/>
          <a:p>
            <a:pPr algn="l">
              <a:defRPr sz="1700" b="0">
                <a:solidFill>
                  <a:srgbClr val="F0F3F7"/>
                </a:solidFill>
                <a:latin typeface="Arial"/>
              </a:defRPr>
            </a:pPr>
            <a:r>
              <a:t>Masks variation within large rural counties. MN uses ideal tract-level routing. Full US tract-level needs a high-memory server.</a:t>
            </a:r>
          </a:p>
        </p:txBody>
      </p:sp>
      <p:sp>
        <p:nvSpPr>
          <p:cNvPr id="6" name="Rounded Rectangle 5"/>
          <p:cNvSpPr/>
          <p:nvPr/>
        </p:nvSpPr>
        <p:spPr>
          <a:xfrm>
            <a:off x="457200" y="237744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468880"/>
            <a:ext cx="4572000" cy="320040"/>
          </a:xfrm>
          <a:prstGeom prst="rect">
            <a:avLst/>
          </a:prstGeom>
          <a:noFill/>
        </p:spPr>
        <p:txBody>
          <a:bodyPr wrap="square">
            <a:spAutoFit/>
          </a:bodyPr>
          <a:lstStyle/>
          <a:p>
            <a:pPr algn="l">
              <a:defRPr sz="1900" b="1">
                <a:solidFill>
                  <a:srgbClr val="E69F00"/>
                </a:solidFill>
                <a:latin typeface="Arial"/>
              </a:defRPr>
            </a:pPr>
            <a:r>
              <a:t>Florida data gap</a:t>
            </a:r>
          </a:p>
        </p:txBody>
      </p:sp>
      <p:sp>
        <p:nvSpPr>
          <p:cNvPr id="8" name="TextBox 7"/>
          <p:cNvSpPr txBox="1"/>
          <p:nvPr/>
        </p:nvSpPr>
        <p:spPr>
          <a:xfrm>
            <a:off x="731520" y="2834640"/>
            <a:ext cx="10515600" cy="502920"/>
          </a:xfrm>
          <a:prstGeom prst="rect">
            <a:avLst/>
          </a:prstGeom>
          <a:noFill/>
        </p:spPr>
        <p:txBody>
          <a:bodyPr wrap="square">
            <a:spAutoFit/>
          </a:bodyPr>
          <a:lstStyle/>
          <a:p>
            <a:pPr algn="l">
              <a:defRPr sz="1700" b="0">
                <a:solidFill>
                  <a:srgbClr val="F0F3F7"/>
                </a:solidFill>
                <a:latin typeface="Arial"/>
              </a:defRPr>
            </a:pPr>
            <a:r>
              <a:t>67 FL counties absent due to a routing batch error. Pipeline issue, not methodological -- the formula applies identically.</a:t>
            </a:r>
          </a:p>
        </p:txBody>
      </p:sp>
      <p:sp>
        <p:nvSpPr>
          <p:cNvPr id="9" name="Rounded Rectangle 8"/>
          <p:cNvSpPr/>
          <p:nvPr/>
        </p:nvSpPr>
        <p:spPr>
          <a:xfrm>
            <a:off x="457200" y="365760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749040"/>
            <a:ext cx="4572000" cy="320040"/>
          </a:xfrm>
          <a:prstGeom prst="rect">
            <a:avLst/>
          </a:prstGeom>
          <a:noFill/>
        </p:spPr>
        <p:txBody>
          <a:bodyPr wrap="square">
            <a:spAutoFit/>
          </a:bodyPr>
          <a:lstStyle/>
          <a:p>
            <a:pPr algn="l">
              <a:defRPr sz="1900" b="1">
                <a:solidFill>
                  <a:srgbClr val="E69F00"/>
                </a:solidFill>
                <a:latin typeface="Arial"/>
              </a:defRPr>
            </a:pPr>
            <a:r>
              <a:t>Air scenario is structural</a:t>
            </a:r>
          </a:p>
        </p:txBody>
      </p:sp>
      <p:sp>
        <p:nvSpPr>
          <p:cNvPr id="11" name="TextBox 10"/>
          <p:cNvSpPr txBox="1"/>
          <p:nvPr/>
        </p:nvSpPr>
        <p:spPr>
          <a:xfrm>
            <a:off x="731520" y="4114800"/>
            <a:ext cx="10515600" cy="502920"/>
          </a:xfrm>
          <a:prstGeom prst="rect">
            <a:avLst/>
          </a:prstGeom>
          <a:noFill/>
        </p:spPr>
        <p:txBody>
          <a:bodyPr wrap="square">
            <a:spAutoFit/>
          </a:bodyPr>
          <a:lstStyle/>
          <a:p>
            <a:pPr algn="l">
              <a:defRPr sz="1700" b="0">
                <a:solidFill>
                  <a:srgbClr val="F0F3F7"/>
                </a:solidFill>
                <a:latin typeface="Arial"/>
              </a:defRPr>
            </a:pPr>
            <a:r>
              <a:t>An accessibility estimate, not an operational prediction. Real-time weather and dispatch are out of scope.</a:t>
            </a:r>
          </a:p>
        </p:txBody>
      </p:sp>
      <p:sp>
        <p:nvSpPr>
          <p:cNvPr id="12" name="Rounded Rectangle 11"/>
          <p:cNvSpPr/>
          <p:nvPr/>
        </p:nvSpPr>
        <p:spPr>
          <a:xfrm>
            <a:off x="457200" y="4937760"/>
            <a:ext cx="11247120" cy="10972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029200"/>
            <a:ext cx="4572000" cy="320040"/>
          </a:xfrm>
          <a:prstGeom prst="rect">
            <a:avLst/>
          </a:prstGeom>
          <a:noFill/>
        </p:spPr>
        <p:txBody>
          <a:bodyPr wrap="square">
            <a:spAutoFit/>
          </a:bodyPr>
          <a:lstStyle/>
          <a:p>
            <a:pPr algn="l">
              <a:defRPr sz="1900" b="1">
                <a:solidFill>
                  <a:srgbClr val="E69F00"/>
                </a:solidFill>
                <a:latin typeface="Arial"/>
              </a:defRPr>
            </a:pPr>
            <a:r>
              <a:t>Static capacity model</a:t>
            </a:r>
          </a:p>
        </p:txBody>
      </p:sp>
      <p:sp>
        <p:nvSpPr>
          <p:cNvPr id="14" name="TextBox 13"/>
          <p:cNvSpPr txBox="1"/>
          <p:nvPr/>
        </p:nvSpPr>
        <p:spPr>
          <a:xfrm>
            <a:off x="731520" y="5394960"/>
            <a:ext cx="10515600" cy="502920"/>
          </a:xfrm>
          <a:prstGeom prst="rect">
            <a:avLst/>
          </a:prstGeom>
          <a:noFill/>
        </p:spPr>
        <p:txBody>
          <a:bodyPr wrap="square">
            <a:spAutoFit/>
          </a:bodyPr>
          <a:lstStyle/>
          <a:p>
            <a:pPr algn="l">
              <a:defRPr sz="1700" b="0">
                <a:solidFill>
                  <a:srgbClr val="F0F3F7"/>
                </a:solidFill>
                <a:latin typeface="Arial"/>
              </a:defRPr>
            </a:pPr>
            <a:r>
              <a:t>Uses structural bed counts, not real-time occupancy. Live bed-census integration is a clear next step.</a:t>
            </a:r>
          </a:p>
        </p:txBody>
      </p:sp>
      <p:sp>
        <p:nvSpPr>
          <p:cNvPr id="15" name="TextBox 14"/>
          <p:cNvSpPr txBox="1"/>
          <p:nvPr/>
        </p:nvSpPr>
        <p:spPr>
          <a:xfrm>
            <a:off x="640080" y="6309360"/>
            <a:ext cx="10972800" cy="274320"/>
          </a:xfrm>
          <a:prstGeom prst="rect">
            <a:avLst/>
          </a:prstGeom>
          <a:noFill/>
        </p:spPr>
        <p:txBody>
          <a:bodyPr wrap="square">
            <a:spAutoFit/>
          </a:bodyPr>
          <a:lstStyle/>
          <a:p>
            <a:pPr algn="ctr">
              <a:defRPr sz="1600" b="0">
                <a:solidFill>
                  <a:srgbClr val="9EADBD"/>
                </a:solidFill>
                <a:latin typeface="Arial"/>
              </a:defRPr>
            </a:pPr>
            <a:r>
              <a:t>Next:  Tract-level national routing  |  Real-time bed feeds  |  Temporal BEI  |  State health planning integration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9418320" cy="731520"/>
          </a:xfrm>
          <a:prstGeom prst="rect">
            <a:avLst/>
          </a:prstGeom>
          <a:noFill/>
        </p:spPr>
        <p:txBody>
          <a:bodyPr wrap="square">
            <a:spAutoFit/>
          </a:bodyPr>
          <a:lstStyle/>
          <a:p>
            <a:pPr algn="ctr">
              <a:defRPr sz="4600" b="1">
                <a:solidFill>
                  <a:srgbClr val="F0F3F7"/>
                </a:solidFill>
                <a:latin typeface="Arial"/>
              </a:defRPr>
            </a:pPr>
            <a:r>
              <a:t>Every Minute Matters</a:t>
            </a:r>
          </a:p>
        </p:txBody>
      </p:sp>
      <p:sp>
        <p:nvSpPr>
          <p:cNvPr id="3" name="TextBox 2"/>
          <p:cNvSpPr txBox="1"/>
          <p:nvPr/>
        </p:nvSpPr>
        <p:spPr>
          <a:xfrm>
            <a:off x="1371600" y="2103120"/>
            <a:ext cx="9418320" cy="1828800"/>
          </a:xfrm>
          <a:prstGeom prst="rect">
            <a:avLst/>
          </a:prstGeom>
          <a:noFill/>
        </p:spPr>
        <p:txBody>
          <a:bodyPr wrap="square">
            <a:spAutoFit/>
          </a:bodyPr>
          <a:lstStyle/>
          <a:p>
            <a:pPr algn="ctr">
              <a:lnSpc>
                <a:spcPts val="4000"/>
              </a:lnSpc>
              <a:defRPr sz="2600" b="0">
                <a:solidFill>
                  <a:srgbClr val="9EADBD"/>
                </a:solidFill>
                <a:latin typeface="Arial"/>
              </a:defRPr>
            </a:pPr>
            <a:r>
              <a:rPr dirty="0"/>
              <a:t>The Burn Equity Index gives us a shared language</a:t>
            </a:r>
            <a:br>
              <a:rPr dirty="0"/>
            </a:br>
            <a:r>
              <a:rPr dirty="0"/>
              <a:t>to see, measure, and act on the structural gaps</a:t>
            </a:r>
            <a:br>
              <a:rPr dirty="0"/>
            </a:br>
            <a:r>
              <a:rPr dirty="0"/>
              <a:t>that separate 10 minutes from 10 hours.</a:t>
            </a:r>
          </a:p>
        </p:txBody>
      </p:sp>
      <p:sp>
        <p:nvSpPr>
          <p:cNvPr id="4" name="Rounded Rectangle 3"/>
          <p:cNvSpPr/>
          <p:nvPr/>
        </p:nvSpPr>
        <p:spPr>
          <a:xfrm>
            <a:off x="1371600" y="429768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08760" y="4407408"/>
            <a:ext cx="2331720" cy="457200"/>
          </a:xfrm>
          <a:prstGeom prst="rect">
            <a:avLst/>
          </a:prstGeom>
          <a:noFill/>
        </p:spPr>
        <p:txBody>
          <a:bodyPr wrap="square">
            <a:spAutoFit/>
          </a:bodyPr>
          <a:lstStyle/>
          <a:p>
            <a:pPr algn="l">
              <a:defRPr sz="1500" b="1">
                <a:solidFill>
                  <a:srgbClr val="9EADBD"/>
                </a:solidFill>
                <a:latin typeface="Arial"/>
              </a:defRPr>
            </a:pPr>
            <a:r>
              <a:t>Hennepin County</a:t>
            </a:r>
          </a:p>
        </p:txBody>
      </p:sp>
      <p:sp>
        <p:nvSpPr>
          <p:cNvPr id="6" name="TextBox 5"/>
          <p:cNvSpPr txBox="1"/>
          <p:nvPr/>
        </p:nvSpPr>
        <p:spPr>
          <a:xfrm>
            <a:off x="1508760" y="4892040"/>
            <a:ext cx="2331720" cy="594360"/>
          </a:xfrm>
          <a:prstGeom prst="rect">
            <a:avLst/>
          </a:prstGeom>
          <a:noFill/>
        </p:spPr>
        <p:txBody>
          <a:bodyPr wrap="square">
            <a:spAutoFit/>
          </a:bodyPr>
          <a:lstStyle/>
          <a:p>
            <a:pPr algn="l">
              <a:defRPr sz="3000" b="1">
                <a:solidFill>
                  <a:srgbClr val="009E73"/>
                </a:solidFill>
                <a:latin typeface="Arial"/>
              </a:defRPr>
            </a:pPr>
            <a:r>
              <a:t>BEI: 0</a:t>
            </a:r>
          </a:p>
        </p:txBody>
      </p:sp>
      <p:sp>
        <p:nvSpPr>
          <p:cNvPr id="7" name="Rounded Rectangle 6"/>
          <p:cNvSpPr/>
          <p:nvPr/>
        </p:nvSpPr>
        <p:spPr>
          <a:xfrm>
            <a:off x="4754880" y="429768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2040" y="4407408"/>
            <a:ext cx="2331720" cy="457200"/>
          </a:xfrm>
          <a:prstGeom prst="rect">
            <a:avLst/>
          </a:prstGeom>
          <a:noFill/>
        </p:spPr>
        <p:txBody>
          <a:bodyPr wrap="square">
            <a:spAutoFit/>
          </a:bodyPr>
          <a:lstStyle/>
          <a:p>
            <a:pPr algn="l">
              <a:defRPr sz="1500" b="1">
                <a:solidFill>
                  <a:srgbClr val="9EADBD"/>
                </a:solidFill>
                <a:latin typeface="Arial"/>
              </a:defRPr>
            </a:pPr>
            <a:r>
              <a:t>Same State</a:t>
            </a:r>
          </a:p>
        </p:txBody>
      </p:sp>
      <p:sp>
        <p:nvSpPr>
          <p:cNvPr id="9" name="TextBox 8"/>
          <p:cNvSpPr txBox="1"/>
          <p:nvPr/>
        </p:nvSpPr>
        <p:spPr>
          <a:xfrm>
            <a:off x="4792980" y="4892040"/>
            <a:ext cx="2606040" cy="461665"/>
          </a:xfrm>
          <a:prstGeom prst="rect">
            <a:avLst/>
          </a:prstGeom>
          <a:noFill/>
        </p:spPr>
        <p:txBody>
          <a:bodyPr wrap="square">
            <a:spAutoFit/>
          </a:bodyPr>
          <a:lstStyle/>
          <a:p>
            <a:pPr algn="l">
              <a:defRPr sz="3000" b="1">
                <a:solidFill>
                  <a:srgbClr val="E69F00"/>
                </a:solidFill>
                <a:latin typeface="Arial"/>
              </a:defRPr>
            </a:pPr>
            <a:r>
              <a:rPr sz="2400" dirty="0"/>
              <a:t>10 min vs 8</a:t>
            </a:r>
            <a:r>
              <a:rPr lang="en-US" sz="2400" dirty="0"/>
              <a:t> </a:t>
            </a:r>
            <a:r>
              <a:rPr sz="2400" dirty="0"/>
              <a:t>hrs</a:t>
            </a:r>
          </a:p>
        </p:txBody>
      </p:sp>
      <p:sp>
        <p:nvSpPr>
          <p:cNvPr id="10" name="Rounded Rectangle 9"/>
          <p:cNvSpPr/>
          <p:nvPr/>
        </p:nvSpPr>
        <p:spPr>
          <a:xfrm>
            <a:off x="8138160" y="4297680"/>
            <a:ext cx="2606040" cy="132588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4407408"/>
            <a:ext cx="2331720" cy="457200"/>
          </a:xfrm>
          <a:prstGeom prst="rect">
            <a:avLst/>
          </a:prstGeom>
          <a:noFill/>
        </p:spPr>
        <p:txBody>
          <a:bodyPr wrap="square">
            <a:spAutoFit/>
          </a:bodyPr>
          <a:lstStyle/>
          <a:p>
            <a:pPr algn="l">
              <a:defRPr sz="1500" b="1">
                <a:solidFill>
                  <a:srgbClr val="9EADBD"/>
                </a:solidFill>
                <a:latin typeface="Arial"/>
              </a:defRPr>
            </a:pPr>
            <a:r>
              <a:t>Kittson County</a:t>
            </a:r>
          </a:p>
        </p:txBody>
      </p:sp>
      <p:sp>
        <p:nvSpPr>
          <p:cNvPr id="12" name="TextBox 11"/>
          <p:cNvSpPr txBox="1"/>
          <p:nvPr/>
        </p:nvSpPr>
        <p:spPr>
          <a:xfrm>
            <a:off x="8275320" y="4892040"/>
            <a:ext cx="2331720" cy="594360"/>
          </a:xfrm>
          <a:prstGeom prst="rect">
            <a:avLst/>
          </a:prstGeom>
          <a:noFill/>
        </p:spPr>
        <p:txBody>
          <a:bodyPr wrap="square">
            <a:spAutoFit/>
          </a:bodyPr>
          <a:lstStyle/>
          <a:p>
            <a:pPr algn="l">
              <a:defRPr sz="3000" b="1">
                <a:solidFill>
                  <a:srgbClr val="D55E00"/>
                </a:solidFill>
                <a:latin typeface="Arial"/>
              </a:defRPr>
            </a:pPr>
            <a:r>
              <a:rPr dirty="0"/>
              <a:t>BEI: 99.6</a:t>
            </a:r>
          </a:p>
        </p:txBody>
      </p:sp>
      <p:sp>
        <p:nvSpPr>
          <p:cNvPr id="13" name="TextBox 12"/>
          <p:cNvSpPr txBox="1"/>
          <p:nvPr/>
        </p:nvSpPr>
        <p:spPr>
          <a:xfrm>
            <a:off x="1371600" y="5943600"/>
            <a:ext cx="9418320" cy="415498"/>
          </a:xfrm>
          <a:prstGeom prst="rect">
            <a:avLst/>
          </a:prstGeom>
          <a:noFill/>
        </p:spPr>
        <p:txBody>
          <a:bodyPr wrap="square">
            <a:spAutoFit/>
          </a:bodyPr>
          <a:lstStyle/>
          <a:p>
            <a:pPr algn="ctr">
              <a:defRPr sz="2100" b="1">
                <a:solidFill>
                  <a:srgbClr val="56B4E9"/>
                </a:solidFill>
                <a:latin typeface="Arial"/>
              </a:defRPr>
            </a:pPr>
            <a:r>
              <a:rPr dirty="0"/>
              <a:t>The gap is structural. Structure can be redesigned.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731520"/>
            <a:ext cx="9418320" cy="640080"/>
          </a:xfrm>
          <a:prstGeom prst="rect">
            <a:avLst/>
          </a:prstGeom>
          <a:noFill/>
        </p:spPr>
        <p:txBody>
          <a:bodyPr wrap="square">
            <a:spAutoFit/>
          </a:bodyPr>
          <a:lstStyle/>
          <a:p>
            <a:pPr algn="ctr">
              <a:defRPr sz="4600" b="1">
                <a:solidFill>
                  <a:srgbClr val="F0F3F7"/>
                </a:solidFill>
                <a:latin typeface="Arial"/>
              </a:defRPr>
            </a:pPr>
            <a:r>
              <a:t>Thank You</a:t>
            </a:r>
          </a:p>
        </p:txBody>
      </p:sp>
      <p:sp>
        <p:nvSpPr>
          <p:cNvPr id="4" name="TextBox 3"/>
          <p:cNvSpPr txBox="1"/>
          <p:nvPr/>
        </p:nvSpPr>
        <p:spPr>
          <a:xfrm>
            <a:off x="1371600" y="1463040"/>
            <a:ext cx="9418320" cy="365760"/>
          </a:xfrm>
          <a:prstGeom prst="rect">
            <a:avLst/>
          </a:prstGeom>
          <a:noFill/>
        </p:spPr>
        <p:txBody>
          <a:bodyPr wrap="square">
            <a:spAutoFit/>
          </a:bodyPr>
          <a:lstStyle/>
          <a:p>
            <a:pPr algn="ctr">
              <a:defRPr sz="2000" b="0">
                <a:solidFill>
                  <a:srgbClr val="9EADBD"/>
                </a:solidFill>
                <a:latin typeface="Arial"/>
              </a:defRPr>
            </a:pPr>
            <a:r>
              <a:t>Team 15  —  Burn Equity Index  —  Challenge Area 3</a:t>
            </a:r>
          </a:p>
        </p:txBody>
      </p:sp>
      <p:sp>
        <p:nvSpPr>
          <p:cNvPr id="5" name="Rounded Rectangle 4"/>
          <p:cNvSpPr/>
          <p:nvPr/>
        </p:nvSpPr>
        <p:spPr>
          <a:xfrm>
            <a:off x="73152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600200" y="2377440"/>
            <a:ext cx="731520" cy="731520"/>
          </a:xfrm>
          <a:prstGeom prst="ellipse">
            <a:avLst/>
          </a:prstGeom>
          <a:solidFill>
            <a:srgbClr val="56B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00200" y="2441448"/>
            <a:ext cx="731520" cy="594360"/>
          </a:xfrm>
          <a:prstGeom prst="rect">
            <a:avLst/>
          </a:prstGeom>
          <a:noFill/>
        </p:spPr>
        <p:txBody>
          <a:bodyPr wrap="square">
            <a:spAutoFit/>
          </a:bodyPr>
          <a:lstStyle/>
          <a:p>
            <a:pPr algn="ctr">
              <a:defRPr sz="2200" b="1">
                <a:solidFill>
                  <a:srgbClr val="121A27"/>
                </a:solidFill>
                <a:latin typeface="Arial"/>
              </a:defRPr>
            </a:pPr>
            <a:r>
              <a:t>JT</a:t>
            </a:r>
          </a:p>
        </p:txBody>
      </p:sp>
      <p:sp>
        <p:nvSpPr>
          <p:cNvPr id="8" name="TextBox 7"/>
          <p:cNvSpPr txBox="1"/>
          <p:nvPr/>
        </p:nvSpPr>
        <p:spPr>
          <a:xfrm>
            <a:off x="822960" y="3246120"/>
            <a:ext cx="2377440" cy="320040"/>
          </a:xfrm>
          <a:prstGeom prst="rect">
            <a:avLst/>
          </a:prstGeom>
          <a:noFill/>
        </p:spPr>
        <p:txBody>
          <a:bodyPr wrap="square">
            <a:spAutoFit/>
          </a:bodyPr>
          <a:lstStyle/>
          <a:p>
            <a:pPr algn="ctr">
              <a:defRPr sz="1700" b="1">
                <a:solidFill>
                  <a:srgbClr val="F0F3F7"/>
                </a:solidFill>
                <a:latin typeface="Arial"/>
              </a:defRPr>
            </a:pPr>
            <a:r>
              <a:t>Jacob Tang</a:t>
            </a:r>
          </a:p>
        </p:txBody>
      </p:sp>
      <p:sp>
        <p:nvSpPr>
          <p:cNvPr id="9" name="TextBox 8"/>
          <p:cNvSpPr txBox="1"/>
          <p:nvPr/>
        </p:nvSpPr>
        <p:spPr>
          <a:xfrm>
            <a:off x="822960" y="3566160"/>
            <a:ext cx="2377440" cy="502920"/>
          </a:xfrm>
          <a:prstGeom prst="rect">
            <a:avLst/>
          </a:prstGeom>
          <a:noFill/>
        </p:spPr>
        <p:txBody>
          <a:bodyPr wrap="square">
            <a:spAutoFit/>
          </a:bodyPr>
          <a:lstStyle/>
          <a:p>
            <a:pPr algn="ctr">
              <a:lnSpc>
                <a:spcPts val="1800"/>
              </a:lnSpc>
              <a:defRPr sz="1300" b="0">
                <a:solidFill>
                  <a:srgbClr val="9EADBD"/>
                </a:solidFill>
                <a:latin typeface="Arial"/>
              </a:defRPr>
            </a:pPr>
            <a:r>
              <a:t>Technical Lead</a:t>
            </a:r>
            <a:br/>
            <a:r>
              <a:t>Pipeline &amp; Methodology</a:t>
            </a:r>
          </a:p>
        </p:txBody>
      </p:sp>
      <p:sp>
        <p:nvSpPr>
          <p:cNvPr id="10" name="Rounded Rectangle 9"/>
          <p:cNvSpPr/>
          <p:nvPr/>
        </p:nvSpPr>
        <p:spPr>
          <a:xfrm>
            <a:off x="356616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434840" y="2377440"/>
            <a:ext cx="731520" cy="731520"/>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2441448"/>
            <a:ext cx="731520" cy="594360"/>
          </a:xfrm>
          <a:prstGeom prst="rect">
            <a:avLst/>
          </a:prstGeom>
          <a:noFill/>
        </p:spPr>
        <p:txBody>
          <a:bodyPr wrap="square">
            <a:spAutoFit/>
          </a:bodyPr>
          <a:lstStyle/>
          <a:p>
            <a:pPr algn="ctr">
              <a:defRPr sz="2200" b="1">
                <a:solidFill>
                  <a:srgbClr val="121A27"/>
                </a:solidFill>
                <a:latin typeface="Arial"/>
              </a:defRPr>
            </a:pPr>
            <a:r>
              <a:t>MR</a:t>
            </a:r>
          </a:p>
        </p:txBody>
      </p:sp>
      <p:sp>
        <p:nvSpPr>
          <p:cNvPr id="13" name="TextBox 12"/>
          <p:cNvSpPr txBox="1"/>
          <p:nvPr/>
        </p:nvSpPr>
        <p:spPr>
          <a:xfrm>
            <a:off x="3657600" y="3246120"/>
            <a:ext cx="2377440" cy="320040"/>
          </a:xfrm>
          <a:prstGeom prst="rect">
            <a:avLst/>
          </a:prstGeom>
          <a:noFill/>
        </p:spPr>
        <p:txBody>
          <a:bodyPr wrap="square">
            <a:spAutoFit/>
          </a:bodyPr>
          <a:lstStyle/>
          <a:p>
            <a:pPr algn="ctr">
              <a:defRPr sz="1700" b="1">
                <a:solidFill>
                  <a:srgbClr val="F0F3F7"/>
                </a:solidFill>
                <a:latin typeface="Arial"/>
              </a:defRPr>
            </a:pPr>
            <a:r>
              <a:t>Madeline Rose Johnson</a:t>
            </a:r>
          </a:p>
        </p:txBody>
      </p:sp>
      <p:sp>
        <p:nvSpPr>
          <p:cNvPr id="14" name="TextBox 13"/>
          <p:cNvSpPr txBox="1"/>
          <p:nvPr/>
        </p:nvSpPr>
        <p:spPr>
          <a:xfrm>
            <a:off x="3657600" y="3566160"/>
            <a:ext cx="2377440" cy="502920"/>
          </a:xfrm>
          <a:prstGeom prst="rect">
            <a:avLst/>
          </a:prstGeom>
          <a:noFill/>
        </p:spPr>
        <p:txBody>
          <a:bodyPr wrap="square">
            <a:spAutoFit/>
          </a:bodyPr>
          <a:lstStyle/>
          <a:p>
            <a:pPr algn="ctr">
              <a:lnSpc>
                <a:spcPts val="1800"/>
              </a:lnSpc>
              <a:defRPr sz="1300" b="0">
                <a:solidFill>
                  <a:srgbClr val="9EADBD"/>
                </a:solidFill>
                <a:latin typeface="Arial"/>
              </a:defRPr>
            </a:pPr>
            <a:r>
              <a:t>Analytics &amp; Presentation</a:t>
            </a:r>
            <a:br/>
            <a:r>
              <a:t>MS Data Science</a:t>
            </a:r>
          </a:p>
        </p:txBody>
      </p:sp>
      <p:sp>
        <p:nvSpPr>
          <p:cNvPr id="15" name="Rounded Rectangle 14"/>
          <p:cNvSpPr/>
          <p:nvPr/>
        </p:nvSpPr>
        <p:spPr>
          <a:xfrm>
            <a:off x="640080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269480" y="2377440"/>
            <a:ext cx="731520" cy="73152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69480" y="2441448"/>
            <a:ext cx="731520" cy="594360"/>
          </a:xfrm>
          <a:prstGeom prst="rect">
            <a:avLst/>
          </a:prstGeom>
          <a:noFill/>
        </p:spPr>
        <p:txBody>
          <a:bodyPr wrap="square">
            <a:spAutoFit/>
          </a:bodyPr>
          <a:lstStyle/>
          <a:p>
            <a:pPr algn="ctr">
              <a:defRPr sz="2200" b="1">
                <a:solidFill>
                  <a:srgbClr val="121A27"/>
                </a:solidFill>
                <a:latin typeface="Arial"/>
              </a:defRPr>
            </a:pPr>
            <a:r>
              <a:t>YY</a:t>
            </a:r>
          </a:p>
        </p:txBody>
      </p:sp>
      <p:sp>
        <p:nvSpPr>
          <p:cNvPr id="18" name="TextBox 17"/>
          <p:cNvSpPr txBox="1"/>
          <p:nvPr/>
        </p:nvSpPr>
        <p:spPr>
          <a:xfrm>
            <a:off x="6492240" y="3246120"/>
            <a:ext cx="2377440" cy="320040"/>
          </a:xfrm>
          <a:prstGeom prst="rect">
            <a:avLst/>
          </a:prstGeom>
          <a:noFill/>
        </p:spPr>
        <p:txBody>
          <a:bodyPr wrap="square">
            <a:spAutoFit/>
          </a:bodyPr>
          <a:lstStyle/>
          <a:p>
            <a:pPr algn="ctr">
              <a:defRPr sz="1700" b="1">
                <a:solidFill>
                  <a:srgbClr val="F0F3F7"/>
                </a:solidFill>
                <a:latin typeface="Arial"/>
              </a:defRPr>
            </a:pPr>
            <a:r>
              <a:t>Yisihaq Yemiru</a:t>
            </a:r>
          </a:p>
        </p:txBody>
      </p:sp>
      <p:sp>
        <p:nvSpPr>
          <p:cNvPr id="19" name="TextBox 18"/>
          <p:cNvSpPr txBox="1"/>
          <p:nvPr/>
        </p:nvSpPr>
        <p:spPr>
          <a:xfrm>
            <a:off x="6492240" y="3566160"/>
            <a:ext cx="2377440" cy="502920"/>
          </a:xfrm>
          <a:prstGeom prst="rect">
            <a:avLst/>
          </a:prstGeom>
          <a:noFill/>
        </p:spPr>
        <p:txBody>
          <a:bodyPr wrap="square">
            <a:spAutoFit/>
          </a:bodyPr>
          <a:lstStyle/>
          <a:p>
            <a:pPr algn="ctr">
              <a:lnSpc>
                <a:spcPts val="1800"/>
              </a:lnSpc>
              <a:defRPr sz="1300" b="0">
                <a:solidFill>
                  <a:srgbClr val="9EADBD"/>
                </a:solidFill>
                <a:latin typeface="Arial"/>
              </a:defRPr>
            </a:pPr>
            <a:r>
              <a:t>Research &amp;</a:t>
            </a:r>
            <a:br/>
            <a:r>
              <a:t>Data Integration</a:t>
            </a:r>
          </a:p>
        </p:txBody>
      </p:sp>
      <p:sp>
        <p:nvSpPr>
          <p:cNvPr id="20" name="Rounded Rectangle 19"/>
          <p:cNvSpPr/>
          <p:nvPr/>
        </p:nvSpPr>
        <p:spPr>
          <a:xfrm>
            <a:off x="9235440" y="2194560"/>
            <a:ext cx="2560320" cy="210312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104120" y="2377440"/>
            <a:ext cx="731520" cy="731520"/>
          </a:xfrm>
          <a:prstGeom prst="ellipse">
            <a:avLst/>
          </a:prstGeom>
          <a:solidFill>
            <a:srgbClr val="CC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04120" y="2441448"/>
            <a:ext cx="731520" cy="594360"/>
          </a:xfrm>
          <a:prstGeom prst="rect">
            <a:avLst/>
          </a:prstGeom>
          <a:noFill/>
        </p:spPr>
        <p:txBody>
          <a:bodyPr wrap="square">
            <a:spAutoFit/>
          </a:bodyPr>
          <a:lstStyle/>
          <a:p>
            <a:pPr algn="ctr">
              <a:defRPr sz="2200" b="1">
                <a:solidFill>
                  <a:srgbClr val="121A27"/>
                </a:solidFill>
                <a:latin typeface="Arial"/>
              </a:defRPr>
            </a:pPr>
            <a:r>
              <a:t>M</a:t>
            </a:r>
          </a:p>
        </p:txBody>
      </p:sp>
      <p:sp>
        <p:nvSpPr>
          <p:cNvPr id="23" name="TextBox 22"/>
          <p:cNvSpPr txBox="1"/>
          <p:nvPr/>
        </p:nvSpPr>
        <p:spPr>
          <a:xfrm>
            <a:off x="9326880" y="3246120"/>
            <a:ext cx="2377440" cy="320040"/>
          </a:xfrm>
          <a:prstGeom prst="rect">
            <a:avLst/>
          </a:prstGeom>
          <a:noFill/>
        </p:spPr>
        <p:txBody>
          <a:bodyPr wrap="square">
            <a:spAutoFit/>
          </a:bodyPr>
          <a:lstStyle/>
          <a:p>
            <a:pPr algn="ctr">
              <a:defRPr sz="1700" b="1">
                <a:solidFill>
                  <a:srgbClr val="F0F3F7"/>
                </a:solidFill>
                <a:latin typeface="Arial"/>
              </a:defRPr>
            </a:pPr>
            <a:r>
              <a:t>Mashfika</a:t>
            </a:r>
          </a:p>
        </p:txBody>
      </p:sp>
      <p:sp>
        <p:nvSpPr>
          <p:cNvPr id="24" name="TextBox 23"/>
          <p:cNvSpPr txBox="1"/>
          <p:nvPr/>
        </p:nvSpPr>
        <p:spPr>
          <a:xfrm>
            <a:off x="9326880" y="3566160"/>
            <a:ext cx="2377440" cy="502920"/>
          </a:xfrm>
          <a:prstGeom prst="rect">
            <a:avLst/>
          </a:prstGeom>
          <a:noFill/>
        </p:spPr>
        <p:txBody>
          <a:bodyPr wrap="square">
            <a:spAutoFit/>
          </a:bodyPr>
          <a:lstStyle/>
          <a:p>
            <a:pPr algn="ctr">
              <a:lnSpc>
                <a:spcPts val="1800"/>
              </a:lnSpc>
              <a:defRPr sz="1300" b="0">
                <a:solidFill>
                  <a:srgbClr val="9EADBD"/>
                </a:solidFill>
                <a:latin typeface="Arial"/>
              </a:defRPr>
            </a:pPr>
            <a:r>
              <a:t>Analysis &amp;</a:t>
            </a:r>
            <a:br/>
            <a:r>
              <a:t>Visualization</a:t>
            </a:r>
          </a:p>
        </p:txBody>
      </p:sp>
      <p:sp>
        <p:nvSpPr>
          <p:cNvPr id="25" name="TextBox 24"/>
          <p:cNvSpPr txBox="1"/>
          <p:nvPr/>
        </p:nvSpPr>
        <p:spPr>
          <a:xfrm>
            <a:off x="1371600" y="4572000"/>
            <a:ext cx="9418320" cy="320040"/>
          </a:xfrm>
          <a:prstGeom prst="rect">
            <a:avLst/>
          </a:prstGeom>
          <a:noFill/>
        </p:spPr>
        <p:txBody>
          <a:bodyPr wrap="square">
            <a:spAutoFit/>
          </a:bodyPr>
          <a:lstStyle/>
          <a:p>
            <a:pPr algn="ctr">
              <a:defRPr sz="1500" b="0">
                <a:solidFill>
                  <a:srgbClr val="9EADBD"/>
                </a:solidFill>
                <a:latin typeface="Arial"/>
              </a:defRPr>
            </a:pPr>
            <a:r>
              <a:t>American Burn Association  ·  BData  ·  HealthcareMN  ·  MinneAnalytics  ·  University of Minnesota</a:t>
            </a:r>
          </a:p>
        </p:txBody>
      </p:sp>
      <p:sp>
        <p:nvSpPr>
          <p:cNvPr id="26" name="TextBox 25"/>
          <p:cNvSpPr txBox="1"/>
          <p:nvPr/>
        </p:nvSpPr>
        <p:spPr>
          <a:xfrm>
            <a:off x="1371600" y="5029200"/>
            <a:ext cx="9418320" cy="320040"/>
          </a:xfrm>
          <a:prstGeom prst="rect">
            <a:avLst/>
          </a:prstGeom>
          <a:noFill/>
        </p:spPr>
        <p:txBody>
          <a:bodyPr wrap="square">
            <a:spAutoFit/>
          </a:bodyPr>
          <a:lstStyle/>
          <a:p>
            <a:pPr algn="ctr">
              <a:defRPr sz="1500" b="0">
                <a:solidFill>
                  <a:srgbClr val="9EADBD"/>
                </a:solidFill>
                <a:latin typeface="Arial"/>
              </a:defRPr>
            </a:pPr>
            <a:r>
              <a:t>Data: NIRD  ·  US Census  ·  OpenStreetMap  ·  Valhalla  ·  RUCA  ·  CDC SVI  ·  FAA</a:t>
            </a:r>
          </a:p>
        </p:txBody>
      </p:sp>
      <p:sp>
        <p:nvSpPr>
          <p:cNvPr id="27" name="Rounded Rectangle 26"/>
          <p:cNvSpPr/>
          <p:nvPr/>
        </p:nvSpPr>
        <p:spPr>
          <a:xfrm>
            <a:off x="3200400" y="5577840"/>
            <a:ext cx="5760720" cy="548640"/>
          </a:xfrm>
          <a:prstGeom prst="roundRect">
            <a:avLst/>
          </a:prstGeom>
          <a:solidFill>
            <a:srgbClr val="243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0" y="5623560"/>
            <a:ext cx="5760720" cy="457200"/>
          </a:xfrm>
          <a:prstGeom prst="rect">
            <a:avLst/>
          </a:prstGeom>
          <a:noFill/>
        </p:spPr>
        <p:txBody>
          <a:bodyPr wrap="square">
            <a:spAutoFit/>
          </a:bodyPr>
          <a:lstStyle/>
          <a:p>
            <a:pPr algn="ctr">
              <a:defRPr sz="1900" b="1">
                <a:solidFill>
                  <a:srgbClr val="56B4E9"/>
                </a:solidFill>
                <a:latin typeface="Arial"/>
              </a:defRPr>
            </a:pPr>
            <a:r>
              <a:t>Interactive Dashboard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3424</Words>
  <Application>Microsoft Office PowerPoint</Application>
  <PresentationFormat>Widescreen</PresentationFormat>
  <Paragraphs>341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Tang, Jacob</cp:lastModifiedBy>
  <cp:revision>7</cp:revision>
  <dcterms:created xsi:type="dcterms:W3CDTF">2013-01-27T09:14:16Z</dcterms:created>
  <dcterms:modified xsi:type="dcterms:W3CDTF">2026-03-25T15:31:22Z</dcterms:modified>
  <cp:category/>
</cp:coreProperties>
</file>